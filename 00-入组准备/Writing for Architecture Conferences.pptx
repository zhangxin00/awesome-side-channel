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y="5143500" cx="9144000"/>
  <p:notesSz cx="6858000" cy="9144000"/>
  <p:embeddedFontLst>
    <p:embeddedFont>
      <p:font typeface="Economica"/>
      <p:regular r:id="rId66"/>
      <p:bold r:id="rId67"/>
      <p:italic r:id="rId68"/>
      <p:boldItalic r:id="rId69"/>
    </p:embeddedFont>
    <p:embeddedFont>
      <p:font typeface="Roboto"/>
      <p:regular r:id="rId70"/>
      <p:bold r:id="rId71"/>
      <p:italic r:id="rId72"/>
      <p:boldItalic r:id="rId73"/>
    </p:embeddedFont>
    <p:embeddedFont>
      <p:font typeface="Roboto Medium"/>
      <p:regular r:id="rId74"/>
      <p:bold r:id="rId75"/>
      <p:italic r:id="rId76"/>
      <p:boldItalic r:id="rId77"/>
    </p:embeddedFont>
    <p:embeddedFont>
      <p:font typeface="Open Sans Light"/>
      <p:regular r:id="rId78"/>
      <p:bold r:id="rId79"/>
      <p:italic r:id="rId80"/>
      <p:boldItalic r:id="rId81"/>
    </p:embeddedFont>
    <p:embeddedFont>
      <p:font typeface="Open Sans"/>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FEDFCD-BC42-4225-886D-6D3858ECF4EA}">
  <a:tblStyle styleId="{A1FEDFCD-BC42-4225-886D-6D3858ECF4E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OpenSans-italic.fntdata"/><Relationship Id="rId83" Type="http://schemas.openxmlformats.org/officeDocument/2006/relationships/font" Target="fonts/OpenSans-bold.fntdata"/><Relationship Id="rId42" Type="http://schemas.openxmlformats.org/officeDocument/2006/relationships/slide" Target="slides/slide36.xml"/><Relationship Id="rId41" Type="http://schemas.openxmlformats.org/officeDocument/2006/relationships/slide" Target="slides/slide35.xml"/><Relationship Id="rId85" Type="http://schemas.openxmlformats.org/officeDocument/2006/relationships/font" Target="fonts/OpenSans-boldItalic.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OpenSansLight-italic.fntdata"/><Relationship Id="rId82" Type="http://schemas.openxmlformats.org/officeDocument/2006/relationships/font" Target="fonts/OpenSans-regular.fntdata"/><Relationship Id="rId81" Type="http://schemas.openxmlformats.org/officeDocument/2006/relationships/font" Target="fonts/OpenSans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boldItalic.fntdata"/><Relationship Id="rId72" Type="http://schemas.openxmlformats.org/officeDocument/2006/relationships/font" Target="fonts/Roboto-italic.fntdata"/><Relationship Id="rId31" Type="http://schemas.openxmlformats.org/officeDocument/2006/relationships/slide" Target="slides/slide25.xml"/><Relationship Id="rId75" Type="http://schemas.openxmlformats.org/officeDocument/2006/relationships/font" Target="fonts/RobotoMedium-bold.fntdata"/><Relationship Id="rId30" Type="http://schemas.openxmlformats.org/officeDocument/2006/relationships/slide" Target="slides/slide24.xml"/><Relationship Id="rId74" Type="http://schemas.openxmlformats.org/officeDocument/2006/relationships/font" Target="fonts/RobotoMedium-regular.fntdata"/><Relationship Id="rId33" Type="http://schemas.openxmlformats.org/officeDocument/2006/relationships/slide" Target="slides/slide27.xml"/><Relationship Id="rId77" Type="http://schemas.openxmlformats.org/officeDocument/2006/relationships/font" Target="fonts/RobotoMedium-boldItalic.fntdata"/><Relationship Id="rId32" Type="http://schemas.openxmlformats.org/officeDocument/2006/relationships/slide" Target="slides/slide26.xml"/><Relationship Id="rId76" Type="http://schemas.openxmlformats.org/officeDocument/2006/relationships/font" Target="fonts/RobotoMedium-italic.fntdata"/><Relationship Id="rId35" Type="http://schemas.openxmlformats.org/officeDocument/2006/relationships/slide" Target="slides/slide29.xml"/><Relationship Id="rId79" Type="http://schemas.openxmlformats.org/officeDocument/2006/relationships/font" Target="fonts/OpenSansLight-bold.fntdata"/><Relationship Id="rId34" Type="http://schemas.openxmlformats.org/officeDocument/2006/relationships/slide" Target="slides/slide28.xml"/><Relationship Id="rId78" Type="http://schemas.openxmlformats.org/officeDocument/2006/relationships/font" Target="fonts/OpenSansLight-regular.fntdata"/><Relationship Id="rId71" Type="http://schemas.openxmlformats.org/officeDocument/2006/relationships/font" Target="fonts/Roboto-bold.fntdata"/><Relationship Id="rId70" Type="http://schemas.openxmlformats.org/officeDocument/2006/relationships/font" Target="fonts/Roboto-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Economica-regular.fntdata"/><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Economica-italic.fntdata"/><Relationship Id="rId23" Type="http://schemas.openxmlformats.org/officeDocument/2006/relationships/slide" Target="slides/slide17.xml"/><Relationship Id="rId67" Type="http://schemas.openxmlformats.org/officeDocument/2006/relationships/font" Target="fonts/Economica-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Economica-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60d9b5e371_0_1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60d9b5e371_0_1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60d9b5e371_0_1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60d9b5e371_0_1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60d9b5e371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60d9b5e371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60d9b5e371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60d9b5e371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60d9b5e371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60d9b5e371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60d9b5e371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60d9b5e371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60d9b5e371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60d9b5e371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60d9b5e371_0_1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60d9b5e371_0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60d9b5e371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60d9b5e371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60d9b5e371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60d9b5e371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60d9b5e371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60d9b5e371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60d9b5e371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60d9b5e371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60d9b5e371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60d9b5e371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60d9b5e371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60d9b5e371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60d9b5e371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60d9b5e371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60d9b5e371_0_1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0d9b5e371_0_1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60d9b5e371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60d9b5e371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60d9b5e371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60d9b5e371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60d9b5e371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60d9b5e371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60d9b5e371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60d9b5e371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60d9b5e371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60d9b5e371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60d9b5e371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60d9b5e371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60d9b5e371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60d9b5e371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60d9b5e371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60d9b5e371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60d9b5e371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60d9b5e371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60d9b5e371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60d9b5e371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60d9b5e371_0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60d9b5e371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60d9b5e371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60d9b5e371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60d9b5e371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60d9b5e371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60d9b5e371_0_1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60d9b5e371_0_1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60d9b5e371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60d9b5e371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60d9b5e371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60d9b5e371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60d9b5e371_0_1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60d9b5e371_0_1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60d9b5e371_0_2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60d9b5e371_0_2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60d9b5e371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60d9b5e371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60d9b5e371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60d9b5e371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60d9b5e371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60d9b5e371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60d9b5e371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60d9b5e371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60d9b5e371_0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60d9b5e371_0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60d9b5e371_0_2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60d9b5e371_0_2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60d9b5e371_0_1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60d9b5e371_0_1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60d9b5e371_0_1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60d9b5e371_0_1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60d9b5e371_0_1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60d9b5e371_0_1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60d9b5e371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60d9b5e371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60d9b5e371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60d9b5e371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60d9b5e371_0_2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60d9b5e371_0_2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60d9b5e371_0_1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60d9b5e371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60d9b5e371_0_1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60d9b5e371_0_1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60d9b5e371_0_1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60d9b5e371_0_1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60d9b5e371_0_1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60d9b5e371_0_1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60d9b5e371_0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60d9b5e371_0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60d9b5e371_0_1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60d9b5e371_0_1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60d9b5e371_0_2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60d9b5e371_0_2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60d9b5e371_0_2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60d9b5e371_0_2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60d9b5e371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60d9b5e371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60d9b5e371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60d9b5e371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60d9b5e371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60d9b5e371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60d9b5e371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60d9b5e371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hyperlink" Target="https://pixabay.com/users/Free-Photos-242387/?utm_source=link-attribution&amp;utm_medium=referral&amp;utm_campaign=image&amp;utm_content=731171" TargetMode="External"/><Relationship Id="rId5" Type="http://schemas.openxmlformats.org/officeDocument/2006/relationships/hyperlink" Target="https://pixabay.com/?utm_source=link-attribution&amp;utm_medium=referral&amp;utm_campaign=image&amp;utm_content=73117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pixabay.com/users/947051-947051/?utm_source=link-attribution&amp;utm_medium=referral&amp;utm_campaign=image&amp;utm_content=734689" TargetMode="External"/><Relationship Id="rId4" Type="http://schemas.openxmlformats.org/officeDocument/2006/relationships/hyperlink" Target="https://pixabay.com/?utm_source=link-attribution&amp;utm_medium=referral&amp;utm_campaign=image&amp;utm_content=734689" TargetMode="External"/><Relationship Id="rId5" Type="http://schemas.openxmlformats.org/officeDocument/2006/relationships/image" Target="../media/image1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slide" Target="/ppt/slides/slide57.xml"/><Relationship Id="rId4" Type="http://schemas.openxmlformats.org/officeDocument/2006/relationships/slide" Target="/ppt/slides/slide59.xml"/><Relationship Id="rId5" Type="http://schemas.openxmlformats.org/officeDocument/2006/relationships/image" Target="../media/image5.jpg"/><Relationship Id="rId6" Type="http://schemas.openxmlformats.org/officeDocument/2006/relationships/hyperlink" Target="https://pixabay.com/users/annekarakash-1527809/?utm_source=link-attribution&amp;utm_medium=referral&amp;utm_campaign=image&amp;utm_content=1756958" TargetMode="External"/><Relationship Id="rId7" Type="http://schemas.openxmlformats.org/officeDocument/2006/relationships/hyperlink" Target="https://pixabay.com/?utm_source=link-attribution&amp;utm_medium=referral&amp;utm_campaign=image&amp;utm_content=175695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slide" Target="/ppt/slides/slide9.xml"/><Relationship Id="rId5" Type="http://schemas.openxmlformats.org/officeDocument/2006/relationships/slide" Target="/ppt/slides/slide31.xml"/><Relationship Id="rId6" Type="http://schemas.openxmlformats.org/officeDocument/2006/relationships/slide" Target="/ppt/slides/slide38.xml"/><Relationship Id="rId7" Type="http://schemas.openxmlformats.org/officeDocument/2006/relationships/slide" Target="/ppt/slides/slide49.xml"/><Relationship Id="rId8" Type="http://schemas.openxmlformats.org/officeDocument/2006/relationships/slide" Target="/ppt/slides/slide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hyperlink" Target="https://pixabay.com/users/_Alicja_-5975425/?utm_source=link-attribution&amp;utm_medium=referral&amp;utm_campaign=image&amp;utm_content=4018189" TargetMode="External"/><Relationship Id="rId5" Type="http://schemas.openxmlformats.org/officeDocument/2006/relationships/hyperlink" Target="https://pixabay.com/?utm_source=link-attribution&amp;utm_medium=referral&amp;utm_campaign=image&amp;utm_content=401818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hyperlink" Target="https://drive.google.com/open?id=1Xu1EccWNapb07kXE40TAwJjRgwbxh40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hyperlink" Target="https://drive.google.com/open?id=19BMUZ7Sj129hKl-X0Msm5e0ao_VnZkw4" TargetMode="External"/><Relationship Id="rId5" Type="http://schemas.openxmlformats.org/officeDocument/2006/relationships/hyperlink" Target="https://drive.google.com/open?id=13lv-RvAXJSJHRJ5NYVQUr8ad3jS20KKs" TargetMode="External"/><Relationship Id="rId6" Type="http://schemas.openxmlformats.org/officeDocument/2006/relationships/hyperlink" Target="https://drive.google.com/open?id=1su636hV8e3-ZIBfReB7tyPu__vTWCqs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8.jpg"/><Relationship Id="rId4" Type="http://schemas.openxmlformats.org/officeDocument/2006/relationships/hyperlink" Target="https://drive.google.com/open?id=12mKLl9AwANxgpmCqHKyYuInY9XytPMNs" TargetMode="External"/><Relationship Id="rId5" Type="http://schemas.openxmlformats.org/officeDocument/2006/relationships/hyperlink" Target="https://pixabay.com/users/qimono-1962238/?utm_source=link-attribution&amp;utm_medium=referral&amp;utm_campaign=image&amp;utm_content=3656587" TargetMode="External"/><Relationship Id="rId6" Type="http://schemas.openxmlformats.org/officeDocument/2006/relationships/hyperlink" Target="https://pixabay.com/?utm_source=link-attribution&amp;utm_medium=referral&amp;utm_campaign=image&amp;utm_content=3656587"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hyperlink" Target="https://pixabay.com/users/Antranias-50356/?utm_source=link-attribution&amp;utm_medium=referral&amp;utm_campaign=image&amp;utm_content=246913" TargetMode="External"/><Relationship Id="rId5" Type="http://schemas.openxmlformats.org/officeDocument/2006/relationships/hyperlink" Target="https://pixabay.com/?utm_source=link-attribution&amp;utm_medium=referral&amp;utm_campaign=image&amp;utm_content=24691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0.jpg"/><Relationship Id="rId4" Type="http://schemas.openxmlformats.org/officeDocument/2006/relationships/hyperlink" Target="https://drive.google.com/open?id=19BMUZ7Sj129hKl-X0Msm5e0ao_VnZkw4" TargetMode="External"/><Relationship Id="rId10" Type="http://schemas.openxmlformats.org/officeDocument/2006/relationships/hyperlink" Target="https://drive.google.com/open?id=1NCiFQ2MPEljFvbpqFbnTX33njD-to8kz" TargetMode="External"/><Relationship Id="rId9" Type="http://schemas.openxmlformats.org/officeDocument/2006/relationships/hyperlink" Target="https://drive.google.com/open?id=12mKLl9AwANxgpmCqHKyYuInY9XytPMNs" TargetMode="External"/><Relationship Id="rId5" Type="http://schemas.openxmlformats.org/officeDocument/2006/relationships/hyperlink" Target="https://drive.google.com/open?id=1NAImAY7VIZZQ2sJ-WTDZyO1SjkBcyjl-" TargetMode="External"/><Relationship Id="rId6" Type="http://schemas.openxmlformats.org/officeDocument/2006/relationships/hyperlink" Target="https://drive.google.com/open?id=1Xu1EccWNapb07kXE40TAwJjRgwbxh40p" TargetMode="External"/><Relationship Id="rId7" Type="http://schemas.openxmlformats.org/officeDocument/2006/relationships/hyperlink" Target="https://drive.google.com/open?id=1H9YomB6-SaAaG0kWnmypDOdkIvcBY7ys" TargetMode="External"/><Relationship Id="rId8" Type="http://schemas.openxmlformats.org/officeDocument/2006/relationships/hyperlink" Target="https://drive.google.com/open?id=13lv-RvAXJSJHRJ5NYVQUr8ad3jS20KK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3.jpg"/><Relationship Id="rId4" Type="http://schemas.openxmlformats.org/officeDocument/2006/relationships/hyperlink" Target="https://pixabay.com/users/_Alicja_-5975425/?utm_source=link-attribution&amp;utm_medium=referral&amp;utm_campaign=image&amp;utm_content=4018189" TargetMode="External"/><Relationship Id="rId5" Type="http://schemas.openxmlformats.org/officeDocument/2006/relationships/hyperlink" Target="https://pixabay.com/?utm_source=link-attribution&amp;utm_medium=referral&amp;utm_campaign=image&amp;utm_content=4018189"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drive.google.com/open?id=19BMUZ7Sj129hKl-X0Msm5e0ao_VnZkw4"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jpg"/><Relationship Id="rId4" Type="http://schemas.openxmlformats.org/officeDocument/2006/relationships/hyperlink" Target="https://drive.google.com/open?id=15sbYo4bMzACw37kuu8veLLwJa3Kppmo9" TargetMode="External"/><Relationship Id="rId5" Type="http://schemas.openxmlformats.org/officeDocument/2006/relationships/hyperlink" Target="https://drive.google.com/open?id=1NCiFQ2MPEljFvbpqFbnTX33njD-to8kz" TargetMode="External"/><Relationship Id="rId6" Type="http://schemas.openxmlformats.org/officeDocument/2006/relationships/hyperlink" Target="https://drive.google.com/open?id=19BMUZ7Sj129hKl-X0Msm5e0ao_VnZkw4" TargetMode="External"/><Relationship Id="rId7" Type="http://schemas.openxmlformats.org/officeDocument/2006/relationships/hyperlink" Target="https://drive.google.com/open?id=1su636hV8e3-ZIBfReB7tyPu__vTWCqs3"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3.jpg"/><Relationship Id="rId4" Type="http://schemas.openxmlformats.org/officeDocument/2006/relationships/hyperlink" Target="https://pixabay.com/users/_Alicja_-5975425/?utm_source=link-attribution&amp;utm_medium=referral&amp;utm_campaign=image&amp;utm_content=4018189" TargetMode="External"/><Relationship Id="rId5" Type="http://schemas.openxmlformats.org/officeDocument/2006/relationships/hyperlink" Target="https://pixabay.com/?utm_source=link-attribution&amp;utm_medium=referral&amp;utm_campaign=image&amp;utm_content=4018189"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hyperlink" Target="https://drive.google.com/open?id=15sbYo4bMzACw37kuu8veLLwJa3Kppmo9" TargetMode="External"/><Relationship Id="rId4" Type="http://schemas.openxmlformats.org/officeDocument/2006/relationships/hyperlink" Target="https://drive.google.com/open?id=1su636hV8e3-ZIBfReB7tyPu__vTWCqs3" TargetMode="External"/><Relationship Id="rId9" Type="http://schemas.openxmlformats.org/officeDocument/2006/relationships/hyperlink" Target="https://drive.google.com/open?id=1H9YomB6-SaAaG0kWnmypDOdkIvcBY7ys" TargetMode="External"/><Relationship Id="rId5" Type="http://schemas.openxmlformats.org/officeDocument/2006/relationships/hyperlink" Target="https://drive.google.com/open?id=1Xu1EccWNapb07kXE40TAwJjRgwbxh40p" TargetMode="External"/><Relationship Id="rId6" Type="http://schemas.openxmlformats.org/officeDocument/2006/relationships/hyperlink" Target="https://drive.google.com/open?id=1NCiFQ2MPEljFvbpqFbnTX33njD-to8kz" TargetMode="External"/><Relationship Id="rId7" Type="http://schemas.openxmlformats.org/officeDocument/2006/relationships/hyperlink" Target="https://drive.google.com/open?id=19BMUZ7Sj129hKl-X0Msm5e0ao_VnZkw4" TargetMode="External"/><Relationship Id="rId8" Type="http://schemas.openxmlformats.org/officeDocument/2006/relationships/hyperlink" Target="https://drive.google.com/open?id=1NAImAY7VIZZQ2sJ-WTDZyO1SjkBcyj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5.jpg"/><Relationship Id="rId4" Type="http://schemas.openxmlformats.org/officeDocument/2006/relationships/hyperlink" Target="https://pixabay.com/users/PIRO4D-2707530/?utm_source=link-attribution&amp;utm_medium=referral&amp;utm_campaign=image&amp;utm_content=2033983" TargetMode="External"/><Relationship Id="rId5" Type="http://schemas.openxmlformats.org/officeDocument/2006/relationships/hyperlink" Target="https://pixabay.com/?utm_source=link-attribution&amp;utm_medium=referral&amp;utm_campaign=image&amp;utm_content=2033983"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2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8.jpg"/><Relationship Id="rId4" Type="http://schemas.openxmlformats.org/officeDocument/2006/relationships/hyperlink" Target="https://pixabay.com/users/jeonsango-1594796/?utm_source=link-attribution&amp;utm_medium=referral&amp;utm_campaign=image&amp;utm_content=2172682" TargetMode="External"/><Relationship Id="rId5" Type="http://schemas.openxmlformats.org/officeDocument/2006/relationships/hyperlink" Target="https://pixabay.com/?utm_source=link-attribution&amp;utm_medium=referral&amp;utm_campaign=image&amp;utm_content=2172682"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3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3.jpg"/><Relationship Id="rId4" Type="http://schemas.openxmlformats.org/officeDocument/2006/relationships/hyperlink" Target="https://pixabay.com/users/_Alicja_-5975425/?utm_source=link-attribution&amp;utm_medium=referral&amp;utm_campaign=image&amp;utm_content=4018189" TargetMode="External"/><Relationship Id="rId5" Type="http://schemas.openxmlformats.org/officeDocument/2006/relationships/hyperlink" Target="https://pixabay.com/?utm_source=link-attribution&amp;utm_medium=referral&amp;utm_campaign=image&amp;utm_content=4018189"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33.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3.jpg"/><Relationship Id="rId4" Type="http://schemas.openxmlformats.org/officeDocument/2006/relationships/hyperlink" Target="https://pixabay.com/users/_Alicja_-5975425/?utm_source=link-attribution&amp;utm_medium=referral&amp;utm_campaign=image&amp;utm_content=4018189" TargetMode="External"/><Relationship Id="rId5" Type="http://schemas.openxmlformats.org/officeDocument/2006/relationships/hyperlink" Target="https://pixabay.com/?utm_source=link-attribution&amp;utm_medium=referral&amp;utm_campaign=image&amp;utm_content=4018189"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0.jpg"/><Relationship Id="rId4" Type="http://schemas.openxmlformats.org/officeDocument/2006/relationships/hyperlink" Target="https://docs.google.com/document/d/1_xjBtNg4Qb5UFureOdnH44dYZCeDDWX8y9RQ_IzDmWY/edit?usp=sharing"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9.jpg"/><Relationship Id="rId4" Type="http://schemas.openxmlformats.org/officeDocument/2006/relationships/hyperlink" Target="https://pixabay.com/users/Didgeman-153208/?utm_source=link-attribution&amp;utm_medium=referral&amp;utm_campaign=image&amp;utm_content=514932" TargetMode="External"/><Relationship Id="rId5" Type="http://schemas.openxmlformats.org/officeDocument/2006/relationships/hyperlink" Target="https://pixabay.com/?utm_source=link-attribution&amp;utm_medium=referral&amp;utm_campaign=image&amp;utm_content=514932"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7.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1.jpg"/><Relationship Id="rId4" Type="http://schemas.openxmlformats.org/officeDocument/2006/relationships/hyperlink" Target="https://drive.google.com/open?id=1su636hV8e3-ZIBfReB7tyPu__vTWCqs3" TargetMode="External"/><Relationship Id="rId5" Type="http://schemas.openxmlformats.org/officeDocument/2006/relationships/hyperlink" Target="https://drive.google.com/open?id=1NAImAY7VIZZQ2sJ-WTDZyO1SjkBcyjl-" TargetMode="External"/><Relationship Id="rId6" Type="http://schemas.openxmlformats.org/officeDocument/2006/relationships/hyperlink" Target="https://pixabay.com/users/geralt-9301/?utm_source=link-attribution&amp;utm_medium=referral&amp;utm_campaign=image&amp;utm_content=3286017" TargetMode="External"/><Relationship Id="rId7" Type="http://schemas.openxmlformats.org/officeDocument/2006/relationships/hyperlink" Target="https://pixabay.com/?utm_source=link-attribution&amp;utm_medium=referral&amp;utm_campaign=image&amp;utm_content=3286017"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drive.google.com/open?id=15sbYo4bMzACw37kuu8veLLwJa3Kppmo9"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5.xml"/><Relationship Id="rId3" Type="http://schemas.openxmlformats.org/officeDocument/2006/relationships/image" Target="../media/image2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docs.google.com/document/d/1_xjBtNg4Qb5UFureOdnH44dYZCeDDWX8y9RQ_IzDmWY/edit?usp=sharing" TargetMode="External"/><Relationship Id="rId4" Type="http://schemas.openxmlformats.org/officeDocument/2006/relationships/hyperlink" Target="https://docs.google.com/document/d/1zPqNxpNUHEu7oFbsWr_gnxpQMdNtuFutbnTo5D64_20/edit?usp=sharing" TargetMode="External"/><Relationship Id="rId5" Type="http://schemas.openxmlformats.org/officeDocument/2006/relationships/hyperlink" Target="https://docs.google.com/document/d/1-37KIBOHNRmaLEB4azBsvxbuwKP9Zl9A-DkwFcicxqg/edit?usp=sharing"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s://drive.google.com/open?id=1Xu1EccWNapb07kXE40TAwJjRgwbxh40p" TargetMode="External"/><Relationship Id="rId4" Type="http://schemas.openxmlformats.org/officeDocument/2006/relationships/hyperlink" Target="https://drive.google.com/open?id=19BMUZ7Sj129hKl-X0Msm5e0ao_VnZkw4" TargetMode="External"/><Relationship Id="rId11" Type="http://schemas.openxmlformats.org/officeDocument/2006/relationships/hyperlink" Target="https://drive.google.com/open?id=1NAImAY7VIZZQ2sJ-WTDZyO1SjkBcyjl-" TargetMode="External"/><Relationship Id="rId10" Type="http://schemas.openxmlformats.org/officeDocument/2006/relationships/hyperlink" Target="https://drive.google.com/open?id=1su636hV8e3-ZIBfReB7tyPu__vTWCqs3" TargetMode="External"/><Relationship Id="rId9" Type="http://schemas.openxmlformats.org/officeDocument/2006/relationships/hyperlink" Target="https://drive.google.com/open?id=15sbYo4bMzACw37kuu8veLLwJa3Kppmo9" TargetMode="External"/><Relationship Id="rId5" Type="http://schemas.openxmlformats.org/officeDocument/2006/relationships/hyperlink" Target="https://drive.google.com/open?id=13lv-RvAXJSJHRJ5NYVQUr8ad3jS20KKs" TargetMode="External"/><Relationship Id="rId6" Type="http://schemas.openxmlformats.org/officeDocument/2006/relationships/hyperlink" Target="https://drive.google.com/open?id=1H9YomB6-SaAaG0kWnmypDOdkIvcBY7ys" TargetMode="External"/><Relationship Id="rId7" Type="http://schemas.openxmlformats.org/officeDocument/2006/relationships/hyperlink" Target="https://drive.google.com/open?id=1NCiFQ2MPEljFvbpqFbnTX33njD-to8kz" TargetMode="External"/><Relationship Id="rId8" Type="http://schemas.openxmlformats.org/officeDocument/2006/relationships/hyperlink" Target="https://drive.google.com/open?id=12mKLl9AwANxgpmCqHKyYuInY9XytPMN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2977650" y="1034550"/>
            <a:ext cx="31887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800"/>
              <a:t>Writing Computer Architecture Papers</a:t>
            </a:r>
            <a:endParaRPr sz="3800"/>
          </a:p>
        </p:txBody>
      </p:sp>
      <p:sp>
        <p:nvSpPr>
          <p:cNvPr id="63" name="Google Shape;63;p13"/>
          <p:cNvSpPr txBox="1"/>
          <p:nvPr>
            <p:ph idx="1" type="subTitle"/>
          </p:nvPr>
        </p:nvSpPr>
        <p:spPr>
          <a:xfrm>
            <a:off x="2977650" y="2571750"/>
            <a:ext cx="3188700" cy="108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Making your argument through strong introduction, related works, and conclusion sections</a:t>
            </a:r>
            <a:endParaRPr/>
          </a:p>
        </p:txBody>
      </p:sp>
      <p:sp>
        <p:nvSpPr>
          <p:cNvPr id="64" name="Google Shape;64;p13"/>
          <p:cNvSpPr txBox="1"/>
          <p:nvPr/>
        </p:nvSpPr>
        <p:spPr>
          <a:xfrm>
            <a:off x="3006600" y="3822450"/>
            <a:ext cx="3130800" cy="54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Economica"/>
                <a:ea typeface="Economica"/>
                <a:cs typeface="Economica"/>
                <a:sym typeface="Economica"/>
              </a:rPr>
              <a:t>Stephanie Hepner</a:t>
            </a:r>
            <a:endParaRPr>
              <a:latin typeface="Economica"/>
              <a:ea typeface="Economica"/>
              <a:cs typeface="Economica"/>
              <a:sym typeface="Economica"/>
            </a:endParaRPr>
          </a:p>
          <a:p>
            <a:pPr indent="0" lvl="0" marL="0" rtl="0" algn="l">
              <a:spcBef>
                <a:spcPts val="0"/>
              </a:spcBef>
              <a:spcAft>
                <a:spcPts val="0"/>
              </a:spcAft>
              <a:buNone/>
            </a:pPr>
            <a:r>
              <a:rPr lang="en">
                <a:latin typeface="Economica"/>
                <a:ea typeface="Economica"/>
                <a:cs typeface="Economica"/>
                <a:sym typeface="Economica"/>
              </a:rPr>
              <a:t>stephanie.hepner at gmail.com</a:t>
            </a:r>
            <a:endParaRPr>
              <a:latin typeface="Economica"/>
              <a:ea typeface="Economica"/>
              <a:cs typeface="Economica"/>
              <a:sym typeface="Economic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4"/>
          <p:cNvPicPr preferRelativeResize="0"/>
          <p:nvPr/>
        </p:nvPicPr>
        <p:blipFill>
          <a:blip r:embed="rId3">
            <a:alphaModFix amt="40000"/>
          </a:blip>
          <a:stretch>
            <a:fillRect/>
          </a:stretch>
        </p:blipFill>
        <p:spPr>
          <a:xfrm>
            <a:off x="4832400" y="-545300"/>
            <a:ext cx="4156074" cy="6234101"/>
          </a:xfrm>
          <a:prstGeom prst="rect">
            <a:avLst/>
          </a:prstGeom>
          <a:noFill/>
          <a:ln>
            <a:noFill/>
          </a:ln>
        </p:spPr>
      </p:pic>
      <p:sp>
        <p:nvSpPr>
          <p:cNvPr id="70" name="Google Shape;70;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 bit about me</a:t>
            </a:r>
            <a:endParaRPr/>
          </a:p>
        </p:txBody>
      </p:sp>
      <p:sp>
        <p:nvSpPr>
          <p:cNvPr id="71" name="Google Shape;71;p14"/>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humanist by training and a special education and English teacher by trade, I believe everyone can write well provided they have the right tools.</a:t>
            </a:r>
            <a:endParaRPr/>
          </a:p>
          <a:p>
            <a:pPr indent="0" lvl="0" marL="0" rtl="0" algn="l">
              <a:spcBef>
                <a:spcPts val="1600"/>
              </a:spcBef>
              <a:spcAft>
                <a:spcPts val="0"/>
              </a:spcAft>
              <a:buNone/>
            </a:pPr>
            <a:r>
              <a:rPr lang="en"/>
              <a:t>Unfortunately, I have found that very few teachers of writing provide the strongest tools to their students. Subject specific teachers (such as social studies, science and math) often provide even less.</a:t>
            </a:r>
            <a:endParaRPr/>
          </a:p>
          <a:p>
            <a:pPr indent="0" lvl="0" marL="0" rtl="0" algn="l">
              <a:spcBef>
                <a:spcPts val="1600"/>
              </a:spcBef>
              <a:spcAft>
                <a:spcPts val="0"/>
              </a:spcAft>
              <a:buNone/>
            </a:pPr>
            <a:r>
              <a:rPr lang="en"/>
              <a:t>Oh. And my CS knowledge? I took one-half of one semester of Intro to Programming as an undergrad. This is what I know:</a:t>
            </a:r>
            <a:endParaRPr/>
          </a:p>
          <a:p>
            <a:pPr indent="457200" lvl="0" marL="0" rtl="0" algn="l">
              <a:spcBef>
                <a:spcPts val="0"/>
              </a:spcBef>
              <a:spcAft>
                <a:spcPts val="0"/>
              </a:spcAft>
              <a:buNone/>
            </a:pPr>
            <a:r>
              <a:rPr lang="en"/>
              <a:t>cout &lt;&lt; “cs sucks”;</a:t>
            </a:r>
            <a:endParaRPr/>
          </a:p>
          <a:p>
            <a:pPr indent="0" lvl="0" marL="0" rtl="0" algn="l">
              <a:spcBef>
                <a:spcPts val="1600"/>
              </a:spcBef>
              <a:spcAft>
                <a:spcPts val="1600"/>
              </a:spcAft>
              <a:buNone/>
            </a:pPr>
            <a:r>
              <a:t/>
            </a:r>
            <a:endParaRPr/>
          </a:p>
        </p:txBody>
      </p:sp>
      <p:sp>
        <p:nvSpPr>
          <p:cNvPr id="72" name="Google Shape;72;p14"/>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favorite party trick: explaining Trevor’s research topics to laypeople </a:t>
            </a:r>
            <a:endParaRPr/>
          </a:p>
          <a:p>
            <a:pPr indent="0" lvl="0" marL="0" rtl="0" algn="l">
              <a:spcBef>
                <a:spcPts val="1600"/>
              </a:spcBef>
              <a:spcAft>
                <a:spcPts val="0"/>
              </a:spcAft>
              <a:buNone/>
            </a:pPr>
            <a:r>
              <a:rPr lang="en"/>
              <a:t>My favorite CS conference trick: making a comment or posing a question that makes it seem like I know what anyone is talking about (spoiler alert: I don’t)</a:t>
            </a:r>
            <a:endParaRPr/>
          </a:p>
          <a:p>
            <a:pPr indent="0" lvl="0" marL="0" rtl="0" algn="l">
              <a:spcBef>
                <a:spcPts val="1600"/>
              </a:spcBef>
              <a:spcAft>
                <a:spcPts val="1600"/>
              </a:spcAft>
              <a:buNone/>
            </a:pPr>
            <a:r>
              <a:rPr lang="en"/>
              <a:t>My favorite teaching trick: deconstructing good writing to provide explicit tools to students and to shine a light on how writing works</a:t>
            </a:r>
            <a:endParaRPr/>
          </a:p>
        </p:txBody>
      </p:sp>
      <p:sp>
        <p:nvSpPr>
          <p:cNvPr id="73" name="Google Shape;73;p14"/>
          <p:cNvSpPr txBox="1"/>
          <p:nvPr/>
        </p:nvSpPr>
        <p:spPr>
          <a:xfrm>
            <a:off x="4832400" y="4849400"/>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4">
                  <a:extLst>
                    <a:ext uri="{A12FA001-AC4F-418D-AE19-62706E023703}">
                      <ahyp:hlinkClr val="tx"/>
                    </a:ext>
                  </a:extLst>
                </a:hlinkClick>
              </a:rPr>
              <a:t>Free-Photos</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Pixabay</a:t>
            </a:r>
            <a:endParaRPr>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this module works</a:t>
            </a:r>
            <a:endParaRPr/>
          </a:p>
        </p:txBody>
      </p:sp>
      <p:grpSp>
        <p:nvGrpSpPr>
          <p:cNvPr id="79" name="Google Shape;79;p15"/>
          <p:cNvGrpSpPr/>
          <p:nvPr/>
        </p:nvGrpSpPr>
        <p:grpSpPr>
          <a:xfrm>
            <a:off x="2902488" y="1511832"/>
            <a:ext cx="3339000" cy="3339000"/>
            <a:chOff x="2902488" y="902232"/>
            <a:chExt cx="3339000" cy="3339000"/>
          </a:xfrm>
        </p:grpSpPr>
        <p:sp>
          <p:nvSpPr>
            <p:cNvPr id="80" name="Google Shape;80;p15"/>
            <p:cNvSpPr/>
            <p:nvPr/>
          </p:nvSpPr>
          <p:spPr>
            <a:xfrm rot="-5400000">
              <a:off x="2902488" y="902232"/>
              <a:ext cx="3339000" cy="3339000"/>
            </a:xfrm>
            <a:prstGeom prst="ellipse">
              <a:avLst/>
            </a:prstGeom>
            <a:noFill/>
            <a:ln cap="flat" cmpd="sng" w="19050">
              <a:solidFill>
                <a:srgbClr val="1D7E74"/>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a:off x="3123738" y="1123632"/>
              <a:ext cx="2896500" cy="2896200"/>
            </a:xfrm>
            <a:prstGeom prst="pie">
              <a:avLst>
                <a:gd fmla="val 1811602" name="adj1"/>
                <a:gd fmla="val 16214886" name="adj2"/>
              </a:avLst>
            </a:prstGeom>
            <a:solidFill>
              <a:srgbClr val="83E3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15"/>
          <p:cNvGrpSpPr/>
          <p:nvPr/>
        </p:nvGrpSpPr>
        <p:grpSpPr>
          <a:xfrm>
            <a:off x="3664038" y="2273382"/>
            <a:ext cx="1815900" cy="1815900"/>
            <a:chOff x="3664038" y="1663782"/>
            <a:chExt cx="1815900" cy="1815900"/>
          </a:xfrm>
        </p:grpSpPr>
        <p:sp>
          <p:nvSpPr>
            <p:cNvPr id="83" name="Google Shape;83;p15"/>
            <p:cNvSpPr/>
            <p:nvPr/>
          </p:nvSpPr>
          <p:spPr>
            <a:xfrm>
              <a:off x="3664038" y="1663782"/>
              <a:ext cx="1815900" cy="1815900"/>
            </a:xfrm>
            <a:prstGeom prst="ellipse">
              <a:avLst/>
            </a:prstGeom>
            <a:solidFill>
              <a:srgbClr val="1B786E"/>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txBox="1"/>
            <p:nvPr/>
          </p:nvSpPr>
          <p:spPr>
            <a:xfrm>
              <a:off x="3899988" y="2158482"/>
              <a:ext cx="1344000" cy="82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rgbClr val="FFFFFF"/>
                  </a:solidFill>
                  <a:latin typeface="Roboto"/>
                  <a:ea typeface="Roboto"/>
                  <a:cs typeface="Roboto"/>
                  <a:sym typeface="Roboto"/>
                </a:rPr>
                <a:t>Explicit tools for writing</a:t>
              </a:r>
              <a:endParaRPr b="1">
                <a:solidFill>
                  <a:srgbClr val="FFFFFF"/>
                </a:solidFill>
                <a:latin typeface="Roboto"/>
                <a:ea typeface="Roboto"/>
                <a:cs typeface="Roboto"/>
                <a:sym typeface="Roboto"/>
              </a:endParaRPr>
            </a:p>
          </p:txBody>
        </p:sp>
      </p:grpSp>
      <p:grpSp>
        <p:nvGrpSpPr>
          <p:cNvPr id="85" name="Google Shape;85;p15"/>
          <p:cNvGrpSpPr/>
          <p:nvPr/>
        </p:nvGrpSpPr>
        <p:grpSpPr>
          <a:xfrm>
            <a:off x="4042065" y="1055429"/>
            <a:ext cx="1068600" cy="1068600"/>
            <a:chOff x="2859873" y="853971"/>
            <a:chExt cx="1068600" cy="1068600"/>
          </a:xfrm>
        </p:grpSpPr>
        <p:sp>
          <p:nvSpPr>
            <p:cNvPr id="86" name="Google Shape;86;p15"/>
            <p:cNvSpPr/>
            <p:nvPr/>
          </p:nvSpPr>
          <p:spPr>
            <a:xfrm>
              <a:off x="2859873" y="853971"/>
              <a:ext cx="1068600" cy="1068600"/>
            </a:xfrm>
            <a:prstGeom prst="ellipse">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nvSpPr>
          <p:spPr>
            <a:xfrm>
              <a:off x="3012800" y="1022197"/>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rgbClr val="FFFFFF"/>
                  </a:solidFill>
                  <a:latin typeface="Roboto"/>
                  <a:ea typeface="Roboto"/>
                  <a:cs typeface="Roboto"/>
                  <a:sym typeface="Roboto"/>
                </a:rPr>
                <a:t>Explanation and examples</a:t>
              </a:r>
              <a:endParaRPr sz="800">
                <a:solidFill>
                  <a:srgbClr val="FFFFFF"/>
                </a:solidFill>
                <a:latin typeface="Roboto"/>
                <a:ea typeface="Roboto"/>
                <a:cs typeface="Roboto"/>
                <a:sym typeface="Roboto"/>
              </a:endParaRPr>
            </a:p>
          </p:txBody>
        </p:sp>
      </p:grpSp>
      <p:grpSp>
        <p:nvGrpSpPr>
          <p:cNvPr id="88" name="Google Shape;88;p15"/>
          <p:cNvGrpSpPr/>
          <p:nvPr/>
        </p:nvGrpSpPr>
        <p:grpSpPr>
          <a:xfrm>
            <a:off x="2590696" y="3496258"/>
            <a:ext cx="1068600" cy="1068600"/>
            <a:chOff x="2859873" y="853971"/>
            <a:chExt cx="1068600" cy="1068600"/>
          </a:xfrm>
        </p:grpSpPr>
        <p:sp>
          <p:nvSpPr>
            <p:cNvPr id="89" name="Google Shape;89;p15"/>
            <p:cNvSpPr/>
            <p:nvPr/>
          </p:nvSpPr>
          <p:spPr>
            <a:xfrm>
              <a:off x="2859873" y="853971"/>
              <a:ext cx="1068600" cy="1068600"/>
            </a:xfrm>
            <a:prstGeom prst="ellipse">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txBox="1"/>
            <p:nvPr/>
          </p:nvSpPr>
          <p:spPr>
            <a:xfrm>
              <a:off x="3012800" y="1022197"/>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lt1"/>
                  </a:solidFill>
                  <a:latin typeface="Roboto"/>
                  <a:ea typeface="Roboto"/>
                  <a:cs typeface="Roboto"/>
                  <a:sym typeface="Roboto"/>
                </a:rPr>
                <a:t>Independent practice with your papers</a:t>
              </a:r>
              <a:endParaRPr sz="800">
                <a:solidFill>
                  <a:srgbClr val="FFFFFF"/>
                </a:solidFill>
                <a:latin typeface="Roboto"/>
                <a:ea typeface="Roboto"/>
                <a:cs typeface="Roboto"/>
                <a:sym typeface="Roboto"/>
              </a:endParaRPr>
            </a:p>
          </p:txBody>
        </p:sp>
      </p:grpSp>
      <p:grpSp>
        <p:nvGrpSpPr>
          <p:cNvPr id="91" name="Google Shape;91;p15"/>
          <p:cNvGrpSpPr/>
          <p:nvPr/>
        </p:nvGrpSpPr>
        <p:grpSpPr>
          <a:xfrm>
            <a:off x="5480043" y="3488613"/>
            <a:ext cx="1068600" cy="1068600"/>
            <a:chOff x="5214448" y="3234278"/>
            <a:chExt cx="1068600" cy="1068600"/>
          </a:xfrm>
        </p:grpSpPr>
        <p:sp>
          <p:nvSpPr>
            <p:cNvPr id="92" name="Google Shape;92;p15"/>
            <p:cNvSpPr/>
            <p:nvPr/>
          </p:nvSpPr>
          <p:spPr>
            <a:xfrm>
              <a:off x="5214448" y="3234278"/>
              <a:ext cx="1068600" cy="1068600"/>
            </a:xfrm>
            <a:prstGeom prst="ellipse">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txBox="1"/>
            <p:nvPr/>
          </p:nvSpPr>
          <p:spPr>
            <a:xfrm>
              <a:off x="5367375" y="3402503"/>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rgbClr val="FFFFFF"/>
                  </a:solidFill>
                  <a:latin typeface="Roboto"/>
                  <a:ea typeface="Roboto"/>
                  <a:cs typeface="Roboto"/>
                  <a:sym typeface="Roboto"/>
                </a:rPr>
                <a:t>Guided practice with selected papers</a:t>
              </a:r>
              <a:endParaRPr sz="800">
                <a:solidFill>
                  <a:srgbClr val="FFFFFF"/>
                </a:solidFill>
                <a:latin typeface="Roboto"/>
                <a:ea typeface="Roboto"/>
                <a:cs typeface="Roboto"/>
                <a:sym typeface="Roboto"/>
              </a:endParaRPr>
            </a:p>
          </p:txBody>
        </p:sp>
      </p:grpSp>
      <p:pic>
        <p:nvPicPr>
          <p:cNvPr id="94" name="Google Shape;94;p15"/>
          <p:cNvPicPr preferRelativeResize="0"/>
          <p:nvPr/>
        </p:nvPicPr>
        <p:blipFill>
          <a:blip r:embed="rId3">
            <a:alphaModFix amt="70000"/>
          </a:blip>
          <a:stretch>
            <a:fillRect/>
          </a:stretch>
        </p:blipFill>
        <p:spPr>
          <a:xfrm>
            <a:off x="6843621" y="3417625"/>
            <a:ext cx="1815902" cy="1210598"/>
          </a:xfrm>
          <a:prstGeom prst="rect">
            <a:avLst/>
          </a:prstGeom>
          <a:noFill/>
          <a:ln>
            <a:noFill/>
          </a:ln>
        </p:spPr>
      </p:pic>
      <p:sp>
        <p:nvSpPr>
          <p:cNvPr id="95" name="Google Shape;95;p15"/>
          <p:cNvSpPr txBox="1"/>
          <p:nvPr/>
        </p:nvSpPr>
        <p:spPr>
          <a:xfrm>
            <a:off x="6843625" y="3425250"/>
            <a:ext cx="18159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See what I mean?</a:t>
            </a:r>
            <a:endParaRPr>
              <a:latin typeface="Open Sans"/>
              <a:ea typeface="Open Sans"/>
              <a:cs typeface="Open Sans"/>
              <a:sym typeface="Open Sans"/>
            </a:endParaRPr>
          </a:p>
        </p:txBody>
      </p:sp>
      <p:pic>
        <p:nvPicPr>
          <p:cNvPr id="96" name="Google Shape;96;p15"/>
          <p:cNvPicPr preferRelativeResize="0"/>
          <p:nvPr/>
        </p:nvPicPr>
        <p:blipFill>
          <a:blip r:embed="rId4">
            <a:alphaModFix amt="40000"/>
          </a:blip>
          <a:stretch>
            <a:fillRect/>
          </a:stretch>
        </p:blipFill>
        <p:spPr>
          <a:xfrm>
            <a:off x="484472" y="3429500"/>
            <a:ext cx="1815902" cy="1202090"/>
          </a:xfrm>
          <a:prstGeom prst="rect">
            <a:avLst/>
          </a:prstGeom>
          <a:noFill/>
          <a:ln>
            <a:noFill/>
          </a:ln>
        </p:spPr>
      </p:pic>
      <p:sp>
        <p:nvSpPr>
          <p:cNvPr id="97" name="Google Shape;97;p15"/>
          <p:cNvSpPr txBox="1"/>
          <p:nvPr/>
        </p:nvSpPr>
        <p:spPr>
          <a:xfrm>
            <a:off x="484475" y="3362800"/>
            <a:ext cx="18159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Over to you!</a:t>
            </a:r>
            <a:endParaRPr>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Challenge</a:t>
            </a:r>
            <a:endParaRPr/>
          </a:p>
        </p:txBody>
      </p:sp>
      <p:sp>
        <p:nvSpPr>
          <p:cNvPr id="103" name="Google Shape;103;p16"/>
          <p:cNvSpPr txBox="1"/>
          <p:nvPr>
            <p:ph idx="1" type="body"/>
          </p:nvPr>
        </p:nvSpPr>
        <p:spPr>
          <a:xfrm>
            <a:off x="311700" y="1212750"/>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grpSp>
        <p:nvGrpSpPr>
          <p:cNvPr id="104" name="Google Shape;104;p16"/>
          <p:cNvGrpSpPr/>
          <p:nvPr/>
        </p:nvGrpSpPr>
        <p:grpSpPr>
          <a:xfrm>
            <a:off x="1923789" y="998851"/>
            <a:ext cx="2648262" cy="3365099"/>
            <a:chOff x="2744034" y="1146343"/>
            <a:chExt cx="1827900" cy="2399700"/>
          </a:xfrm>
        </p:grpSpPr>
        <p:sp>
          <p:nvSpPr>
            <p:cNvPr id="105" name="Google Shape;105;p16"/>
            <p:cNvSpPr/>
            <p:nvPr/>
          </p:nvSpPr>
          <p:spPr>
            <a:xfrm rot="-5400000">
              <a:off x="2458134" y="1432243"/>
              <a:ext cx="2399700" cy="1827900"/>
            </a:xfrm>
            <a:prstGeom prst="rightArrowCallout">
              <a:avLst>
                <a:gd fmla="val 9283" name="adj1"/>
                <a:gd fmla="val 13570" name="adj2"/>
                <a:gd fmla="val 16082" name="adj3"/>
                <a:gd fmla="val 81236" name="adj4"/>
              </a:avLst>
            </a:prstGeom>
            <a:solidFill>
              <a:srgbClr val="F48F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flipH="1">
              <a:off x="2832600" y="1686400"/>
              <a:ext cx="1649400" cy="1769700"/>
            </a:xfrm>
            <a:prstGeom prst="snip1Rect">
              <a:avLst>
                <a:gd fmla="val 0" name="adj"/>
              </a:avLst>
            </a:prstGeom>
            <a:solidFill>
              <a:srgbClr val="AC11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txBox="1"/>
            <p:nvPr/>
          </p:nvSpPr>
          <p:spPr>
            <a:xfrm>
              <a:off x="2966450" y="1795520"/>
              <a:ext cx="1383000" cy="14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a:solidFill>
                    <a:srgbClr val="FFFFFF"/>
                  </a:solidFill>
                  <a:latin typeface="Roboto"/>
                  <a:ea typeface="Roboto"/>
                  <a:cs typeface="Roboto"/>
                  <a:sym typeface="Roboto"/>
                </a:rPr>
                <a:t>Make a persuasive argument</a:t>
              </a:r>
              <a:endParaRPr b="1">
                <a:solidFill>
                  <a:srgbClr val="FFFFFF"/>
                </a:solidFill>
                <a:latin typeface="Roboto"/>
                <a:ea typeface="Roboto"/>
                <a:cs typeface="Roboto"/>
                <a:sym typeface="Roboto"/>
              </a:endParaRPr>
            </a:p>
            <a:p>
              <a:pPr indent="0" lvl="0" marL="0" rtl="0" algn="ctr">
                <a:lnSpc>
                  <a:spcPct val="115000"/>
                </a:lnSpc>
                <a:spcBef>
                  <a:spcPts val="0"/>
                </a:spcBef>
                <a:spcAft>
                  <a:spcPts val="0"/>
                </a:spcAft>
                <a:buNone/>
              </a:pPr>
              <a:r>
                <a:t/>
              </a:r>
              <a:endParaRPr sz="800">
                <a:solidFill>
                  <a:srgbClr val="FFFFFF"/>
                </a:solidFill>
                <a:latin typeface="Roboto"/>
                <a:ea typeface="Roboto"/>
                <a:cs typeface="Roboto"/>
                <a:sym typeface="Roboto"/>
              </a:endParaRPr>
            </a:p>
            <a:p>
              <a:pPr indent="0" lvl="0" marL="0" rtl="0" algn="ctr">
                <a:lnSpc>
                  <a:spcPct val="115000"/>
                </a:lnSpc>
                <a:spcBef>
                  <a:spcPts val="0"/>
                </a:spcBef>
                <a:spcAft>
                  <a:spcPts val="1600"/>
                </a:spcAft>
                <a:buNone/>
              </a:pPr>
              <a:r>
                <a:rPr lang="en" sz="1100">
                  <a:solidFill>
                    <a:srgbClr val="FFFFFF"/>
                  </a:solidFill>
                  <a:latin typeface="Roboto"/>
                  <a:ea typeface="Roboto"/>
                  <a:cs typeface="Roboto"/>
                  <a:sym typeface="Roboto"/>
                </a:rPr>
                <a:t>Ultimately, you are trying to convince your readers that your problem is important and that your solution is awesome.</a:t>
              </a:r>
              <a:endParaRPr sz="1100">
                <a:solidFill>
                  <a:srgbClr val="FFFFFF"/>
                </a:solidFill>
              </a:endParaRPr>
            </a:p>
          </p:txBody>
        </p:sp>
      </p:grpSp>
      <p:grpSp>
        <p:nvGrpSpPr>
          <p:cNvPr id="108" name="Google Shape;108;p16"/>
          <p:cNvGrpSpPr/>
          <p:nvPr/>
        </p:nvGrpSpPr>
        <p:grpSpPr>
          <a:xfrm>
            <a:off x="4571989" y="1634956"/>
            <a:ext cx="2735635" cy="3356460"/>
            <a:chOff x="4572084" y="1597469"/>
            <a:chExt cx="1827900" cy="2399700"/>
          </a:xfrm>
        </p:grpSpPr>
        <p:sp>
          <p:nvSpPr>
            <p:cNvPr id="109" name="Google Shape;109;p16"/>
            <p:cNvSpPr/>
            <p:nvPr/>
          </p:nvSpPr>
          <p:spPr>
            <a:xfrm rot="5400000">
              <a:off x="4286184" y="1883369"/>
              <a:ext cx="2399700" cy="1827900"/>
            </a:xfrm>
            <a:prstGeom prst="rightArrowCallout">
              <a:avLst>
                <a:gd fmla="val 9283" name="adj1"/>
                <a:gd fmla="val 13570" name="adj2"/>
                <a:gd fmla="val 16082" name="adj3"/>
                <a:gd fmla="val 81236" name="adj4"/>
              </a:avLst>
            </a:prstGeom>
            <a:solidFill>
              <a:srgbClr val="840D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flipH="1" rot="10800000">
              <a:off x="4662018" y="1687411"/>
              <a:ext cx="1649400" cy="1769700"/>
            </a:xfrm>
            <a:prstGeom prst="snip1Rect">
              <a:avLst>
                <a:gd fmla="val 0" name="adj"/>
              </a:avLst>
            </a:prstGeom>
            <a:solidFill>
              <a:srgbClr val="AC11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txBox="1"/>
            <p:nvPr/>
          </p:nvSpPr>
          <p:spPr>
            <a:xfrm>
              <a:off x="4794425" y="1795520"/>
              <a:ext cx="1383000" cy="14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a:solidFill>
                    <a:srgbClr val="FFFFFF"/>
                  </a:solidFill>
                  <a:latin typeface="Roboto"/>
                  <a:ea typeface="Roboto"/>
                  <a:cs typeface="Roboto"/>
                  <a:sym typeface="Roboto"/>
                </a:rPr>
                <a:t>In a scientific, academic way</a:t>
              </a:r>
              <a:endParaRPr b="1">
                <a:solidFill>
                  <a:srgbClr val="FFFFFF"/>
                </a:solidFill>
                <a:latin typeface="Roboto"/>
                <a:ea typeface="Roboto"/>
                <a:cs typeface="Roboto"/>
                <a:sym typeface="Roboto"/>
              </a:endParaRPr>
            </a:p>
            <a:p>
              <a:pPr indent="0" lvl="0" marL="0" rtl="0" algn="ctr">
                <a:lnSpc>
                  <a:spcPct val="115000"/>
                </a:lnSpc>
                <a:spcBef>
                  <a:spcPts val="0"/>
                </a:spcBef>
                <a:spcAft>
                  <a:spcPts val="0"/>
                </a:spcAft>
                <a:buNone/>
              </a:pPr>
              <a:r>
                <a:t/>
              </a:r>
              <a:endParaRPr sz="800">
                <a:solidFill>
                  <a:srgbClr val="FFFFFF"/>
                </a:solidFill>
                <a:latin typeface="Roboto"/>
                <a:ea typeface="Roboto"/>
                <a:cs typeface="Roboto"/>
                <a:sym typeface="Roboto"/>
              </a:endParaRPr>
            </a:p>
            <a:p>
              <a:pPr indent="0" lvl="0" marL="0" rtl="0" algn="ctr">
                <a:lnSpc>
                  <a:spcPct val="115000"/>
                </a:lnSpc>
                <a:spcBef>
                  <a:spcPts val="0"/>
                </a:spcBef>
                <a:spcAft>
                  <a:spcPts val="1600"/>
                </a:spcAft>
                <a:buNone/>
              </a:pPr>
              <a:r>
                <a:rPr lang="en" sz="1100">
                  <a:solidFill>
                    <a:srgbClr val="FFFFFF"/>
                  </a:solidFill>
                  <a:latin typeface="Roboto"/>
                  <a:ea typeface="Roboto"/>
                  <a:cs typeface="Roboto"/>
                  <a:sym typeface="Roboto"/>
                </a:rPr>
                <a:t>But you need to do that within the confines of academic, scientific writing, which must be objective, formal, and technical.</a:t>
              </a:r>
              <a:endParaRPr sz="1100">
                <a:solidFill>
                  <a:srgbClr val="FFFFFF"/>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you can do</a:t>
            </a:r>
            <a:endParaRPr/>
          </a:p>
        </p:txBody>
      </p:sp>
      <p:sp>
        <p:nvSpPr>
          <p:cNvPr id="117" name="Google Shape;117;p17"/>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Read as many publications as you can. Think about what makes them compelling. </a:t>
            </a:r>
            <a:endParaRPr/>
          </a:p>
          <a:p>
            <a:pPr indent="-317500" lvl="0" marL="457200" rtl="0" algn="l">
              <a:spcBef>
                <a:spcPts val="0"/>
              </a:spcBef>
              <a:spcAft>
                <a:spcPts val="0"/>
              </a:spcAft>
              <a:buSzPts val="1400"/>
              <a:buAutoNum type="arabicPeriod"/>
            </a:pPr>
            <a:r>
              <a:rPr lang="en"/>
              <a:t>Learn specific techniques from the papers you’ve read and modules like this one.</a:t>
            </a:r>
            <a:endParaRPr/>
          </a:p>
          <a:p>
            <a:pPr indent="-317500" lvl="0" marL="457200" rtl="0" algn="l">
              <a:spcBef>
                <a:spcPts val="0"/>
              </a:spcBef>
              <a:spcAft>
                <a:spcPts val="0"/>
              </a:spcAft>
              <a:buSzPts val="1400"/>
              <a:buAutoNum type="arabicPeriod"/>
            </a:pPr>
            <a:r>
              <a:rPr lang="en"/>
              <a:t>Practice writing and getting feedback on the strength of </a:t>
            </a:r>
            <a:r>
              <a:rPr lang="en"/>
              <a:t>the</a:t>
            </a:r>
            <a:r>
              <a:rPr lang="en"/>
              <a:t> argument.</a:t>
            </a:r>
            <a:endParaRPr/>
          </a:p>
          <a:p>
            <a:pPr indent="-317500" lvl="0" marL="457200" rtl="0" algn="l">
              <a:spcBef>
                <a:spcPts val="0"/>
              </a:spcBef>
              <a:spcAft>
                <a:spcPts val="0"/>
              </a:spcAft>
              <a:buSzPts val="1400"/>
              <a:buAutoNum type="arabicPeriod"/>
            </a:pPr>
            <a:r>
              <a:rPr lang="en"/>
              <a:t>Repeat.</a:t>
            </a:r>
            <a:endParaRPr/>
          </a:p>
        </p:txBody>
      </p:sp>
      <p:sp>
        <p:nvSpPr>
          <p:cNvPr id="118" name="Google Shape;118;p17"/>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sz="800"/>
          </a:p>
          <a:p>
            <a:pPr indent="0" lvl="0" marL="0" rtl="0" algn="l">
              <a:spcBef>
                <a:spcPts val="1600"/>
              </a:spcBef>
              <a:spcAft>
                <a:spcPts val="0"/>
              </a:spcAft>
              <a:buNone/>
            </a:pPr>
            <a:r>
              <a:t/>
            </a:r>
            <a:endParaRPr sz="800"/>
          </a:p>
          <a:p>
            <a:pPr indent="0" lvl="0" marL="0" rtl="0" algn="l">
              <a:spcBef>
                <a:spcPts val="1600"/>
              </a:spcBef>
              <a:spcAft>
                <a:spcPts val="1600"/>
              </a:spcAft>
              <a:buNone/>
            </a:pPr>
            <a:r>
              <a:rPr lang="en" sz="1100">
                <a:solidFill>
                  <a:srgbClr val="333333"/>
                </a:solidFill>
              </a:rPr>
              <a:t>Image by </a:t>
            </a:r>
            <a:r>
              <a:rPr lang="en" sz="1100" u="sng">
                <a:solidFill>
                  <a:srgbClr val="333333"/>
                </a:solidFill>
                <a:hlinkClick r:id="rId3">
                  <a:extLst>
                    <a:ext uri="{A12FA001-AC4F-418D-AE19-62706E023703}">
                      <ahyp:hlinkClr val="tx"/>
                    </a:ext>
                  </a:extLst>
                </a:hlinkClick>
              </a:rPr>
              <a:t>Jan Steiner</a:t>
            </a:r>
            <a:r>
              <a:rPr lang="en" sz="1100">
                <a:solidFill>
                  <a:srgbClr val="333333"/>
                </a:solidFill>
              </a:rPr>
              <a:t> from </a:t>
            </a:r>
            <a:r>
              <a:rPr lang="en" sz="1100" u="sng">
                <a:solidFill>
                  <a:srgbClr val="333333"/>
                </a:solidFill>
                <a:hlinkClick r:id="rId4">
                  <a:extLst>
                    <a:ext uri="{A12FA001-AC4F-418D-AE19-62706E023703}">
                      <ahyp:hlinkClr val="tx"/>
                    </a:ext>
                  </a:extLst>
                </a:hlinkClick>
              </a:rPr>
              <a:t>Pixabay</a:t>
            </a:r>
            <a:r>
              <a:rPr lang="en" sz="1100">
                <a:solidFill>
                  <a:srgbClr val="333333"/>
                </a:solidFill>
                <a:highlight>
                  <a:srgbClr val="FFFFFF"/>
                </a:highlight>
              </a:rPr>
              <a:t> </a:t>
            </a:r>
            <a:endParaRPr/>
          </a:p>
        </p:txBody>
      </p:sp>
      <p:pic>
        <p:nvPicPr>
          <p:cNvPr id="119" name="Google Shape;119;p17"/>
          <p:cNvPicPr preferRelativeResize="0"/>
          <p:nvPr/>
        </p:nvPicPr>
        <p:blipFill>
          <a:blip r:embed="rId5">
            <a:alphaModFix/>
          </a:blip>
          <a:stretch>
            <a:fillRect/>
          </a:stretch>
        </p:blipFill>
        <p:spPr>
          <a:xfrm>
            <a:off x="4572000" y="1106600"/>
            <a:ext cx="4395451" cy="29303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this resource?</a:t>
            </a:r>
            <a:endParaRPr/>
          </a:p>
        </p:txBody>
      </p:sp>
      <p:sp>
        <p:nvSpPr>
          <p:cNvPr id="125" name="Google Shape;125;p1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Several recent papers published in top conferences (see </a:t>
            </a:r>
            <a:r>
              <a:rPr lang="en" u="sng">
                <a:solidFill>
                  <a:schemeClr val="hlink"/>
                </a:solidFill>
                <a:hlinkClick action="ppaction://hlinksldjump" r:id="rId3"/>
              </a:rPr>
              <a:t>references</a:t>
            </a:r>
            <a:r>
              <a:rPr lang="en"/>
              <a:t>)</a:t>
            </a:r>
            <a:endParaRPr/>
          </a:p>
          <a:p>
            <a:pPr indent="0" lvl="0" marL="0" rtl="0" algn="l">
              <a:spcBef>
                <a:spcPts val="1600"/>
              </a:spcBef>
              <a:spcAft>
                <a:spcPts val="0"/>
              </a:spcAft>
              <a:buNone/>
            </a:pPr>
            <a:r>
              <a:rPr lang="en"/>
              <a:t>Identified as being ‘well-written’ by </a:t>
            </a:r>
            <a:r>
              <a:rPr lang="en" u="sng">
                <a:solidFill>
                  <a:schemeClr val="hlink"/>
                </a:solidFill>
                <a:hlinkClick action="ppaction://hlinksldjump" r:id="rId4"/>
              </a:rPr>
              <a:t>experts</a:t>
            </a:r>
            <a:r>
              <a:rPr lang="en"/>
              <a:t> in </a:t>
            </a:r>
            <a:r>
              <a:rPr lang="en"/>
              <a:t>the</a:t>
            </a:r>
            <a:r>
              <a:rPr lang="en"/>
              <a:t> field</a:t>
            </a:r>
            <a:endParaRPr/>
          </a:p>
          <a:p>
            <a:pPr indent="0" lvl="0" marL="0" rtl="0" algn="l">
              <a:spcBef>
                <a:spcPts val="1600"/>
              </a:spcBef>
              <a:spcAft>
                <a:spcPts val="0"/>
              </a:spcAft>
              <a:buNone/>
            </a:pPr>
            <a:r>
              <a:rPr lang="en"/>
              <a:t>Analyzed and deconstructed for content, structure,                                           and functional grammar to understand how the text                                                 was put together</a:t>
            </a:r>
            <a:endParaRPr/>
          </a:p>
          <a:p>
            <a:pPr indent="457200" lvl="0" marL="0" rtl="0" algn="l">
              <a:spcBef>
                <a:spcPts val="1600"/>
              </a:spcBef>
              <a:spcAft>
                <a:spcPts val="0"/>
              </a:spcAft>
              <a:buNone/>
            </a:pPr>
            <a:r>
              <a:rPr lang="en"/>
              <a:t>→ To make the writing more transparent </a:t>
            </a:r>
            <a:endParaRPr/>
          </a:p>
          <a:p>
            <a:pPr indent="457200" lvl="0" marL="0" rtl="0" algn="l">
              <a:spcBef>
                <a:spcPts val="1600"/>
              </a:spcBef>
              <a:spcAft>
                <a:spcPts val="0"/>
              </a:spcAft>
              <a:buNone/>
            </a:pPr>
            <a:r>
              <a:rPr lang="en"/>
              <a:t>→ To help you write better</a:t>
            </a:r>
            <a:endParaRPr/>
          </a:p>
          <a:p>
            <a:pPr indent="0" lvl="0" marL="0" rtl="0" algn="l">
              <a:spcBef>
                <a:spcPts val="1600"/>
              </a:spcBef>
              <a:spcAft>
                <a:spcPts val="1600"/>
              </a:spcAft>
              <a:buNone/>
            </a:pPr>
            <a:r>
              <a:t/>
            </a:r>
            <a:endParaRPr/>
          </a:p>
        </p:txBody>
      </p:sp>
      <p:pic>
        <p:nvPicPr>
          <p:cNvPr id="126" name="Google Shape;126;p18"/>
          <p:cNvPicPr preferRelativeResize="0"/>
          <p:nvPr/>
        </p:nvPicPr>
        <p:blipFill>
          <a:blip r:embed="rId5">
            <a:alphaModFix/>
          </a:blip>
          <a:stretch>
            <a:fillRect/>
          </a:stretch>
        </p:blipFill>
        <p:spPr>
          <a:xfrm>
            <a:off x="6270875" y="1863313"/>
            <a:ext cx="2772326" cy="2077826"/>
          </a:xfrm>
          <a:prstGeom prst="rect">
            <a:avLst/>
          </a:prstGeom>
          <a:noFill/>
          <a:ln>
            <a:noFill/>
          </a:ln>
        </p:spPr>
      </p:pic>
      <p:sp>
        <p:nvSpPr>
          <p:cNvPr id="127" name="Google Shape;127;p18"/>
          <p:cNvSpPr txBox="1"/>
          <p:nvPr/>
        </p:nvSpPr>
        <p:spPr>
          <a:xfrm>
            <a:off x="6270875" y="3997375"/>
            <a:ext cx="26859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Open Sans"/>
                <a:ea typeface="Open Sans"/>
                <a:cs typeface="Open Sans"/>
                <a:sym typeface="Open Sans"/>
              </a:rPr>
              <a:t>Image by </a:t>
            </a:r>
            <a:r>
              <a:rPr lang="en" sz="1100" u="sng">
                <a:solidFill>
                  <a:srgbClr val="333333"/>
                </a:solidFill>
                <a:latin typeface="Open Sans"/>
                <a:ea typeface="Open Sans"/>
                <a:cs typeface="Open Sans"/>
                <a:sym typeface="Open Sans"/>
                <a:hlinkClick r:id="rId6">
                  <a:extLst>
                    <a:ext uri="{A12FA001-AC4F-418D-AE19-62706E023703}">
                      <ahyp:hlinkClr val="tx"/>
                    </a:ext>
                  </a:extLst>
                </a:hlinkClick>
              </a:rPr>
              <a:t>Anne Karakash</a:t>
            </a:r>
            <a:r>
              <a:rPr lang="en" sz="1100">
                <a:solidFill>
                  <a:srgbClr val="333333"/>
                </a:solidFill>
                <a:latin typeface="Open Sans"/>
                <a:ea typeface="Open Sans"/>
                <a:cs typeface="Open Sans"/>
                <a:sym typeface="Open Sans"/>
              </a:rPr>
              <a:t> from </a:t>
            </a:r>
            <a:r>
              <a:rPr lang="en" sz="1100" u="sng">
                <a:solidFill>
                  <a:srgbClr val="333333"/>
                </a:solidFill>
                <a:latin typeface="Open Sans"/>
                <a:ea typeface="Open Sans"/>
                <a:cs typeface="Open Sans"/>
                <a:sym typeface="Open Sans"/>
                <a:hlinkClick r:id="rId7">
                  <a:extLst>
                    <a:ext uri="{A12FA001-AC4F-418D-AE19-62706E023703}">
                      <ahyp:hlinkClr val="tx"/>
                    </a:ext>
                  </a:extLst>
                </a:hlinkClick>
              </a:rPr>
              <a:t>Pixabay</a:t>
            </a:r>
            <a:r>
              <a:rPr lang="en" sz="1100">
                <a:solidFill>
                  <a:srgbClr val="333333"/>
                </a:solidFill>
                <a:highlight>
                  <a:srgbClr val="FFFFFF"/>
                </a:highlight>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9"/>
          <p:cNvPicPr preferRelativeResize="0"/>
          <p:nvPr/>
        </p:nvPicPr>
        <p:blipFill>
          <a:blip r:embed="rId3">
            <a:alphaModFix amt="26000"/>
          </a:blip>
          <a:stretch>
            <a:fillRect/>
          </a:stretch>
        </p:blipFill>
        <p:spPr>
          <a:xfrm>
            <a:off x="0" y="1773825"/>
            <a:ext cx="9144000" cy="3020799"/>
          </a:xfrm>
          <a:prstGeom prst="rect">
            <a:avLst/>
          </a:prstGeom>
          <a:noFill/>
          <a:ln>
            <a:noFill/>
          </a:ln>
        </p:spPr>
      </p:pic>
      <p:sp>
        <p:nvSpPr>
          <p:cNvPr id="133" name="Google Shape;133;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But first, some caveats</a:t>
            </a:r>
            <a:endParaRPr/>
          </a:p>
        </p:txBody>
      </p:sp>
      <p:sp>
        <p:nvSpPr>
          <p:cNvPr id="134" name="Google Shape;134;p1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advice is formulaic. </a:t>
            </a:r>
            <a:endParaRPr/>
          </a:p>
          <a:p>
            <a:pPr indent="0" lvl="0" marL="0" rtl="0" algn="l">
              <a:spcBef>
                <a:spcPts val="1600"/>
              </a:spcBef>
              <a:spcAft>
                <a:spcPts val="0"/>
              </a:spcAft>
              <a:buNone/>
            </a:pPr>
            <a:r>
              <a:rPr lang="en"/>
              <a:t>Does that mean your writing must conform exactly to these formulae? No.</a:t>
            </a:r>
            <a:endParaRPr/>
          </a:p>
          <a:p>
            <a:pPr indent="0" lvl="0" marL="0" rtl="0" algn="l">
              <a:spcBef>
                <a:spcPts val="1600"/>
              </a:spcBef>
              <a:spcAft>
                <a:spcPts val="0"/>
              </a:spcAft>
              <a:buNone/>
            </a:pPr>
            <a:r>
              <a:rPr lang="en"/>
              <a:t>Try out some of these structures. Use some of these strategies. See what works for your writing. See what helps you make your argument. See what jives with your co-authors’ writing styles. </a:t>
            </a:r>
            <a:endParaRPr/>
          </a:p>
          <a:p>
            <a:pPr indent="0" lvl="0" marL="0" rtl="0" algn="l">
              <a:spcBef>
                <a:spcPts val="1600"/>
              </a:spcBef>
              <a:spcAft>
                <a:spcPts val="0"/>
              </a:spcAft>
              <a:buNone/>
            </a:pPr>
            <a:r>
              <a:rPr lang="en"/>
              <a:t>Practice. Get feedback. Develop your own style.</a:t>
            </a:r>
            <a:endParaRPr/>
          </a:p>
          <a:p>
            <a:pPr indent="0" lvl="0" marL="0" rtl="0" algn="l">
              <a:spcBef>
                <a:spcPts val="1600"/>
              </a:spcBef>
              <a:spcAft>
                <a:spcPts val="1600"/>
              </a:spcAft>
              <a:buNone/>
            </a:pPr>
            <a:r>
              <a:rPr lang="en"/>
              <a:t>The aim is to make the writing process more transparent so that you can master 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0"/>
          <p:cNvPicPr preferRelativeResize="0"/>
          <p:nvPr/>
        </p:nvPicPr>
        <p:blipFill>
          <a:blip r:embed="rId3">
            <a:alphaModFix amt="26000"/>
          </a:blip>
          <a:stretch>
            <a:fillRect/>
          </a:stretch>
        </p:blipFill>
        <p:spPr>
          <a:xfrm>
            <a:off x="0" y="2211050"/>
            <a:ext cx="9144000" cy="2823150"/>
          </a:xfrm>
          <a:prstGeom prst="rect">
            <a:avLst/>
          </a:prstGeom>
          <a:noFill/>
          <a:ln>
            <a:noFill/>
          </a:ln>
        </p:spPr>
      </p:pic>
      <p:sp>
        <p:nvSpPr>
          <p:cNvPr id="140" name="Google Shape;140;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Let’s dive in</a:t>
            </a:r>
            <a:endParaRPr/>
          </a:p>
        </p:txBody>
      </p:sp>
      <p:sp>
        <p:nvSpPr>
          <p:cNvPr id="141" name="Google Shape;141;p2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action="ppaction://hlinksldjump" r:id="rId4"/>
              </a:rPr>
              <a:t>The Introduction</a:t>
            </a:r>
            <a:r>
              <a:rPr lang="en"/>
              <a:t>			 </a:t>
            </a:r>
            <a:r>
              <a:rPr lang="en" u="sng">
                <a:solidFill>
                  <a:schemeClr val="hlink"/>
                </a:solidFill>
                <a:hlinkClick action="ppaction://hlinksldjump" r:id="rId5"/>
              </a:rPr>
              <a:t>The Related Work Section</a:t>
            </a:r>
            <a:r>
              <a:rPr lang="en"/>
              <a:t>		     </a:t>
            </a:r>
            <a:r>
              <a:rPr lang="en" u="sng">
                <a:solidFill>
                  <a:schemeClr val="hlink"/>
                </a:solidFill>
                <a:hlinkClick action="ppaction://hlinksldjump" r:id="rId6"/>
              </a:rPr>
              <a:t>The Conclusion</a:t>
            </a:r>
            <a:endParaRPr/>
          </a:p>
          <a:p>
            <a:pPr indent="0" lvl="0" marL="0" rtl="0" algn="l">
              <a:spcBef>
                <a:spcPts val="1600"/>
              </a:spcBef>
              <a:spcAft>
                <a:spcPts val="0"/>
              </a:spcAft>
              <a:buNone/>
            </a:pPr>
            <a:r>
              <a:rPr lang="en" u="sng">
                <a:solidFill>
                  <a:schemeClr val="hlink"/>
                </a:solidFill>
                <a:hlinkClick action="ppaction://hlinksldjump" r:id="rId7"/>
              </a:rPr>
              <a:t>General Language Tips</a:t>
            </a:r>
            <a:r>
              <a:rPr lang="en"/>
              <a:t> 				Bonus: </a:t>
            </a:r>
            <a:r>
              <a:rPr lang="en" u="sng">
                <a:solidFill>
                  <a:schemeClr val="hlink"/>
                </a:solidFill>
                <a:hlinkClick action="ppaction://hlinksldjump" r:id="rId8"/>
              </a:rPr>
              <a:t>common grammar errors</a:t>
            </a:r>
            <a:endParaRPr/>
          </a:p>
          <a:p>
            <a:pPr indent="0" lvl="0" marL="0" rtl="0" algn="l">
              <a:spcBef>
                <a:spcPts val="1600"/>
              </a:spcBef>
              <a:spcAft>
                <a:spcPts val="0"/>
              </a:spcAft>
              <a:buNone/>
            </a:pPr>
            <a:r>
              <a:rPr b="1" lang="en"/>
              <a:t>Why these three? </a:t>
            </a:r>
            <a:endParaRPr b="1"/>
          </a:p>
          <a:p>
            <a:pPr indent="0" lvl="0" marL="0" rtl="0" algn="l">
              <a:spcBef>
                <a:spcPts val="1600"/>
              </a:spcBef>
              <a:spcAft>
                <a:spcPts val="0"/>
              </a:spcAft>
              <a:buNone/>
            </a:pPr>
            <a:r>
              <a:rPr lang="en"/>
              <a:t>Your </a:t>
            </a:r>
            <a:r>
              <a:rPr i="1" lang="en"/>
              <a:t>introduction</a:t>
            </a:r>
            <a:r>
              <a:rPr lang="en"/>
              <a:t> sets out your argument. Your </a:t>
            </a:r>
            <a:r>
              <a:rPr i="1" lang="en"/>
              <a:t>conclusion</a:t>
            </a:r>
            <a:r>
              <a:rPr lang="en"/>
              <a:t> sums up what you have (hopefully) proven. And the </a:t>
            </a:r>
            <a:r>
              <a:rPr i="1" lang="en"/>
              <a:t>related works</a:t>
            </a:r>
            <a:r>
              <a:rPr lang="en"/>
              <a:t> section allows you to blow everyone away with how innovative your idea truly is.</a:t>
            </a:r>
            <a:endParaRPr/>
          </a:p>
          <a:p>
            <a:pPr indent="0" lvl="0" marL="0" rtl="0" algn="l">
              <a:spcBef>
                <a:spcPts val="1600"/>
              </a:spcBef>
              <a:spcAft>
                <a:spcPts val="1600"/>
              </a:spcAft>
              <a:buNone/>
            </a:pPr>
            <a:r>
              <a:rPr lang="en"/>
              <a:t>And of course, you use </a:t>
            </a:r>
            <a:r>
              <a:rPr i="1" lang="en"/>
              <a:t>language</a:t>
            </a:r>
            <a:r>
              <a:rPr lang="en"/>
              <a:t> throughout. Might as well make it powerful.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1"/>
          <p:cNvPicPr preferRelativeResize="0"/>
          <p:nvPr/>
        </p:nvPicPr>
        <p:blipFill>
          <a:blip r:embed="rId3">
            <a:alphaModFix amt="20000"/>
          </a:blip>
          <a:stretch>
            <a:fillRect/>
          </a:stretch>
        </p:blipFill>
        <p:spPr>
          <a:xfrm>
            <a:off x="-136774" y="-643637"/>
            <a:ext cx="9417552" cy="6278374"/>
          </a:xfrm>
          <a:prstGeom prst="rect">
            <a:avLst/>
          </a:prstGeom>
          <a:noFill/>
          <a:ln>
            <a:noFill/>
          </a:ln>
        </p:spPr>
      </p:pic>
      <p:sp>
        <p:nvSpPr>
          <p:cNvPr id="147" name="Google Shape;147;p21"/>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Introductions</a:t>
            </a:r>
            <a:endParaRPr/>
          </a:p>
        </p:txBody>
      </p:sp>
      <p:sp>
        <p:nvSpPr>
          <p:cNvPr id="148" name="Google Shape;148;p21"/>
          <p:cNvSpPr txBox="1"/>
          <p:nvPr/>
        </p:nvSpPr>
        <p:spPr>
          <a:xfrm>
            <a:off x="199875" y="4720375"/>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4">
                  <a:extLst>
                    <a:ext uri="{A12FA001-AC4F-418D-AE19-62706E023703}">
                      <ahyp:hlinkClr val="tx"/>
                    </a:ext>
                  </a:extLst>
                </a:hlinkClick>
              </a:rPr>
              <a:t>_Alicja_</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2"/>
          <p:cNvPicPr preferRelativeResize="0"/>
          <p:nvPr/>
        </p:nvPicPr>
        <p:blipFill>
          <a:blip r:embed="rId3">
            <a:alphaModFix amt="24000"/>
          </a:blip>
          <a:stretch>
            <a:fillRect/>
          </a:stretch>
        </p:blipFill>
        <p:spPr>
          <a:xfrm>
            <a:off x="-150150" y="1814500"/>
            <a:ext cx="9444307" cy="3241575"/>
          </a:xfrm>
          <a:prstGeom prst="rect">
            <a:avLst/>
          </a:prstGeom>
          <a:noFill/>
          <a:ln>
            <a:noFill/>
          </a:ln>
        </p:spPr>
      </p:pic>
      <p:sp>
        <p:nvSpPr>
          <p:cNvPr id="154" name="Google Shape;154;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Introductions: The Purpose</a:t>
            </a:r>
            <a:endParaRPr/>
          </a:p>
        </p:txBody>
      </p:sp>
      <p:sp>
        <p:nvSpPr>
          <p:cNvPr id="155" name="Google Shape;155;p2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Your introduction </a:t>
            </a:r>
            <a:r>
              <a:rPr i="1" lang="en"/>
              <a:t>motivates</a:t>
            </a:r>
            <a:r>
              <a:rPr lang="en"/>
              <a:t> the paper. It </a:t>
            </a:r>
            <a:r>
              <a:rPr i="1" lang="en"/>
              <a:t>positions</a:t>
            </a:r>
            <a:r>
              <a:rPr lang="en"/>
              <a:t> your project.</a:t>
            </a:r>
            <a:endParaRPr/>
          </a:p>
          <a:p>
            <a:pPr indent="0" lvl="0" marL="0" rtl="0" algn="l">
              <a:spcBef>
                <a:spcPts val="1600"/>
              </a:spcBef>
              <a:spcAft>
                <a:spcPts val="0"/>
              </a:spcAft>
              <a:buNone/>
            </a:pPr>
            <a:r>
              <a:rPr lang="en"/>
              <a:t>How?</a:t>
            </a:r>
            <a:endParaRPr/>
          </a:p>
          <a:p>
            <a:pPr indent="0" lvl="0" marL="0" rtl="0" algn="l">
              <a:spcBef>
                <a:spcPts val="1600"/>
              </a:spcBef>
              <a:spcAft>
                <a:spcPts val="0"/>
              </a:spcAft>
              <a:buNone/>
            </a:pPr>
            <a:r>
              <a:rPr lang="en"/>
              <a:t>It sets the scene by introducing the problem and your solution.</a:t>
            </a:r>
            <a:endParaRPr/>
          </a:p>
          <a:p>
            <a:pPr indent="0" lvl="0" marL="0" rtl="0" algn="l">
              <a:spcBef>
                <a:spcPts val="1600"/>
              </a:spcBef>
              <a:spcAft>
                <a:spcPts val="0"/>
              </a:spcAft>
              <a:buNone/>
            </a:pPr>
            <a:r>
              <a:rPr lang="en"/>
              <a:t>It opens the door to your ideas.</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In other words, it </a:t>
            </a:r>
            <a:r>
              <a:rPr b="1" lang="en"/>
              <a:t>sets out your argument</a:t>
            </a:r>
            <a:r>
              <a:rPr lang="en"/>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3"/>
          <p:cNvPicPr preferRelativeResize="0"/>
          <p:nvPr/>
        </p:nvPicPr>
        <p:blipFill>
          <a:blip r:embed="rId3">
            <a:alphaModFix amt="31000"/>
          </a:blip>
          <a:stretch>
            <a:fillRect/>
          </a:stretch>
        </p:blipFill>
        <p:spPr>
          <a:xfrm>
            <a:off x="0" y="-471489"/>
            <a:ext cx="9144000" cy="6086491"/>
          </a:xfrm>
          <a:prstGeom prst="rect">
            <a:avLst/>
          </a:prstGeom>
          <a:noFill/>
          <a:ln>
            <a:noFill/>
          </a:ln>
        </p:spPr>
      </p:pic>
      <p:sp>
        <p:nvSpPr>
          <p:cNvPr id="161" name="Google Shape;161;p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Introductions Should Have</a:t>
            </a:r>
            <a:endParaRPr/>
          </a:p>
        </p:txBody>
      </p:sp>
      <p:sp>
        <p:nvSpPr>
          <p:cNvPr id="162" name="Google Shape;162;p23"/>
          <p:cNvSpPr txBox="1"/>
          <p:nvPr>
            <p:ph idx="1" type="body"/>
          </p:nvPr>
        </p:nvSpPr>
        <p:spPr>
          <a:xfrm>
            <a:off x="311700" y="1006575"/>
            <a:ext cx="8520600" cy="371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set out your argument, your introduction should include certain things:</a:t>
            </a:r>
            <a:endParaRPr/>
          </a:p>
          <a:p>
            <a:pPr indent="-342900" lvl="0" marL="457200" rtl="0" algn="l">
              <a:spcBef>
                <a:spcPts val="1600"/>
              </a:spcBef>
              <a:spcAft>
                <a:spcPts val="0"/>
              </a:spcAft>
              <a:buSzPts val="1800"/>
              <a:buChar char="●"/>
            </a:pPr>
            <a:r>
              <a:rPr lang="en"/>
              <a:t>The </a:t>
            </a:r>
            <a:r>
              <a:rPr b="1" lang="en"/>
              <a:t>problem</a:t>
            </a:r>
            <a:r>
              <a:rPr lang="en"/>
              <a:t> you address. Strong intros include the relevance of that problem and real-world implications of it. This often includes some context or background, too.</a:t>
            </a:r>
            <a:endParaRPr/>
          </a:p>
          <a:p>
            <a:pPr indent="-342900" lvl="0" marL="457200" rtl="0" algn="l">
              <a:spcBef>
                <a:spcPts val="0"/>
              </a:spcBef>
              <a:spcAft>
                <a:spcPts val="0"/>
              </a:spcAft>
              <a:buSzPts val="1800"/>
              <a:buChar char="●"/>
            </a:pPr>
            <a:r>
              <a:rPr lang="en"/>
              <a:t>What others have done. In this field, you won’t be the first to address a problem. Briefly address the limits of </a:t>
            </a:r>
            <a:r>
              <a:rPr b="1" lang="en"/>
              <a:t>prior approaches</a:t>
            </a:r>
            <a:r>
              <a:rPr lang="en"/>
              <a:t>.</a:t>
            </a:r>
            <a:endParaRPr/>
          </a:p>
          <a:p>
            <a:pPr indent="-342900" lvl="0" marL="457200" rtl="0" algn="l">
              <a:spcBef>
                <a:spcPts val="0"/>
              </a:spcBef>
              <a:spcAft>
                <a:spcPts val="0"/>
              </a:spcAft>
              <a:buSzPts val="1800"/>
              <a:buChar char="●"/>
            </a:pPr>
            <a:r>
              <a:rPr lang="en"/>
              <a:t>Your </a:t>
            </a:r>
            <a:r>
              <a:rPr b="1" lang="en"/>
              <a:t>solution</a:t>
            </a:r>
            <a:r>
              <a:rPr lang="en"/>
              <a:t>. Strong intros include a high-level description of </a:t>
            </a:r>
            <a:r>
              <a:rPr lang="en"/>
              <a:t>the</a:t>
            </a:r>
            <a:r>
              <a:rPr lang="en"/>
              <a:t> solution, with a focus on impact and insight. Include how your solution addresses the problems with prior work.</a:t>
            </a:r>
            <a:endParaRPr/>
          </a:p>
          <a:p>
            <a:pPr indent="-342900" lvl="0" marL="457200" rtl="0" algn="l">
              <a:spcBef>
                <a:spcPts val="0"/>
              </a:spcBef>
              <a:spcAft>
                <a:spcPts val="0"/>
              </a:spcAft>
              <a:buSzPts val="1800"/>
              <a:buChar char="●"/>
            </a:pPr>
            <a:r>
              <a:rPr lang="en"/>
              <a:t>Your </a:t>
            </a:r>
            <a:r>
              <a:rPr b="1" lang="en"/>
              <a:t>contributions</a:t>
            </a:r>
            <a:r>
              <a:rPr lang="en"/>
              <a:t>. In this field, often a bullet-pointed list. The strongest intros include an insight or results with each bullet point.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4"/>
          <p:cNvPicPr preferRelativeResize="0"/>
          <p:nvPr/>
        </p:nvPicPr>
        <p:blipFill>
          <a:blip r:embed="rId3">
            <a:alphaModFix amt="28000"/>
          </a:blip>
          <a:stretch>
            <a:fillRect/>
          </a:stretch>
        </p:blipFill>
        <p:spPr>
          <a:xfrm>
            <a:off x="0" y="-476250"/>
            <a:ext cx="9144000" cy="6096000"/>
          </a:xfrm>
          <a:prstGeom prst="rect">
            <a:avLst/>
          </a:prstGeom>
          <a:noFill/>
          <a:ln>
            <a:noFill/>
          </a:ln>
        </p:spPr>
      </p:pic>
      <p:sp>
        <p:nvSpPr>
          <p:cNvPr id="168" name="Google Shape;168;p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See what I mean?</a:t>
            </a:r>
            <a:endParaRPr/>
          </a:p>
        </p:txBody>
      </p:sp>
      <p:sp>
        <p:nvSpPr>
          <p:cNvPr id="169" name="Google Shape;169;p24"/>
          <p:cNvSpPr txBox="1"/>
          <p:nvPr>
            <p:ph idx="1" type="body"/>
          </p:nvPr>
        </p:nvSpPr>
        <p:spPr>
          <a:xfrm>
            <a:off x="311700" y="1069025"/>
            <a:ext cx="8520600" cy="35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 look at the intro to </a:t>
            </a:r>
            <a:r>
              <a:rPr lang="en" u="sng">
                <a:solidFill>
                  <a:schemeClr val="hlink"/>
                </a:solidFill>
                <a:hlinkClick r:id="rId4"/>
              </a:rPr>
              <a:t>Crystal Gazer</a:t>
            </a:r>
            <a:r>
              <a:rPr lang="en"/>
              <a:t> and map out the function of each paragraph.</a:t>
            </a:r>
            <a:endParaRPr/>
          </a:p>
          <a:p>
            <a:pPr indent="-342900" lvl="0" marL="457200" rtl="0" algn="l">
              <a:spcBef>
                <a:spcPts val="1600"/>
              </a:spcBef>
              <a:spcAft>
                <a:spcPts val="0"/>
              </a:spcAft>
              <a:buSzPts val="1800"/>
              <a:buChar char="●"/>
            </a:pPr>
            <a:r>
              <a:rPr lang="en"/>
              <a:t>Where do the authors outline the problem? Provide background? Show the real-world relevance of the problem?</a:t>
            </a:r>
            <a:endParaRPr/>
          </a:p>
          <a:p>
            <a:pPr indent="-342900" lvl="0" marL="457200" rtl="0" algn="l">
              <a:spcBef>
                <a:spcPts val="0"/>
              </a:spcBef>
              <a:spcAft>
                <a:spcPts val="0"/>
              </a:spcAft>
              <a:buSzPts val="1800"/>
              <a:buChar char="●"/>
            </a:pPr>
            <a:r>
              <a:rPr lang="en"/>
              <a:t>Where do the authors outline prior solutions? Limits of prior solutions?</a:t>
            </a:r>
            <a:endParaRPr/>
          </a:p>
          <a:p>
            <a:pPr indent="-342900" lvl="0" marL="457200" rtl="0" algn="l">
              <a:spcBef>
                <a:spcPts val="0"/>
              </a:spcBef>
              <a:spcAft>
                <a:spcPts val="0"/>
              </a:spcAft>
              <a:buSzPts val="1800"/>
              <a:buChar char="●"/>
            </a:pPr>
            <a:r>
              <a:rPr lang="en"/>
              <a:t>Where do the authors introduce their solution? The description of their solution? How the solution addresses problems with prior work?</a:t>
            </a:r>
            <a:endParaRPr/>
          </a:p>
          <a:p>
            <a:pPr indent="-342900" lvl="0" marL="457200" rtl="0" algn="l">
              <a:spcBef>
                <a:spcPts val="0"/>
              </a:spcBef>
              <a:spcAft>
                <a:spcPts val="0"/>
              </a:spcAft>
              <a:buSzPts val="1800"/>
              <a:buChar char="●"/>
            </a:pPr>
            <a:r>
              <a:rPr lang="en"/>
              <a:t>How do the authors describe their contributions? The impact of those contributions?</a:t>
            </a:r>
            <a:endParaRPr/>
          </a:p>
          <a:p>
            <a:pPr indent="-342900" lvl="0" marL="457200" rtl="0" algn="l">
              <a:spcBef>
                <a:spcPts val="0"/>
              </a:spcBef>
              <a:spcAft>
                <a:spcPts val="0"/>
              </a:spcAft>
              <a:buSzPts val="1800"/>
              <a:buChar char="●"/>
            </a:pPr>
            <a:r>
              <a:rPr lang="en"/>
              <a:t>How does the organization of these sections impact the argument the authors are making?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25"/>
          <p:cNvPicPr preferRelativeResize="0"/>
          <p:nvPr/>
        </p:nvPicPr>
        <p:blipFill>
          <a:blip r:embed="rId3">
            <a:alphaModFix amt="35000"/>
          </a:blip>
          <a:stretch>
            <a:fillRect/>
          </a:stretch>
        </p:blipFill>
        <p:spPr>
          <a:xfrm>
            <a:off x="0" y="-148141"/>
            <a:ext cx="9144000" cy="6100740"/>
          </a:xfrm>
          <a:prstGeom prst="rect">
            <a:avLst/>
          </a:prstGeom>
          <a:noFill/>
          <a:ln>
            <a:noFill/>
          </a:ln>
        </p:spPr>
      </p:pic>
      <p:sp>
        <p:nvSpPr>
          <p:cNvPr id="175" name="Google Shape;175;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Dynamic Duo: Discovery and Impact</a:t>
            </a:r>
            <a:endParaRPr/>
          </a:p>
        </p:txBody>
      </p:sp>
      <p:sp>
        <p:nvSpPr>
          <p:cNvPr id="176" name="Google Shape;176;p2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Often in your introduction you’ll describe two powerful actions:</a:t>
            </a:r>
            <a:endParaRPr/>
          </a:p>
          <a:p>
            <a:pPr indent="-342900" lvl="0" marL="457200" rtl="0" algn="l">
              <a:spcBef>
                <a:spcPts val="1600"/>
              </a:spcBef>
              <a:spcAft>
                <a:spcPts val="0"/>
              </a:spcAft>
              <a:buSzPts val="1800"/>
              <a:buChar char="●"/>
            </a:pPr>
            <a:r>
              <a:rPr lang="en"/>
              <a:t>Discovery: discovering the extent of </a:t>
            </a:r>
            <a:r>
              <a:rPr lang="en"/>
              <a:t>the</a:t>
            </a:r>
            <a:r>
              <a:rPr lang="en"/>
              <a:t> problem, discovering the limits of prior approaches, discovering the opportunity for your solution</a:t>
            </a:r>
            <a:endParaRPr/>
          </a:p>
          <a:p>
            <a:pPr indent="-342900" lvl="0" marL="457200" rtl="0" algn="l">
              <a:spcBef>
                <a:spcPts val="0"/>
              </a:spcBef>
              <a:spcAft>
                <a:spcPts val="0"/>
              </a:spcAft>
              <a:buSzPts val="1800"/>
              <a:buChar char="●"/>
            </a:pPr>
            <a:r>
              <a:rPr lang="en"/>
              <a:t>Impact: describing your results</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Using strong and varied verbs can help you with </a:t>
            </a:r>
            <a:r>
              <a:rPr lang="en"/>
              <a:t>the</a:t>
            </a:r>
            <a:r>
              <a:rPr lang="en"/>
              <a:t> dynamic duo.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26"/>
          <p:cNvPicPr preferRelativeResize="0"/>
          <p:nvPr/>
        </p:nvPicPr>
        <p:blipFill>
          <a:blip r:embed="rId3">
            <a:alphaModFix amt="30000"/>
          </a:blip>
          <a:stretch>
            <a:fillRect/>
          </a:stretch>
        </p:blipFill>
        <p:spPr>
          <a:xfrm>
            <a:off x="0" y="-302937"/>
            <a:ext cx="9144000" cy="6410325"/>
          </a:xfrm>
          <a:prstGeom prst="rect">
            <a:avLst/>
          </a:prstGeom>
          <a:noFill/>
          <a:ln>
            <a:noFill/>
          </a:ln>
        </p:spPr>
      </p:pic>
      <p:sp>
        <p:nvSpPr>
          <p:cNvPr id="182" name="Google Shape;182;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800"/>
              <a:t>Language resources: Processes of discovery and impact</a:t>
            </a:r>
            <a:endParaRPr sz="3800"/>
          </a:p>
        </p:txBody>
      </p:sp>
      <p:sp>
        <p:nvSpPr>
          <p:cNvPr id="183" name="Google Shape;183;p26"/>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Verbs to describe discovery:</a:t>
            </a:r>
            <a:endParaRPr/>
          </a:p>
          <a:p>
            <a:pPr indent="-311150" lvl="0" marL="457200" rtl="0" algn="l">
              <a:spcBef>
                <a:spcPts val="0"/>
              </a:spcBef>
              <a:spcAft>
                <a:spcPts val="0"/>
              </a:spcAft>
              <a:buSzPts val="1300"/>
              <a:buChar char="●"/>
            </a:pPr>
            <a:r>
              <a:rPr lang="en" sz="1300"/>
              <a:t>Find</a:t>
            </a:r>
            <a:endParaRPr sz="1300"/>
          </a:p>
          <a:p>
            <a:pPr indent="-311150" lvl="0" marL="457200" rtl="0" algn="l">
              <a:spcBef>
                <a:spcPts val="0"/>
              </a:spcBef>
              <a:spcAft>
                <a:spcPts val="0"/>
              </a:spcAft>
              <a:buSzPts val="1300"/>
              <a:buChar char="●"/>
            </a:pPr>
            <a:r>
              <a:rPr lang="en" sz="1300"/>
              <a:t>Understand</a:t>
            </a:r>
            <a:endParaRPr sz="1300"/>
          </a:p>
          <a:p>
            <a:pPr indent="-311150" lvl="0" marL="457200" rtl="0" algn="l">
              <a:spcBef>
                <a:spcPts val="0"/>
              </a:spcBef>
              <a:spcAft>
                <a:spcPts val="0"/>
              </a:spcAft>
              <a:buSzPts val="1300"/>
              <a:buChar char="●"/>
            </a:pPr>
            <a:r>
              <a:rPr lang="en" sz="1300"/>
              <a:t>Collect</a:t>
            </a:r>
            <a:endParaRPr sz="1300"/>
          </a:p>
          <a:p>
            <a:pPr indent="-311150" lvl="0" marL="457200" rtl="0" algn="l">
              <a:spcBef>
                <a:spcPts val="0"/>
              </a:spcBef>
              <a:spcAft>
                <a:spcPts val="0"/>
              </a:spcAft>
              <a:buSzPts val="1300"/>
              <a:buChar char="●"/>
            </a:pPr>
            <a:r>
              <a:rPr lang="en" sz="1300"/>
              <a:t>Correlate</a:t>
            </a:r>
            <a:endParaRPr sz="1300"/>
          </a:p>
          <a:p>
            <a:pPr indent="-311150" lvl="0" marL="457200" rtl="0" algn="l">
              <a:spcBef>
                <a:spcPts val="0"/>
              </a:spcBef>
              <a:spcAft>
                <a:spcPts val="0"/>
              </a:spcAft>
              <a:buSzPts val="1300"/>
              <a:buChar char="●"/>
            </a:pPr>
            <a:r>
              <a:rPr lang="en" sz="1300"/>
              <a:t>Explore</a:t>
            </a:r>
            <a:endParaRPr sz="1300"/>
          </a:p>
          <a:p>
            <a:pPr indent="-311150" lvl="0" marL="457200" rtl="0" algn="l">
              <a:spcBef>
                <a:spcPts val="0"/>
              </a:spcBef>
              <a:spcAft>
                <a:spcPts val="0"/>
              </a:spcAft>
              <a:buSzPts val="1300"/>
              <a:buChar char="●"/>
            </a:pPr>
            <a:r>
              <a:rPr lang="en" sz="1300"/>
              <a:t>Focus</a:t>
            </a:r>
            <a:endParaRPr sz="1300"/>
          </a:p>
          <a:p>
            <a:pPr indent="-311150" lvl="0" marL="457200" rtl="0" algn="l">
              <a:spcBef>
                <a:spcPts val="0"/>
              </a:spcBef>
              <a:spcAft>
                <a:spcPts val="0"/>
              </a:spcAft>
              <a:buSzPts val="1300"/>
              <a:buChar char="●"/>
            </a:pPr>
            <a:r>
              <a:rPr lang="en" sz="1300"/>
              <a:t>Prototype </a:t>
            </a:r>
            <a:endParaRPr sz="1300"/>
          </a:p>
          <a:p>
            <a:pPr indent="-311150" lvl="0" marL="457200" rtl="0" algn="l">
              <a:spcBef>
                <a:spcPts val="0"/>
              </a:spcBef>
              <a:spcAft>
                <a:spcPts val="0"/>
              </a:spcAft>
              <a:buSzPts val="1300"/>
              <a:buChar char="●"/>
            </a:pPr>
            <a:r>
              <a:rPr lang="en" sz="1300"/>
              <a:t>Examine (and re-examine)</a:t>
            </a:r>
            <a:endParaRPr sz="1300"/>
          </a:p>
          <a:p>
            <a:pPr indent="-311150" lvl="0" marL="457200" rtl="0" algn="l">
              <a:spcBef>
                <a:spcPts val="0"/>
              </a:spcBef>
              <a:spcAft>
                <a:spcPts val="0"/>
              </a:spcAft>
              <a:buSzPts val="1300"/>
              <a:buChar char="●"/>
            </a:pPr>
            <a:r>
              <a:rPr lang="en" sz="1300"/>
              <a:t>Investigate </a:t>
            </a:r>
            <a:endParaRPr sz="1300"/>
          </a:p>
          <a:p>
            <a:pPr indent="-311150" lvl="0" marL="457200" rtl="0" algn="l">
              <a:spcBef>
                <a:spcPts val="0"/>
              </a:spcBef>
              <a:spcAft>
                <a:spcPts val="0"/>
              </a:spcAft>
              <a:buSzPts val="1300"/>
              <a:buChar char="●"/>
            </a:pPr>
            <a:r>
              <a:rPr lang="en" sz="1300"/>
              <a:t>Discover </a:t>
            </a:r>
            <a:endParaRPr sz="1300"/>
          </a:p>
          <a:p>
            <a:pPr indent="-311150" lvl="0" marL="457200" rtl="0" algn="l">
              <a:spcBef>
                <a:spcPts val="0"/>
              </a:spcBef>
              <a:spcAft>
                <a:spcPts val="0"/>
              </a:spcAft>
              <a:buSzPts val="1300"/>
              <a:buChar char="●"/>
            </a:pPr>
            <a:r>
              <a:rPr lang="en" sz="1300"/>
              <a:t>Observe </a:t>
            </a:r>
            <a:endParaRPr sz="1300"/>
          </a:p>
          <a:p>
            <a:pPr indent="-311150" lvl="0" marL="457200" rtl="0" algn="l">
              <a:spcBef>
                <a:spcPts val="0"/>
              </a:spcBef>
              <a:spcAft>
                <a:spcPts val="0"/>
              </a:spcAft>
              <a:buSzPts val="1300"/>
              <a:buChar char="●"/>
            </a:pPr>
            <a:r>
              <a:rPr lang="en" sz="1300"/>
              <a:t>Reveal </a:t>
            </a:r>
            <a:endParaRPr sz="1300"/>
          </a:p>
          <a:p>
            <a:pPr indent="-311150" lvl="0" marL="457200" rtl="0" algn="l">
              <a:spcBef>
                <a:spcPts val="0"/>
              </a:spcBef>
              <a:spcAft>
                <a:spcPts val="0"/>
              </a:spcAft>
              <a:buSzPts val="1300"/>
              <a:buChar char="●"/>
            </a:pPr>
            <a:r>
              <a:rPr lang="en" sz="1300"/>
              <a:t>Identify</a:t>
            </a:r>
            <a:endParaRPr sz="1300"/>
          </a:p>
          <a:p>
            <a:pPr indent="-311150" lvl="0" marL="457200" rtl="0" algn="l">
              <a:spcBef>
                <a:spcPts val="0"/>
              </a:spcBef>
              <a:spcAft>
                <a:spcPts val="0"/>
              </a:spcAft>
              <a:buSzPts val="1300"/>
              <a:buChar char="●"/>
            </a:pPr>
            <a:r>
              <a:rPr lang="en" sz="1300"/>
              <a:t>Characterize</a:t>
            </a:r>
            <a:endParaRPr sz="1300"/>
          </a:p>
        </p:txBody>
      </p:sp>
      <p:sp>
        <p:nvSpPr>
          <p:cNvPr id="184" name="Google Shape;184;p26"/>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Verbs to describe impact:</a:t>
            </a:r>
            <a:endParaRPr/>
          </a:p>
          <a:p>
            <a:pPr indent="-317500" lvl="0" marL="457200" rtl="0" algn="l">
              <a:spcBef>
                <a:spcPts val="1600"/>
              </a:spcBef>
              <a:spcAft>
                <a:spcPts val="0"/>
              </a:spcAft>
              <a:buSzPts val="1400"/>
              <a:buChar char="●"/>
            </a:pPr>
            <a:r>
              <a:rPr lang="en"/>
              <a:t>Prove</a:t>
            </a:r>
            <a:endParaRPr/>
          </a:p>
          <a:p>
            <a:pPr indent="-317500" lvl="0" marL="457200" rtl="0" algn="l">
              <a:spcBef>
                <a:spcPts val="0"/>
              </a:spcBef>
              <a:spcAft>
                <a:spcPts val="0"/>
              </a:spcAft>
              <a:buSzPts val="1400"/>
              <a:buChar char="●"/>
            </a:pPr>
            <a:r>
              <a:rPr lang="en"/>
              <a:t>Demonstrate</a:t>
            </a:r>
            <a:endParaRPr/>
          </a:p>
          <a:p>
            <a:pPr indent="-317500" lvl="0" marL="457200" rtl="0" algn="l">
              <a:spcBef>
                <a:spcPts val="0"/>
              </a:spcBef>
              <a:spcAft>
                <a:spcPts val="0"/>
              </a:spcAft>
              <a:buSzPts val="1400"/>
              <a:buChar char="●"/>
            </a:pPr>
            <a:r>
              <a:rPr lang="en"/>
              <a:t>Show</a:t>
            </a:r>
            <a:endParaRPr/>
          </a:p>
          <a:p>
            <a:pPr indent="-317500" lvl="0" marL="457200" rtl="0" algn="l">
              <a:spcBef>
                <a:spcPts val="0"/>
              </a:spcBef>
              <a:spcAft>
                <a:spcPts val="0"/>
              </a:spcAft>
              <a:buSzPts val="1400"/>
              <a:buChar char="●"/>
            </a:pPr>
            <a:r>
              <a:rPr lang="en"/>
              <a:t>Evaluate </a:t>
            </a:r>
            <a:endParaRPr/>
          </a:p>
          <a:p>
            <a:pPr indent="-317500" lvl="0" marL="457200" rtl="0" algn="l">
              <a:spcBef>
                <a:spcPts val="0"/>
              </a:spcBef>
              <a:spcAft>
                <a:spcPts val="0"/>
              </a:spcAft>
              <a:buSzPts val="1400"/>
              <a:buChar char="●"/>
            </a:pPr>
            <a:r>
              <a:rPr lang="en"/>
              <a:t>Achieve </a:t>
            </a:r>
            <a:endParaRPr/>
          </a:p>
          <a:p>
            <a:pPr indent="-317500" lvl="0" marL="457200" rtl="0" algn="l">
              <a:spcBef>
                <a:spcPts val="0"/>
              </a:spcBef>
              <a:spcAft>
                <a:spcPts val="0"/>
              </a:spcAft>
              <a:buSzPts val="1400"/>
              <a:buChar char="●"/>
            </a:pPr>
            <a:r>
              <a:rPr lang="en"/>
              <a:t>Improve, increase</a:t>
            </a:r>
            <a:endParaRPr/>
          </a:p>
          <a:p>
            <a:pPr indent="-317500" lvl="0" marL="457200" rtl="0" algn="l">
              <a:spcBef>
                <a:spcPts val="0"/>
              </a:spcBef>
              <a:spcAft>
                <a:spcPts val="0"/>
              </a:spcAft>
              <a:buSzPts val="1400"/>
              <a:buChar char="●"/>
            </a:pPr>
            <a:r>
              <a:rPr lang="en"/>
              <a:t>Reduce, eliminate, overcome</a:t>
            </a:r>
            <a:endParaRPr/>
          </a:p>
          <a:p>
            <a:pPr indent="-317500" lvl="0" marL="457200" rtl="0" algn="l">
              <a:spcBef>
                <a:spcPts val="0"/>
              </a:spcBef>
              <a:spcAft>
                <a:spcPts val="0"/>
              </a:spcAft>
              <a:buSzPts val="1400"/>
              <a:buChar char="●"/>
            </a:pPr>
            <a:r>
              <a:rPr lang="en"/>
              <a:t>Enable </a:t>
            </a:r>
            <a:endParaRPr/>
          </a:p>
          <a:p>
            <a:pPr indent="-317500" lvl="0" marL="457200" rtl="0" algn="l">
              <a:spcBef>
                <a:spcPts val="0"/>
              </a:spcBef>
              <a:spcAft>
                <a:spcPts val="0"/>
              </a:spcAft>
              <a:buSzPts val="1400"/>
              <a:buChar char="●"/>
            </a:pPr>
            <a:r>
              <a:rPr lang="en"/>
              <a:t>Indicate</a:t>
            </a:r>
            <a:endParaRPr/>
          </a:p>
          <a:p>
            <a:pPr indent="-317500" lvl="0" marL="457200" rtl="0" algn="l">
              <a:spcBef>
                <a:spcPts val="0"/>
              </a:spcBef>
              <a:spcAft>
                <a:spcPts val="0"/>
              </a:spcAft>
              <a:buSzPts val="1400"/>
              <a:buChar char="●"/>
            </a:pPr>
            <a:r>
              <a:rPr lang="en"/>
              <a:t>Lead 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7"/>
          <p:cNvPicPr preferRelativeResize="0"/>
          <p:nvPr/>
        </p:nvPicPr>
        <p:blipFill>
          <a:blip r:embed="rId3">
            <a:alphaModFix amt="28000"/>
          </a:blip>
          <a:stretch>
            <a:fillRect/>
          </a:stretch>
        </p:blipFill>
        <p:spPr>
          <a:xfrm>
            <a:off x="0" y="-476250"/>
            <a:ext cx="9144000" cy="6096000"/>
          </a:xfrm>
          <a:prstGeom prst="rect">
            <a:avLst/>
          </a:prstGeom>
          <a:noFill/>
          <a:ln>
            <a:noFill/>
          </a:ln>
        </p:spPr>
      </p:pic>
      <p:sp>
        <p:nvSpPr>
          <p:cNvPr id="190" name="Google Shape;190;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See what I mean?</a:t>
            </a:r>
            <a:endParaRPr/>
          </a:p>
        </p:txBody>
      </p:sp>
      <p:sp>
        <p:nvSpPr>
          <p:cNvPr id="191" name="Google Shape;191;p27"/>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 look at the introduction of </a:t>
            </a:r>
            <a:r>
              <a:rPr lang="en" u="sng">
                <a:solidFill>
                  <a:schemeClr val="hlink"/>
                </a:solidFill>
                <a:hlinkClick r:id="rId4"/>
              </a:rPr>
              <a:t>AsmDB</a:t>
            </a:r>
            <a:r>
              <a:rPr lang="en"/>
              <a:t> to analyze the interplay between discovery and impact.</a:t>
            </a:r>
            <a:endParaRPr/>
          </a:p>
          <a:p>
            <a:pPr indent="-317500" lvl="0" marL="457200" rtl="0" algn="l">
              <a:spcBef>
                <a:spcPts val="1600"/>
              </a:spcBef>
              <a:spcAft>
                <a:spcPts val="0"/>
              </a:spcAft>
              <a:buSzPts val="1400"/>
              <a:buChar char="●"/>
            </a:pPr>
            <a:r>
              <a:rPr lang="en"/>
              <a:t>How do the authors describe the problem?</a:t>
            </a:r>
            <a:endParaRPr/>
          </a:p>
          <a:p>
            <a:pPr indent="-317500" lvl="0" marL="457200" rtl="0" algn="l">
              <a:spcBef>
                <a:spcPts val="0"/>
              </a:spcBef>
              <a:spcAft>
                <a:spcPts val="0"/>
              </a:spcAft>
              <a:buSzPts val="1400"/>
              <a:buChar char="●"/>
            </a:pPr>
            <a:r>
              <a:rPr lang="en"/>
              <a:t>What proportion of </a:t>
            </a:r>
            <a:r>
              <a:rPr lang="en"/>
              <a:t>the</a:t>
            </a:r>
            <a:r>
              <a:rPr lang="en"/>
              <a:t> intro describes their discoveries?</a:t>
            </a:r>
            <a:endParaRPr/>
          </a:p>
          <a:p>
            <a:pPr indent="-317500" lvl="0" marL="457200" rtl="0" algn="l">
              <a:spcBef>
                <a:spcPts val="0"/>
              </a:spcBef>
              <a:spcAft>
                <a:spcPts val="0"/>
              </a:spcAft>
              <a:buSzPts val="1400"/>
              <a:buChar char="●"/>
            </a:pPr>
            <a:r>
              <a:rPr lang="en"/>
              <a:t>How are those discoveries linked to their solution (and the impact it has)?</a:t>
            </a:r>
            <a:endParaRPr/>
          </a:p>
        </p:txBody>
      </p:sp>
      <p:sp>
        <p:nvSpPr>
          <p:cNvPr id="192" name="Google Shape;192;p27"/>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out an introduction that doesn’t have as much description of discovery (</a:t>
            </a:r>
            <a:r>
              <a:rPr lang="en" u="sng">
                <a:solidFill>
                  <a:schemeClr val="hlink"/>
                </a:solidFill>
                <a:hlinkClick r:id="rId5"/>
              </a:rPr>
              <a:t>Load Slice Core</a:t>
            </a:r>
            <a:r>
              <a:rPr lang="en"/>
              <a:t>) or which implies the discovery (</a:t>
            </a:r>
            <a:r>
              <a:rPr lang="en" u="sng">
                <a:solidFill>
                  <a:schemeClr val="hlink"/>
                </a:solidFill>
                <a:hlinkClick r:id="rId6"/>
              </a:rPr>
              <a:t>CapMaestro</a:t>
            </a:r>
            <a:r>
              <a:rPr lang="en"/>
              <a:t>).</a:t>
            </a:r>
            <a:endParaRPr/>
          </a:p>
          <a:p>
            <a:pPr indent="-317500" lvl="0" marL="457200" rtl="0" algn="l">
              <a:spcBef>
                <a:spcPts val="1600"/>
              </a:spcBef>
              <a:spcAft>
                <a:spcPts val="0"/>
              </a:spcAft>
              <a:buSzPts val="1400"/>
              <a:buChar char="●"/>
            </a:pPr>
            <a:r>
              <a:rPr lang="en"/>
              <a:t>Does the amount of ‘discovery’ described in the intro relate to the type of solution proposed?</a:t>
            </a:r>
            <a:endParaRPr/>
          </a:p>
          <a:p>
            <a:pPr indent="-317500" lvl="0" marL="457200" rtl="0" algn="l">
              <a:spcBef>
                <a:spcPts val="0"/>
              </a:spcBef>
              <a:spcAft>
                <a:spcPts val="0"/>
              </a:spcAft>
              <a:buSzPts val="1400"/>
              <a:buChar char="●"/>
            </a:pPr>
            <a:r>
              <a:rPr lang="en"/>
              <a:t>Does the amount/type of ‘discovery’ described impact your evaluation of the relevance of </a:t>
            </a:r>
            <a:r>
              <a:rPr lang="en"/>
              <a:t>the</a:t>
            </a:r>
            <a:r>
              <a:rPr lang="en"/>
              <a:t> problem? The innovativity of the solution?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8"/>
          <p:cNvPicPr preferRelativeResize="0"/>
          <p:nvPr/>
        </p:nvPicPr>
        <p:blipFill>
          <a:blip r:embed="rId3">
            <a:alphaModFix amt="30000"/>
          </a:blip>
          <a:stretch>
            <a:fillRect/>
          </a:stretch>
        </p:blipFill>
        <p:spPr>
          <a:xfrm>
            <a:off x="-103907" y="0"/>
            <a:ext cx="9351816" cy="5143499"/>
          </a:xfrm>
          <a:prstGeom prst="rect">
            <a:avLst/>
          </a:prstGeom>
          <a:noFill/>
          <a:ln>
            <a:noFill/>
          </a:ln>
        </p:spPr>
      </p:pic>
      <p:sp>
        <p:nvSpPr>
          <p:cNvPr id="198" name="Google Shape;198;p28"/>
          <p:cNvSpPr txBox="1"/>
          <p:nvPr>
            <p:ph type="title"/>
          </p:nvPr>
        </p:nvSpPr>
        <p:spPr>
          <a:xfrm>
            <a:off x="311700" y="555600"/>
            <a:ext cx="33984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But wait… There’s more!</a:t>
            </a:r>
            <a:endParaRPr/>
          </a:p>
        </p:txBody>
      </p:sp>
      <p:sp>
        <p:nvSpPr>
          <p:cNvPr id="199" name="Google Shape;199;p28"/>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u="sng">
                <a:solidFill>
                  <a:schemeClr val="hlink"/>
                </a:solidFill>
                <a:hlinkClick r:id="rId4"/>
              </a:rPr>
              <a:t>NeuroSurgeon</a:t>
            </a:r>
            <a:r>
              <a:rPr lang="en" sz="1400"/>
              <a:t> balances discovery and impact throughout the paper. </a:t>
            </a:r>
            <a:endParaRPr sz="1400"/>
          </a:p>
          <a:p>
            <a:pPr indent="0" lvl="0" marL="0" rtl="0" algn="l">
              <a:spcBef>
                <a:spcPts val="1600"/>
              </a:spcBef>
              <a:spcAft>
                <a:spcPts val="0"/>
              </a:spcAft>
              <a:buNone/>
            </a:pPr>
            <a:r>
              <a:rPr lang="en" sz="1400"/>
              <a:t>Each subsection in Sections 3 and 4 ends with “Key Observations.”</a:t>
            </a:r>
            <a:endParaRPr sz="1400"/>
          </a:p>
          <a:p>
            <a:pPr indent="0" lvl="0" marL="0" rtl="0" algn="l">
              <a:spcBef>
                <a:spcPts val="1600"/>
              </a:spcBef>
              <a:spcAft>
                <a:spcPts val="1600"/>
              </a:spcAft>
              <a:buNone/>
            </a:pPr>
            <a:r>
              <a:rPr lang="en" sz="1400"/>
              <a:t>Most subsections in Section 6 outline “xyz Improvement.”</a:t>
            </a:r>
            <a:endParaRPr sz="1400"/>
          </a:p>
        </p:txBody>
      </p:sp>
      <p:sp>
        <p:nvSpPr>
          <p:cNvPr id="200" name="Google Shape;200;p28"/>
          <p:cNvSpPr txBox="1"/>
          <p:nvPr/>
        </p:nvSpPr>
        <p:spPr>
          <a:xfrm>
            <a:off x="187375" y="4734400"/>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Arek Socha</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6">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True Purpose of Introduction</a:t>
            </a:r>
            <a:endParaRPr/>
          </a:p>
        </p:txBody>
      </p:sp>
      <p:sp>
        <p:nvSpPr>
          <p:cNvPr id="206" name="Google Shape;206;p29"/>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sz="2400"/>
              <a:t>Have an argument</a:t>
            </a:r>
            <a:endParaRPr sz="2400"/>
          </a:p>
          <a:p>
            <a:pPr indent="0" lvl="0" marL="0" rtl="0" algn="l">
              <a:spcBef>
                <a:spcPts val="1600"/>
              </a:spcBef>
              <a:spcAft>
                <a:spcPts val="0"/>
              </a:spcAft>
              <a:buNone/>
            </a:pPr>
            <a:r>
              <a:t/>
            </a:r>
            <a:endParaRPr sz="2400"/>
          </a:p>
          <a:p>
            <a:pPr indent="0" lvl="0" marL="0" rtl="0" algn="l">
              <a:spcBef>
                <a:spcPts val="1600"/>
              </a:spcBef>
              <a:spcAft>
                <a:spcPts val="0"/>
              </a:spcAft>
              <a:buNone/>
            </a:pPr>
            <a:r>
              <a:rPr lang="en" sz="2400"/>
              <a:t>State it early and clearly</a:t>
            </a:r>
            <a:endParaRPr sz="2400"/>
          </a:p>
          <a:p>
            <a:pPr indent="0" lvl="0" marL="0" rtl="0" algn="l">
              <a:spcBef>
                <a:spcPts val="1600"/>
              </a:spcBef>
              <a:spcAft>
                <a:spcPts val="1600"/>
              </a:spcAft>
              <a:buNone/>
            </a:pPr>
            <a:r>
              <a:t/>
            </a:r>
            <a:endParaRPr/>
          </a:p>
        </p:txBody>
      </p:sp>
      <p:pic>
        <p:nvPicPr>
          <p:cNvPr id="207" name="Google Shape;207;p29"/>
          <p:cNvPicPr preferRelativeResize="0"/>
          <p:nvPr/>
        </p:nvPicPr>
        <p:blipFill>
          <a:blip r:embed="rId3">
            <a:alphaModFix/>
          </a:blip>
          <a:stretch>
            <a:fillRect/>
          </a:stretch>
        </p:blipFill>
        <p:spPr>
          <a:xfrm>
            <a:off x="311700" y="1414112"/>
            <a:ext cx="4464374" cy="2976224"/>
          </a:xfrm>
          <a:prstGeom prst="rect">
            <a:avLst/>
          </a:prstGeom>
          <a:noFill/>
          <a:ln>
            <a:noFill/>
          </a:ln>
        </p:spPr>
      </p:pic>
      <p:sp>
        <p:nvSpPr>
          <p:cNvPr id="208" name="Google Shape;208;p29"/>
          <p:cNvSpPr txBox="1"/>
          <p:nvPr/>
        </p:nvSpPr>
        <p:spPr>
          <a:xfrm>
            <a:off x="311700" y="4390325"/>
            <a:ext cx="3635700" cy="43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4">
                  <a:extLst>
                    <a:ext uri="{A12FA001-AC4F-418D-AE19-62706E023703}">
                      <ahyp:hlinkClr val="tx"/>
                    </a:ext>
                  </a:extLst>
                </a:hlinkClick>
              </a:rPr>
              <a:t>Manfred Antranias Zimmer</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30"/>
          <p:cNvPicPr preferRelativeResize="0"/>
          <p:nvPr/>
        </p:nvPicPr>
        <p:blipFill>
          <a:blip r:embed="rId3">
            <a:alphaModFix amt="18000"/>
          </a:blip>
          <a:stretch>
            <a:fillRect/>
          </a:stretch>
        </p:blipFill>
        <p:spPr>
          <a:xfrm>
            <a:off x="24988" y="-459587"/>
            <a:ext cx="9094027" cy="6062675"/>
          </a:xfrm>
          <a:prstGeom prst="rect">
            <a:avLst/>
          </a:prstGeom>
          <a:noFill/>
          <a:ln>
            <a:noFill/>
          </a:ln>
        </p:spPr>
      </p:pic>
      <p:sp>
        <p:nvSpPr>
          <p:cNvPr id="214" name="Google Shape;214;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Arguments: Some Structure</a:t>
            </a:r>
            <a:endParaRPr/>
          </a:p>
        </p:txBody>
      </p:sp>
      <p:sp>
        <p:nvSpPr>
          <p:cNvPr id="215" name="Google Shape;215;p3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typically learn that to make an argument we need to clearly state the argument and some background (your introduction), evidence and counterarguments (your body), and a restatement of everything (your conclusion).</a:t>
            </a:r>
            <a:endParaRPr/>
          </a:p>
          <a:p>
            <a:pPr indent="0" lvl="0" marL="0" rtl="0" algn="l">
              <a:spcBef>
                <a:spcPts val="1600"/>
              </a:spcBef>
              <a:spcAft>
                <a:spcPts val="0"/>
              </a:spcAft>
              <a:buNone/>
            </a:pPr>
            <a:r>
              <a:rPr lang="en"/>
              <a:t>This is the structure you most likely learned in high school and undergrad. Most university writing centers will offer similar advice.</a:t>
            </a:r>
            <a:endParaRPr/>
          </a:p>
          <a:p>
            <a:pPr indent="0" lvl="0" marL="0" rtl="0" algn="l">
              <a:spcBef>
                <a:spcPts val="1600"/>
              </a:spcBef>
              <a:spcAft>
                <a:spcPts val="1600"/>
              </a:spcAft>
              <a:buNone/>
            </a:pPr>
            <a:r>
              <a:rPr lang="en"/>
              <a:t>If you look closely within well-constructed arguments, however, there’s a specific structure that many of them follow, often called the ‘uneven u’.</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Uneven U</a:t>
            </a:r>
            <a:endParaRPr/>
          </a:p>
        </p:txBody>
      </p:sp>
      <p:sp>
        <p:nvSpPr>
          <p:cNvPr id="221" name="Google Shape;221;p3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we write, our sentences fulfill different functions and function on different levels. When we understand those levels and functions, we can construct a powerful argument.</a:t>
            </a:r>
            <a:endParaRPr/>
          </a:p>
          <a:p>
            <a:pPr indent="0" lvl="0" marL="0" rtl="0" algn="l">
              <a:spcBef>
                <a:spcPts val="1600"/>
              </a:spcBef>
              <a:spcAft>
                <a:spcPts val="0"/>
              </a:spcAft>
              <a:buNone/>
            </a:pPr>
            <a:r>
              <a:rPr lang="en"/>
              <a:t>Some sentences are abstract and oriented toward a solution or conclusion.</a:t>
            </a:r>
            <a:endParaRPr/>
          </a:p>
          <a:p>
            <a:pPr indent="0" lvl="0" marL="0" rtl="0" algn="l">
              <a:spcBef>
                <a:spcPts val="1600"/>
              </a:spcBef>
              <a:spcAft>
                <a:spcPts val="0"/>
              </a:spcAft>
              <a:buNone/>
            </a:pPr>
            <a:r>
              <a:rPr lang="en"/>
              <a:t>Some sentences are concrete and provide raw data.</a:t>
            </a:r>
            <a:endParaRPr/>
          </a:p>
          <a:p>
            <a:pPr indent="0" lvl="0" marL="0" rtl="0" algn="l">
              <a:spcBef>
                <a:spcPts val="1600"/>
              </a:spcBef>
              <a:spcAft>
                <a:spcPts val="0"/>
              </a:spcAft>
              <a:buNone/>
            </a:pPr>
            <a:r>
              <a:rPr lang="en"/>
              <a:t>There are several levels in between. </a:t>
            </a:r>
            <a:endParaRPr/>
          </a:p>
          <a:p>
            <a:pPr indent="0" lvl="0" marL="0" rtl="0" algn="l">
              <a:spcBef>
                <a:spcPts val="1600"/>
              </a:spcBef>
              <a:spcAft>
                <a:spcPts val="1600"/>
              </a:spcAft>
              <a:buNone/>
            </a:pPr>
            <a:r>
              <a:rPr lang="en"/>
              <a:t>(This is all from Eric Hayot’s </a:t>
            </a:r>
            <a:r>
              <a:rPr i="1" lang="en"/>
              <a:t>The </a:t>
            </a:r>
            <a:r>
              <a:rPr i="1" lang="en"/>
              <a:t>Elements of Academic Style</a:t>
            </a:r>
            <a:r>
              <a:rPr lang="en"/>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32"/>
          <p:cNvPicPr preferRelativeResize="0"/>
          <p:nvPr/>
        </p:nvPicPr>
        <p:blipFill>
          <a:blip r:embed="rId3">
            <a:alphaModFix amt="23000"/>
          </a:blip>
          <a:stretch>
            <a:fillRect/>
          </a:stretch>
        </p:blipFill>
        <p:spPr>
          <a:xfrm>
            <a:off x="0" y="0"/>
            <a:ext cx="9144000" cy="5143500"/>
          </a:xfrm>
          <a:prstGeom prst="rect">
            <a:avLst/>
          </a:prstGeom>
          <a:noFill/>
          <a:ln>
            <a:noFill/>
          </a:ln>
        </p:spPr>
      </p:pic>
      <p:sp>
        <p:nvSpPr>
          <p:cNvPr id="227" name="Google Shape;227;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Hayot’s Five Levels</a:t>
            </a:r>
            <a:endParaRPr/>
          </a:p>
        </p:txBody>
      </p:sp>
      <p:sp>
        <p:nvSpPr>
          <p:cNvPr id="228" name="Google Shape;228;p3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404040"/>
                </a:solidFill>
              </a:rPr>
              <a:t>Level five: Abstract; general, oriented toward a solution or conclusion</a:t>
            </a:r>
            <a:endParaRPr>
              <a:solidFill>
                <a:srgbClr val="404040"/>
              </a:solidFill>
            </a:endParaRPr>
          </a:p>
          <a:p>
            <a:pPr indent="0" lvl="0" marL="0" rtl="0" algn="l">
              <a:spcBef>
                <a:spcPts val="1600"/>
              </a:spcBef>
              <a:spcAft>
                <a:spcPts val="0"/>
              </a:spcAft>
              <a:buClr>
                <a:schemeClr val="dk1"/>
              </a:buClr>
              <a:buSzPts val="1100"/>
              <a:buFont typeface="Arial"/>
              <a:buNone/>
            </a:pPr>
            <a:r>
              <a:rPr lang="en">
                <a:solidFill>
                  <a:srgbClr val="404040"/>
                </a:solidFill>
              </a:rPr>
              <a:t>Level Four: Less general; oriented toward a problem; pulls ideas together</a:t>
            </a:r>
            <a:endParaRPr>
              <a:solidFill>
                <a:srgbClr val="404040"/>
              </a:solidFill>
            </a:endParaRPr>
          </a:p>
          <a:p>
            <a:pPr indent="0" lvl="0" marL="0" rtl="0" algn="l">
              <a:spcBef>
                <a:spcPts val="1600"/>
              </a:spcBef>
              <a:spcAft>
                <a:spcPts val="0"/>
              </a:spcAft>
              <a:buClr>
                <a:schemeClr val="dk1"/>
              </a:buClr>
              <a:buSzPts val="1100"/>
              <a:buFont typeface="Arial"/>
              <a:buNone/>
            </a:pPr>
            <a:r>
              <a:rPr lang="en">
                <a:solidFill>
                  <a:srgbClr val="404040"/>
                </a:solidFill>
              </a:rPr>
              <a:t>Level Three: Conceptual summary; draws together two or more pieces of evidence, or introduces a broad example.</a:t>
            </a:r>
            <a:endParaRPr>
              <a:solidFill>
                <a:srgbClr val="404040"/>
              </a:solidFill>
            </a:endParaRPr>
          </a:p>
          <a:p>
            <a:pPr indent="0" lvl="0" marL="0" rtl="0" algn="l">
              <a:spcBef>
                <a:spcPts val="1600"/>
              </a:spcBef>
              <a:spcAft>
                <a:spcPts val="0"/>
              </a:spcAft>
              <a:buClr>
                <a:schemeClr val="dk1"/>
              </a:buClr>
              <a:buSzPts val="1100"/>
              <a:buFont typeface="Arial"/>
              <a:buNone/>
            </a:pPr>
            <a:r>
              <a:rPr lang="en">
                <a:solidFill>
                  <a:srgbClr val="404040"/>
                </a:solidFill>
              </a:rPr>
              <a:t>Level Two: Description; plain or interpretive summary; establishing shot</a:t>
            </a:r>
            <a:endParaRPr>
              <a:solidFill>
                <a:srgbClr val="404040"/>
              </a:solidFill>
            </a:endParaRPr>
          </a:p>
          <a:p>
            <a:pPr indent="0" lvl="0" marL="0" rtl="0" algn="l">
              <a:spcBef>
                <a:spcPts val="1600"/>
              </a:spcBef>
              <a:spcAft>
                <a:spcPts val="0"/>
              </a:spcAft>
              <a:buNone/>
            </a:pPr>
            <a:r>
              <a:rPr lang="en">
                <a:solidFill>
                  <a:srgbClr val="404040"/>
                </a:solidFill>
              </a:rPr>
              <a:t>Level One: Concrete; evidentiary; raw; unmediated data or information</a:t>
            </a:r>
            <a:endParaRPr>
              <a:solidFill>
                <a:srgbClr val="404040"/>
              </a:solidFill>
            </a:endParaRPr>
          </a:p>
          <a:p>
            <a:pPr indent="0" lvl="0" marL="0" rtl="0" algn="l">
              <a:spcBef>
                <a:spcPts val="1600"/>
              </a:spcBef>
              <a:spcAft>
                <a:spcPts val="1600"/>
              </a:spcAft>
              <a:buNone/>
            </a:pPr>
            <a:r>
              <a:rPr lang="en">
                <a:solidFill>
                  <a:srgbClr val="404040"/>
                </a:solidFill>
              </a:rPr>
              <a:t>(Hayot p. 60)</a:t>
            </a:r>
            <a:endParaRPr>
              <a:solidFill>
                <a:srgbClr val="40404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33"/>
          <p:cNvPicPr preferRelativeResize="0"/>
          <p:nvPr/>
        </p:nvPicPr>
        <p:blipFill>
          <a:blip r:embed="rId3">
            <a:alphaModFix amt="24000"/>
          </a:blip>
          <a:stretch>
            <a:fillRect/>
          </a:stretch>
        </p:blipFill>
        <p:spPr>
          <a:xfrm>
            <a:off x="-1666025" y="1147225"/>
            <a:ext cx="12476040" cy="3918274"/>
          </a:xfrm>
          <a:prstGeom prst="rect">
            <a:avLst/>
          </a:prstGeom>
          <a:noFill/>
          <a:ln>
            <a:noFill/>
          </a:ln>
        </p:spPr>
      </p:pic>
      <p:sp>
        <p:nvSpPr>
          <p:cNvPr id="234" name="Google Shape;234;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Uneven U Structure</a:t>
            </a:r>
            <a:endParaRPr/>
          </a:p>
        </p:txBody>
      </p:sp>
      <p:sp>
        <p:nvSpPr>
          <p:cNvPr id="235" name="Google Shape;235;p3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Arguments should (approximately): </a:t>
            </a:r>
            <a:endParaRPr/>
          </a:p>
          <a:p>
            <a:pPr indent="-342900" lvl="0" marL="457200" rtl="0" algn="l">
              <a:spcBef>
                <a:spcPts val="1600"/>
              </a:spcBef>
              <a:spcAft>
                <a:spcPts val="0"/>
              </a:spcAft>
              <a:buSzPts val="1800"/>
              <a:buChar char="●"/>
            </a:pPr>
            <a:r>
              <a:rPr lang="en"/>
              <a:t>Start at level 4</a:t>
            </a:r>
            <a:endParaRPr/>
          </a:p>
          <a:p>
            <a:pPr indent="-342900" lvl="0" marL="457200" rtl="0" algn="l">
              <a:spcBef>
                <a:spcPts val="0"/>
              </a:spcBef>
              <a:spcAft>
                <a:spcPts val="0"/>
              </a:spcAft>
              <a:buSzPts val="1800"/>
              <a:buChar char="●"/>
            </a:pPr>
            <a:r>
              <a:rPr lang="en"/>
              <a:t>Go all the way down to level 1</a:t>
            </a:r>
            <a:endParaRPr/>
          </a:p>
          <a:p>
            <a:pPr indent="-342900" lvl="0" marL="457200" rtl="0" algn="l">
              <a:spcBef>
                <a:spcPts val="0"/>
              </a:spcBef>
              <a:spcAft>
                <a:spcPts val="0"/>
              </a:spcAft>
              <a:buSzPts val="1800"/>
              <a:buChar char="●"/>
            </a:pPr>
            <a:r>
              <a:rPr lang="en"/>
              <a:t>End back up at level 5</a:t>
            </a:r>
            <a:endParaRPr/>
          </a:p>
          <a:p>
            <a:pPr indent="0" lvl="0" marL="3657600" rtl="0" algn="l">
              <a:spcBef>
                <a:spcPts val="1600"/>
              </a:spcBef>
              <a:spcAft>
                <a:spcPts val="0"/>
              </a:spcAft>
              <a:buNone/>
            </a:pPr>
            <a:r>
              <a:rPr lang="en" sz="1400"/>
              <a:t>(Graph it: it looks like an uneven u, hence the name.)</a:t>
            </a:r>
            <a:endParaRPr/>
          </a:p>
          <a:p>
            <a:pPr indent="0" lvl="0" marL="0" rtl="0" algn="l">
              <a:spcBef>
                <a:spcPts val="1600"/>
              </a:spcBef>
              <a:spcAft>
                <a:spcPts val="0"/>
              </a:spcAft>
              <a:buNone/>
            </a:pPr>
            <a:r>
              <a:rPr lang="en"/>
              <a:t>Important point: these levels are all </a:t>
            </a:r>
            <a:r>
              <a:rPr lang="en" u="sng"/>
              <a:t>relative</a:t>
            </a:r>
            <a:r>
              <a:rPr lang="en"/>
              <a:t> to each other, not absolute!</a:t>
            </a:r>
            <a:endParaRPr/>
          </a:p>
          <a:p>
            <a:pPr indent="0" lvl="0" marL="0" rtl="0" algn="l">
              <a:spcBef>
                <a:spcPts val="1600"/>
              </a:spcBef>
              <a:spcAft>
                <a:spcPts val="1600"/>
              </a:spcAft>
              <a:buNone/>
            </a:pPr>
            <a:r>
              <a:rPr lang="en"/>
              <a:t>This is a good way to structure individual paragraphs (with sentences at </a:t>
            </a:r>
            <a:r>
              <a:rPr lang="en"/>
              <a:t>the</a:t>
            </a:r>
            <a:r>
              <a:rPr lang="en"/>
              <a:t> various levels). It’s a good way to structure sections of text, for example your introduction (with paragraphs at the various levels). </a:t>
            </a:r>
            <a:endParaRPr sz="1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Let’s try: label the sentence levels in this intro</a:t>
            </a:r>
            <a:endParaRPr/>
          </a:p>
        </p:txBody>
      </p:sp>
      <p:sp>
        <p:nvSpPr>
          <p:cNvPr id="241" name="Google Shape;241;p3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As cloud computing and Internet services become increasingly popular, datacenter loads are rapidly growing. The power budget supplied by the power delivery infrastructure in datacenters, however, often constrains the amount of server that can be added to handle the ever growing load. Indeed, the power budget has become one of </a:t>
            </a:r>
            <a:r>
              <a:rPr lang="en"/>
              <a:t>the</a:t>
            </a:r>
            <a:r>
              <a:rPr lang="en"/>
              <a:t> most contentious resources in datacenter </a:t>
            </a:r>
            <a:r>
              <a:rPr lang="en"/>
              <a:t>management</a:t>
            </a:r>
            <a:r>
              <a:rPr lang="en"/>
              <a:t>. Building new datacenter facilities and new power infrastructures would help alleviate the problem, but they are costly and time-</a:t>
            </a:r>
            <a:r>
              <a:rPr lang="en"/>
              <a:t>consuming</a:t>
            </a:r>
            <a:r>
              <a:rPr lang="en"/>
              <a:t>. Datacenter operators need new techniques to maximize utilization of </a:t>
            </a:r>
            <a:r>
              <a:rPr lang="en"/>
              <a:t>the</a:t>
            </a:r>
            <a:r>
              <a:rPr lang="en"/>
              <a:t> existing power infrastructure. [1]</a:t>
            </a:r>
            <a:endParaRPr/>
          </a:p>
        </p:txBody>
      </p:sp>
      <p:sp>
        <p:nvSpPr>
          <p:cNvPr id="242" name="Google Shape;242;p34"/>
          <p:cNvSpPr txBox="1"/>
          <p:nvPr/>
        </p:nvSpPr>
        <p:spPr>
          <a:xfrm>
            <a:off x="349775" y="4509550"/>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[1] SmoothOperator as published</a:t>
            </a:r>
            <a:endParaRPr>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graphicFrame>
        <p:nvGraphicFramePr>
          <p:cNvPr id="247" name="Google Shape;247;p35"/>
          <p:cNvGraphicFramePr/>
          <p:nvPr/>
        </p:nvGraphicFramePr>
        <p:xfrm>
          <a:off x="311700" y="431425"/>
          <a:ext cx="3000000" cy="3000000"/>
        </p:xfrm>
        <a:graphic>
          <a:graphicData uri="http://schemas.openxmlformats.org/drawingml/2006/table">
            <a:tbl>
              <a:tblPr>
                <a:noFill/>
                <a:tableStyleId>{A1FEDFCD-BC42-4225-886D-6D3858ECF4EA}</a:tableStyleId>
              </a:tblPr>
              <a:tblGrid>
                <a:gridCol w="5921700"/>
                <a:gridCol w="2598900"/>
              </a:tblGrid>
              <a:tr h="381000">
                <a:tc>
                  <a:txBody>
                    <a:bodyPr/>
                    <a:lstStyle/>
                    <a:p>
                      <a:pPr indent="0" lvl="0" marL="0" rtl="0" algn="l">
                        <a:spcBef>
                          <a:spcPts val="0"/>
                        </a:spcBef>
                        <a:spcAft>
                          <a:spcPts val="0"/>
                        </a:spcAft>
                        <a:buNone/>
                      </a:pPr>
                      <a:r>
                        <a:rPr b="1" lang="en">
                          <a:latin typeface="Open Sans"/>
                          <a:ea typeface="Open Sans"/>
                          <a:cs typeface="Open Sans"/>
                          <a:sym typeface="Open Sans"/>
                        </a:rPr>
                        <a:t>Sentence from SmoothOperator</a:t>
                      </a:r>
                      <a:endParaRPr b="1">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b="1" lang="en">
                          <a:latin typeface="Open Sans"/>
                          <a:ea typeface="Open Sans"/>
                          <a:cs typeface="Open Sans"/>
                          <a:sym typeface="Open Sans"/>
                        </a:rPr>
                        <a:t>Level</a:t>
                      </a:r>
                      <a:endParaRPr b="1">
                        <a:latin typeface="Open Sans"/>
                        <a:ea typeface="Open Sans"/>
                        <a:cs typeface="Open Sans"/>
                        <a:sym typeface="Open Sans"/>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Light"/>
                          <a:ea typeface="Open Sans Light"/>
                          <a:cs typeface="Open Sans Light"/>
                          <a:sym typeface="Open Sans Light"/>
                        </a:rPr>
                        <a:t>As cloud computing and Internet services become increasingly popular, datacenter loads are rapidly growing. </a:t>
                      </a:r>
                      <a:endParaRPr>
                        <a:latin typeface="Open Sans Light"/>
                        <a:ea typeface="Open Sans Light"/>
                        <a:cs typeface="Open Sans Light"/>
                        <a:sym typeface="Open Sans Light"/>
                      </a:endParaRPr>
                    </a:p>
                  </a:txBody>
                  <a:tcPr marT="91425" marB="91425" marR="91425" marL="91425"/>
                </a:tc>
                <a:tc>
                  <a:txBody>
                    <a:bodyPr/>
                    <a:lstStyle/>
                    <a:p>
                      <a:pPr indent="0" lvl="0" marL="0" rtl="0" algn="l">
                        <a:lnSpc>
                          <a:spcPct val="115000"/>
                        </a:lnSpc>
                        <a:spcBef>
                          <a:spcPts val="0"/>
                        </a:spcBef>
                        <a:spcAft>
                          <a:spcPts val="0"/>
                        </a:spcAft>
                        <a:buNone/>
                      </a:pPr>
                      <a:r>
                        <a:rPr lang="en">
                          <a:latin typeface="Open Sans Light"/>
                          <a:ea typeface="Open Sans Light"/>
                          <a:cs typeface="Open Sans Light"/>
                          <a:sym typeface="Open Sans Light"/>
                        </a:rPr>
                        <a:t>General, oriented toward a problem - Level 4</a:t>
                      </a:r>
                      <a:endParaRPr>
                        <a:latin typeface="Open Sans Light"/>
                        <a:ea typeface="Open Sans Light"/>
                        <a:cs typeface="Open Sans Light"/>
                        <a:sym typeface="Open Sans Light"/>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Light"/>
                          <a:ea typeface="Open Sans Light"/>
                          <a:cs typeface="Open Sans Light"/>
                          <a:sym typeface="Open Sans Light"/>
                        </a:rPr>
                        <a:t>The power budget supplied by the power delivery infrastructure in datacenters, however, often constrains the amount of server that can be added to handle the ever growing load.</a:t>
                      </a:r>
                      <a:endParaRPr>
                        <a:latin typeface="Open Sans Light"/>
                        <a:ea typeface="Open Sans Light"/>
                        <a:cs typeface="Open Sans Light"/>
                        <a:sym typeface="Open Sans Light"/>
                      </a:endParaRPr>
                    </a:p>
                  </a:txBody>
                  <a:tcPr marT="91425" marB="91425" marR="91425" marL="91425"/>
                </a:tc>
                <a:tc>
                  <a:txBody>
                    <a:bodyPr/>
                    <a:lstStyle/>
                    <a:p>
                      <a:pPr indent="0" lvl="0" marL="0" rtl="0" algn="l">
                        <a:lnSpc>
                          <a:spcPct val="115000"/>
                        </a:lnSpc>
                        <a:spcBef>
                          <a:spcPts val="0"/>
                        </a:spcBef>
                        <a:spcAft>
                          <a:spcPts val="0"/>
                        </a:spcAft>
                        <a:buNone/>
                      </a:pPr>
                      <a:r>
                        <a:rPr lang="en">
                          <a:latin typeface="Open Sans Light"/>
                          <a:ea typeface="Open Sans Light"/>
                          <a:cs typeface="Open Sans Light"/>
                          <a:sym typeface="Open Sans Light"/>
                        </a:rPr>
                        <a:t>Introduces a broad example - Level 3</a:t>
                      </a:r>
                      <a:endParaRPr>
                        <a:latin typeface="Open Sans Light"/>
                        <a:ea typeface="Open Sans Light"/>
                        <a:cs typeface="Open Sans Light"/>
                        <a:sym typeface="Open Sans Light"/>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Light"/>
                          <a:ea typeface="Open Sans Light"/>
                          <a:cs typeface="Open Sans Light"/>
                          <a:sym typeface="Open Sans Light"/>
                        </a:rPr>
                        <a:t>Indeed, the power budget has become one of the most contentious resources in datacenter management. </a:t>
                      </a:r>
                      <a:endParaRPr>
                        <a:solidFill>
                          <a:schemeClr val="dk1"/>
                        </a:solidFill>
                        <a:latin typeface="Open Sans Light"/>
                        <a:ea typeface="Open Sans Light"/>
                        <a:cs typeface="Open Sans Light"/>
                        <a:sym typeface="Open Sans Light"/>
                      </a:endParaRPr>
                    </a:p>
                  </a:txBody>
                  <a:tcPr marT="91425" marB="91425" marR="91425" marL="91425"/>
                </a:tc>
                <a:tc>
                  <a:txBody>
                    <a:bodyPr/>
                    <a:lstStyle/>
                    <a:p>
                      <a:pPr indent="0" lvl="0" marL="0" rtl="0" algn="l">
                        <a:lnSpc>
                          <a:spcPct val="115000"/>
                        </a:lnSpc>
                        <a:spcBef>
                          <a:spcPts val="0"/>
                        </a:spcBef>
                        <a:spcAft>
                          <a:spcPts val="0"/>
                        </a:spcAft>
                        <a:buNone/>
                      </a:pPr>
                      <a:r>
                        <a:rPr lang="en">
                          <a:latin typeface="Open Sans Light"/>
                          <a:ea typeface="Open Sans Light"/>
                          <a:cs typeface="Open Sans Light"/>
                          <a:sym typeface="Open Sans Light"/>
                        </a:rPr>
                        <a:t>Interpretive summary - Level 2</a:t>
                      </a:r>
                      <a:endParaRPr>
                        <a:latin typeface="Open Sans Light"/>
                        <a:ea typeface="Open Sans Light"/>
                        <a:cs typeface="Open Sans Light"/>
                        <a:sym typeface="Open Sans Light"/>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Light"/>
                          <a:ea typeface="Open Sans Light"/>
                          <a:cs typeface="Open Sans Light"/>
                          <a:sym typeface="Open Sans Light"/>
                        </a:rPr>
                        <a:t>Building new datacenter facilities and new power infrastructures would help alleviate the problem, but they are costly and time-consuming.</a:t>
                      </a:r>
                      <a:endParaRPr>
                        <a:solidFill>
                          <a:schemeClr val="dk1"/>
                        </a:solidFill>
                        <a:latin typeface="Open Sans Light"/>
                        <a:ea typeface="Open Sans Light"/>
                        <a:cs typeface="Open Sans Light"/>
                        <a:sym typeface="Open Sans Light"/>
                      </a:endParaRPr>
                    </a:p>
                  </a:txBody>
                  <a:tcPr marT="91425" marB="91425" marR="91425" marL="91425"/>
                </a:tc>
                <a:tc>
                  <a:txBody>
                    <a:bodyPr/>
                    <a:lstStyle/>
                    <a:p>
                      <a:pPr indent="0" lvl="0" marL="0" rtl="0" algn="l">
                        <a:lnSpc>
                          <a:spcPct val="115000"/>
                        </a:lnSpc>
                        <a:spcBef>
                          <a:spcPts val="0"/>
                        </a:spcBef>
                        <a:spcAft>
                          <a:spcPts val="0"/>
                        </a:spcAft>
                        <a:buNone/>
                      </a:pPr>
                      <a:r>
                        <a:rPr lang="en">
                          <a:latin typeface="Open Sans Light"/>
                          <a:ea typeface="Open Sans Light"/>
                          <a:cs typeface="Open Sans Light"/>
                          <a:sym typeface="Open Sans Light"/>
                        </a:rPr>
                        <a:t>Concrete example of a solution - Level 1</a:t>
                      </a:r>
                      <a:endParaRPr>
                        <a:latin typeface="Open Sans Light"/>
                        <a:ea typeface="Open Sans Light"/>
                        <a:cs typeface="Open Sans Light"/>
                        <a:sym typeface="Open Sans Light"/>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Open Sans Light"/>
                          <a:ea typeface="Open Sans Light"/>
                          <a:cs typeface="Open Sans Light"/>
                          <a:sym typeface="Open Sans Light"/>
                        </a:rPr>
                        <a:t>Datacenter operators need new techniques to maximize utilization of the existing power infrastructure.</a:t>
                      </a:r>
                      <a:endParaRPr>
                        <a:solidFill>
                          <a:schemeClr val="dk1"/>
                        </a:solidFill>
                        <a:latin typeface="Open Sans Light"/>
                        <a:ea typeface="Open Sans Light"/>
                        <a:cs typeface="Open Sans Light"/>
                        <a:sym typeface="Open Sans Light"/>
                      </a:endParaRPr>
                    </a:p>
                  </a:txBody>
                  <a:tcPr marT="91425" marB="91425" marR="91425" marL="91425"/>
                </a:tc>
                <a:tc>
                  <a:txBody>
                    <a:bodyPr/>
                    <a:lstStyle/>
                    <a:p>
                      <a:pPr indent="0" lvl="0" marL="0" rtl="0" algn="l">
                        <a:lnSpc>
                          <a:spcPct val="115000"/>
                        </a:lnSpc>
                        <a:spcBef>
                          <a:spcPts val="0"/>
                        </a:spcBef>
                        <a:spcAft>
                          <a:spcPts val="0"/>
                        </a:spcAft>
                        <a:buNone/>
                      </a:pPr>
                      <a:r>
                        <a:rPr lang="en">
                          <a:latin typeface="Open Sans Light"/>
                          <a:ea typeface="Open Sans Light"/>
                          <a:cs typeface="Open Sans Light"/>
                          <a:sym typeface="Open Sans Light"/>
                        </a:rPr>
                        <a:t>General, oriented toward a solution - Level 5</a:t>
                      </a:r>
                      <a:endParaRPr>
                        <a:latin typeface="Open Sans Light"/>
                        <a:ea typeface="Open Sans Light"/>
                        <a:cs typeface="Open Sans Light"/>
                        <a:sym typeface="Open Sans Light"/>
                      </a:endParaRPr>
                    </a:p>
                  </a:txBody>
                  <a:tcPr marT="91425" marB="91425" marR="91425" marL="91425"/>
                </a:tc>
              </a:tr>
            </a:tbl>
          </a:graphicData>
        </a:graphic>
      </p:graphicFrame>
      <p:sp>
        <p:nvSpPr>
          <p:cNvPr id="248" name="Google Shape;248;p35"/>
          <p:cNvSpPr txBox="1"/>
          <p:nvPr/>
        </p:nvSpPr>
        <p:spPr>
          <a:xfrm>
            <a:off x="311700" y="4462225"/>
            <a:ext cx="85206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latin typeface="Open Sans"/>
                <a:ea typeface="Open Sans"/>
                <a:cs typeface="Open Sans"/>
                <a:sym typeface="Open Sans"/>
              </a:rPr>
              <a:t>There’s no ‘right’ answer here. The point is that </a:t>
            </a:r>
            <a:r>
              <a:rPr i="1" lang="en" sz="1200">
                <a:latin typeface="Open Sans"/>
                <a:ea typeface="Open Sans"/>
                <a:cs typeface="Open Sans"/>
                <a:sym typeface="Open Sans"/>
              </a:rPr>
              <a:t>the</a:t>
            </a:r>
            <a:r>
              <a:rPr i="1" lang="en" sz="1200">
                <a:latin typeface="Open Sans"/>
                <a:ea typeface="Open Sans"/>
                <a:cs typeface="Open Sans"/>
                <a:sym typeface="Open Sans"/>
              </a:rPr>
              <a:t> sentences function on different conceptual levels in an approximate shape that strengthens an argument.</a:t>
            </a:r>
            <a:endParaRPr i="1" sz="1200">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Which first paragraph reads as a stronger argument?</a:t>
            </a:r>
            <a:endParaRPr sz="4000"/>
          </a:p>
        </p:txBody>
      </p:sp>
      <p:sp>
        <p:nvSpPr>
          <p:cNvPr id="254" name="Google Shape;254;p36"/>
          <p:cNvSpPr txBox="1"/>
          <p:nvPr>
            <p:ph idx="1" type="body"/>
          </p:nvPr>
        </p:nvSpPr>
        <p:spPr>
          <a:xfrm>
            <a:off x="311700" y="1225225"/>
            <a:ext cx="41355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To maximize performance, dynamically-scheduled superscalar processors execute instructions out-of-order and can speculatively transgress the ordering rules of a memory consistency model. </a:t>
            </a:r>
            <a:r>
              <a:rPr i="1" lang="en"/>
              <a:t>If caught</a:t>
            </a:r>
            <a:r>
              <a:rPr lang="en"/>
              <a:t>, they squash incorrect execution and return to a prior checkpointed state that does not violate </a:t>
            </a:r>
            <a:r>
              <a:rPr lang="en"/>
              <a:t>the</a:t>
            </a:r>
            <a:r>
              <a:rPr lang="en"/>
              <a:t> desired consistency model. This ability is built-in: checkpointing-and-rollback facilities are already provided to support speculative execution past predicted branches or past unknown memory dependencies. [2]</a:t>
            </a:r>
            <a:endParaRPr/>
          </a:p>
        </p:txBody>
      </p:sp>
      <p:sp>
        <p:nvSpPr>
          <p:cNvPr id="255" name="Google Shape;255;p36"/>
          <p:cNvSpPr txBox="1"/>
          <p:nvPr>
            <p:ph idx="2" type="body"/>
          </p:nvPr>
        </p:nvSpPr>
        <p:spPr>
          <a:xfrm>
            <a:off x="4522025" y="1225225"/>
            <a:ext cx="43104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Processors that execute instructions out-of-order have the advantage of maximizing processor performance, but the disadvantage of squashing visible speculative loads, which then need to be reissued. </a:t>
            </a:r>
            <a:r>
              <a:rPr lang="en" sz="1200"/>
              <a:t>A coherence event such as invalidation for the address of the speculative load means that the reordering has been ‘seen’ by a core racing with the load in question. </a:t>
            </a:r>
            <a:r>
              <a:rPr lang="en" sz="1200"/>
              <a:t>When this happens, the processor squashes the incorrect execution and returns to a prior checkpointed state that does not violate the memory consistency model. This ability is built-in, with checkpointing and rollback facilities supporting speculative execution past predicted branches.  We propose a solution in which a speculatively reordered load (and its dependent instructions) does not have to be squashed for consistency enforcement. </a:t>
            </a:r>
            <a:endParaRPr sz="1200"/>
          </a:p>
        </p:txBody>
      </p:sp>
      <p:sp>
        <p:nvSpPr>
          <p:cNvPr id="256" name="Google Shape;256;p36"/>
          <p:cNvSpPr txBox="1"/>
          <p:nvPr/>
        </p:nvSpPr>
        <p:spPr>
          <a:xfrm>
            <a:off x="387250" y="4716625"/>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Open Sans"/>
                <a:ea typeface="Open Sans"/>
                <a:cs typeface="Open Sans"/>
                <a:sym typeface="Open Sans"/>
              </a:rPr>
              <a:t>[2] TSO first paragraph, as published</a:t>
            </a:r>
            <a:endParaRPr sz="900">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Over to you! Uneven U Introductions</a:t>
            </a:r>
            <a:endParaRPr/>
          </a:p>
        </p:txBody>
      </p:sp>
      <p:sp>
        <p:nvSpPr>
          <p:cNvPr id="262" name="Google Shape;262;p37"/>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Read:</a:t>
            </a:r>
            <a:endParaRPr b="1" i="1"/>
          </a:p>
          <a:p>
            <a:pPr indent="0" lvl="0" marL="0" rtl="0" algn="l">
              <a:spcBef>
                <a:spcPts val="1600"/>
              </a:spcBef>
              <a:spcAft>
                <a:spcPts val="0"/>
              </a:spcAft>
              <a:buNone/>
            </a:pPr>
            <a:r>
              <a:rPr lang="en" sz="1300"/>
              <a:t>Choose a paper you’re reading and analyze the first couple of paragraphs of the introduction.</a:t>
            </a:r>
            <a:endParaRPr sz="1300"/>
          </a:p>
          <a:p>
            <a:pPr indent="-311150" lvl="0" marL="457200" rtl="0" algn="l">
              <a:spcBef>
                <a:spcPts val="1600"/>
              </a:spcBef>
              <a:spcAft>
                <a:spcPts val="0"/>
              </a:spcAft>
              <a:buSzPts val="1300"/>
              <a:buChar char="●"/>
            </a:pPr>
            <a:r>
              <a:rPr lang="en" sz="1300"/>
              <a:t>What levels are </a:t>
            </a:r>
            <a:r>
              <a:rPr lang="en" sz="1300"/>
              <a:t>the</a:t>
            </a:r>
            <a:r>
              <a:rPr lang="en" sz="1300"/>
              <a:t> sentences? </a:t>
            </a:r>
            <a:endParaRPr sz="1300"/>
          </a:p>
          <a:p>
            <a:pPr indent="-311150" lvl="0" marL="457200" rtl="0" algn="l">
              <a:spcBef>
                <a:spcPts val="0"/>
              </a:spcBef>
              <a:spcAft>
                <a:spcPts val="0"/>
              </a:spcAft>
              <a:buSzPts val="1300"/>
              <a:buChar char="●"/>
            </a:pPr>
            <a:r>
              <a:rPr lang="en" sz="1300"/>
              <a:t>If you graphed the sentence levels, what shape would you get? How does </a:t>
            </a:r>
            <a:r>
              <a:rPr lang="en" sz="1300"/>
              <a:t>the</a:t>
            </a:r>
            <a:r>
              <a:rPr lang="en" sz="1300"/>
              <a:t> shape of the argument impact the strength of the argument?</a:t>
            </a:r>
            <a:endParaRPr sz="1300"/>
          </a:p>
          <a:p>
            <a:pPr indent="-311150" lvl="0" marL="457200" rtl="0" algn="l">
              <a:spcBef>
                <a:spcPts val="0"/>
              </a:spcBef>
              <a:spcAft>
                <a:spcPts val="0"/>
              </a:spcAft>
              <a:buSzPts val="1300"/>
              <a:buChar char="●"/>
            </a:pPr>
            <a:r>
              <a:rPr lang="en" sz="1300"/>
              <a:t>If it’s not an uneven u shape, would the intro be stronger if it was rewritten? How would you rewrite it? </a:t>
            </a:r>
            <a:endParaRPr sz="1300"/>
          </a:p>
        </p:txBody>
      </p:sp>
      <p:sp>
        <p:nvSpPr>
          <p:cNvPr id="263" name="Google Shape;263;p37"/>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Write:</a:t>
            </a:r>
            <a:endParaRPr b="1" i="1"/>
          </a:p>
          <a:p>
            <a:pPr indent="0" lvl="0" marL="0" rtl="0" algn="l">
              <a:spcBef>
                <a:spcPts val="1600"/>
              </a:spcBef>
              <a:spcAft>
                <a:spcPts val="0"/>
              </a:spcAft>
              <a:buNone/>
            </a:pPr>
            <a:r>
              <a:rPr lang="en"/>
              <a:t>In the paper you’re writing, analyze the levels of </a:t>
            </a:r>
            <a:r>
              <a:rPr lang="en"/>
              <a:t>the</a:t>
            </a:r>
            <a:r>
              <a:rPr lang="en"/>
              <a:t> sentences in your first paragraph.</a:t>
            </a:r>
            <a:endParaRPr/>
          </a:p>
          <a:p>
            <a:pPr indent="-317500" lvl="0" marL="457200" rtl="0" algn="l">
              <a:spcBef>
                <a:spcPts val="1600"/>
              </a:spcBef>
              <a:spcAft>
                <a:spcPts val="0"/>
              </a:spcAft>
              <a:buSzPts val="1400"/>
              <a:buChar char="●"/>
            </a:pPr>
            <a:r>
              <a:rPr lang="en"/>
              <a:t>Can you re-organize your sentences to make an uneven u shape? Does that strengthen your argument?</a:t>
            </a:r>
            <a:endParaRPr/>
          </a:p>
          <a:p>
            <a:pPr indent="-317500" lvl="0" marL="457200" rtl="0" algn="l">
              <a:spcBef>
                <a:spcPts val="0"/>
              </a:spcBef>
              <a:spcAft>
                <a:spcPts val="0"/>
              </a:spcAft>
              <a:buSzPts val="1400"/>
              <a:buChar char="●"/>
            </a:pPr>
            <a:r>
              <a:rPr lang="en"/>
              <a:t>Get some feedback from peers (or me) on your before and after paragraphs.</a:t>
            </a:r>
            <a:endParaRPr/>
          </a:p>
          <a:p>
            <a:pPr indent="-317500" lvl="0" marL="457200" rtl="0" algn="l">
              <a:spcBef>
                <a:spcPts val="0"/>
              </a:spcBef>
              <a:spcAft>
                <a:spcPts val="0"/>
              </a:spcAft>
              <a:buSzPts val="1400"/>
              <a:buChar char="●"/>
            </a:pPr>
            <a:r>
              <a:rPr lang="en"/>
              <a:t>What type of sentences, if any, were you missing?</a:t>
            </a:r>
            <a:endParaRPr/>
          </a:p>
        </p:txBody>
      </p:sp>
      <p:pic>
        <p:nvPicPr>
          <p:cNvPr id="264" name="Google Shape;264;p37"/>
          <p:cNvPicPr preferRelativeResize="0"/>
          <p:nvPr/>
        </p:nvPicPr>
        <p:blipFill>
          <a:blip r:embed="rId3">
            <a:alphaModFix/>
          </a:blip>
          <a:stretch>
            <a:fillRect/>
          </a:stretch>
        </p:blipFill>
        <p:spPr>
          <a:xfrm>
            <a:off x="6683125" y="315925"/>
            <a:ext cx="2149176" cy="1422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38"/>
          <p:cNvPicPr preferRelativeResize="0"/>
          <p:nvPr/>
        </p:nvPicPr>
        <p:blipFill>
          <a:blip r:embed="rId3">
            <a:alphaModFix amt="26000"/>
          </a:blip>
          <a:stretch>
            <a:fillRect/>
          </a:stretch>
        </p:blipFill>
        <p:spPr>
          <a:xfrm>
            <a:off x="-67200" y="-332587"/>
            <a:ext cx="9278400" cy="5808674"/>
          </a:xfrm>
          <a:prstGeom prst="rect">
            <a:avLst/>
          </a:prstGeom>
          <a:noFill/>
          <a:ln>
            <a:noFill/>
          </a:ln>
        </p:spPr>
      </p:pic>
      <p:sp>
        <p:nvSpPr>
          <p:cNvPr id="270" name="Google Shape;270;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Finale: Your Contributions</a:t>
            </a:r>
            <a:endParaRPr/>
          </a:p>
        </p:txBody>
      </p:sp>
      <p:sp>
        <p:nvSpPr>
          <p:cNvPr id="271" name="Google Shape;271;p38"/>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final hurrah of your introduction is where you outline your contributions.</a:t>
            </a:r>
            <a:endParaRPr/>
          </a:p>
          <a:p>
            <a:pPr indent="0" lvl="0" marL="0" rtl="0" algn="l">
              <a:spcBef>
                <a:spcPts val="1600"/>
              </a:spcBef>
              <a:spcAft>
                <a:spcPts val="0"/>
              </a:spcAft>
              <a:buNone/>
            </a:pPr>
            <a:r>
              <a:rPr lang="en"/>
              <a:t>A chance to be unabashedly proud of your work! But there is an art to doing this well.</a:t>
            </a:r>
            <a:endParaRPr/>
          </a:p>
          <a:p>
            <a:pPr indent="0" lvl="0" marL="0" rtl="0" algn="l">
              <a:spcBef>
                <a:spcPts val="1600"/>
              </a:spcBef>
              <a:spcAft>
                <a:spcPts val="0"/>
              </a:spcAft>
              <a:buNone/>
            </a:pPr>
            <a:r>
              <a:rPr lang="en"/>
              <a:t>Some people skip an explicit enumeration of their contributions in favor of a narrative description of their work (see </a:t>
            </a:r>
            <a:r>
              <a:rPr lang="en" u="sng">
                <a:solidFill>
                  <a:schemeClr val="hlink"/>
                </a:solidFill>
                <a:hlinkClick r:id="rId4"/>
              </a:rPr>
              <a:t>AsmDB</a:t>
            </a:r>
            <a:r>
              <a:rPr lang="en"/>
              <a:t> and </a:t>
            </a:r>
            <a:r>
              <a:rPr lang="en" u="sng">
                <a:solidFill>
                  <a:schemeClr val="hlink"/>
                </a:solidFill>
                <a:hlinkClick r:id="rId5"/>
              </a:rPr>
              <a:t>TSO</a:t>
            </a:r>
            <a:r>
              <a:rPr lang="en"/>
              <a:t>).</a:t>
            </a:r>
            <a:endParaRPr/>
          </a:p>
          <a:p>
            <a:pPr indent="0" lvl="0" marL="0" rtl="0" algn="l">
              <a:spcBef>
                <a:spcPts val="1600"/>
              </a:spcBef>
              <a:spcAft>
                <a:spcPts val="1600"/>
              </a:spcAft>
              <a:buNone/>
            </a:pPr>
            <a:r>
              <a:rPr lang="en"/>
              <a:t>Others describe the key features of their work (see </a:t>
            </a:r>
            <a:r>
              <a:rPr lang="en" u="sng">
                <a:solidFill>
                  <a:schemeClr val="hlink"/>
                </a:solidFill>
                <a:hlinkClick r:id="rId6"/>
              </a:rPr>
              <a:t>Crystal Gazer</a:t>
            </a:r>
            <a:r>
              <a:rPr lang="en"/>
              <a:t>, </a:t>
            </a:r>
            <a:r>
              <a:rPr lang="en" u="sng">
                <a:solidFill>
                  <a:schemeClr val="hlink"/>
                </a:solidFill>
                <a:hlinkClick r:id="rId7"/>
              </a:rPr>
              <a:t>SWOOP</a:t>
            </a:r>
            <a:r>
              <a:rPr lang="en"/>
              <a:t>).</a:t>
            </a:r>
            <a:endParaRPr/>
          </a:p>
        </p:txBody>
      </p:sp>
      <p:sp>
        <p:nvSpPr>
          <p:cNvPr id="272" name="Google Shape;272;p38"/>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remember: you are making an argument and you want to make it compelling. Take advantage of each opportunity to strengthen your argument. </a:t>
            </a:r>
            <a:endParaRPr/>
          </a:p>
          <a:p>
            <a:pPr indent="0" lvl="0" marL="0" rtl="0" algn="l">
              <a:spcBef>
                <a:spcPts val="1600"/>
              </a:spcBef>
              <a:spcAft>
                <a:spcPts val="0"/>
              </a:spcAft>
              <a:buNone/>
            </a:pPr>
            <a:r>
              <a:rPr lang="en"/>
              <a:t>Your contributions section allows you to do this:</a:t>
            </a:r>
            <a:endParaRPr/>
          </a:p>
          <a:p>
            <a:pPr indent="0" lvl="0" marL="0" rtl="0" algn="l">
              <a:spcBef>
                <a:spcPts val="1600"/>
              </a:spcBef>
              <a:spcAft>
                <a:spcPts val="1600"/>
              </a:spcAft>
              <a:buNone/>
            </a:pPr>
            <a:r>
              <a:rPr lang="en"/>
              <a:t>In each bullet point, outline your contribution and your INSIGHT or RESULTS (see </a:t>
            </a:r>
            <a:r>
              <a:rPr lang="en" u="sng">
                <a:solidFill>
                  <a:schemeClr val="hlink"/>
                </a:solidFill>
                <a:hlinkClick r:id="rId8"/>
              </a:rPr>
              <a:t>Load Slice Core</a:t>
            </a:r>
            <a:r>
              <a:rPr lang="en"/>
              <a:t>, </a:t>
            </a:r>
            <a:r>
              <a:rPr lang="en" u="sng">
                <a:solidFill>
                  <a:schemeClr val="hlink"/>
                </a:solidFill>
                <a:hlinkClick r:id="rId9"/>
              </a:rPr>
              <a:t>NeuroSurgeon</a:t>
            </a:r>
            <a:r>
              <a:rPr lang="en"/>
              <a:t> and </a:t>
            </a:r>
            <a:r>
              <a:rPr lang="en" u="sng">
                <a:solidFill>
                  <a:schemeClr val="hlink"/>
                </a:solidFill>
                <a:hlinkClick r:id="rId10"/>
              </a:rPr>
              <a:t>SmoothOperator</a:t>
            </a:r>
            <a:r>
              <a:rPr lang="en"/>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Over to you: Contributions</a:t>
            </a:r>
            <a:endParaRPr/>
          </a:p>
        </p:txBody>
      </p:sp>
      <p:sp>
        <p:nvSpPr>
          <p:cNvPr id="278" name="Google Shape;278;p39"/>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Read:</a:t>
            </a:r>
            <a:endParaRPr b="1" i="1"/>
          </a:p>
          <a:p>
            <a:pPr indent="-317500" lvl="0" marL="457200" rtl="0" algn="l">
              <a:spcBef>
                <a:spcPts val="1600"/>
              </a:spcBef>
              <a:spcAft>
                <a:spcPts val="0"/>
              </a:spcAft>
              <a:buSzPts val="1400"/>
              <a:buChar char="●"/>
            </a:pPr>
            <a:r>
              <a:rPr lang="en"/>
              <a:t>In the papers you’re reading, how do the authors outline their contributions?</a:t>
            </a:r>
            <a:endParaRPr/>
          </a:p>
          <a:p>
            <a:pPr indent="-317500" lvl="0" marL="457200" rtl="0" algn="l">
              <a:spcBef>
                <a:spcPts val="0"/>
              </a:spcBef>
              <a:spcAft>
                <a:spcPts val="0"/>
              </a:spcAft>
              <a:buSzPts val="1400"/>
              <a:buChar char="●"/>
            </a:pPr>
            <a:r>
              <a:rPr lang="en"/>
              <a:t>Is there a difference?</a:t>
            </a:r>
            <a:endParaRPr/>
          </a:p>
          <a:p>
            <a:pPr indent="-317500" lvl="0" marL="457200" rtl="0" algn="l">
              <a:spcBef>
                <a:spcPts val="0"/>
              </a:spcBef>
              <a:spcAft>
                <a:spcPts val="0"/>
              </a:spcAft>
              <a:buSzPts val="1400"/>
              <a:buChar char="●"/>
            </a:pPr>
            <a:r>
              <a:rPr lang="en"/>
              <a:t>If yes, is there also a difference in the type of paper it is?</a:t>
            </a:r>
            <a:endParaRPr/>
          </a:p>
          <a:p>
            <a:pPr indent="-317500" lvl="0" marL="457200" rtl="0" algn="l">
              <a:spcBef>
                <a:spcPts val="0"/>
              </a:spcBef>
              <a:spcAft>
                <a:spcPts val="0"/>
              </a:spcAft>
              <a:buSzPts val="1400"/>
              <a:buChar char="●"/>
            </a:pPr>
            <a:r>
              <a:rPr lang="en"/>
              <a:t>If the contributions section also includes some insight and results, how are they described? Do the authors include additional information for each contribution or just some of them?</a:t>
            </a:r>
            <a:endParaRPr/>
          </a:p>
        </p:txBody>
      </p:sp>
      <p:sp>
        <p:nvSpPr>
          <p:cNvPr id="279" name="Google Shape;279;p39"/>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Write:</a:t>
            </a:r>
            <a:endParaRPr b="1" i="1"/>
          </a:p>
          <a:p>
            <a:pPr indent="0" lvl="0" marL="0" rtl="0" algn="l">
              <a:spcBef>
                <a:spcPts val="1600"/>
              </a:spcBef>
              <a:spcAft>
                <a:spcPts val="0"/>
              </a:spcAft>
              <a:buNone/>
            </a:pPr>
            <a:r>
              <a:rPr lang="en"/>
              <a:t>As you plan out the contribution section of your introduction, see what style best fits your paper.</a:t>
            </a:r>
            <a:endParaRPr/>
          </a:p>
          <a:p>
            <a:pPr indent="-317500" lvl="0" marL="457200" rtl="0" algn="l">
              <a:spcBef>
                <a:spcPts val="1600"/>
              </a:spcBef>
              <a:spcAft>
                <a:spcPts val="0"/>
              </a:spcAft>
              <a:buSzPts val="1400"/>
              <a:buChar char="●"/>
            </a:pPr>
            <a:r>
              <a:rPr lang="en"/>
              <a:t>Rewrite </a:t>
            </a:r>
            <a:r>
              <a:rPr lang="en"/>
              <a:t>the</a:t>
            </a:r>
            <a:r>
              <a:rPr lang="en"/>
              <a:t> contributions to be another style (for example, simple bullet point to bullet point + insight). Ask for feedback from peers (or me). </a:t>
            </a:r>
            <a:endParaRPr/>
          </a:p>
          <a:p>
            <a:pPr indent="-317500" lvl="0" marL="457200" rtl="0" algn="l">
              <a:spcBef>
                <a:spcPts val="0"/>
              </a:spcBef>
              <a:spcAft>
                <a:spcPts val="0"/>
              </a:spcAft>
              <a:buSzPts val="1400"/>
              <a:buChar char="●"/>
            </a:pPr>
            <a:r>
              <a:rPr lang="en"/>
              <a:t>How does that impact your argument?</a:t>
            </a:r>
            <a:endParaRPr/>
          </a:p>
        </p:txBody>
      </p:sp>
      <p:pic>
        <p:nvPicPr>
          <p:cNvPr id="280" name="Google Shape;280;p39"/>
          <p:cNvPicPr preferRelativeResize="0"/>
          <p:nvPr/>
        </p:nvPicPr>
        <p:blipFill>
          <a:blip r:embed="rId3">
            <a:alphaModFix/>
          </a:blip>
          <a:stretch>
            <a:fillRect/>
          </a:stretch>
        </p:blipFill>
        <p:spPr>
          <a:xfrm>
            <a:off x="6683125" y="315925"/>
            <a:ext cx="2149176" cy="1422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40"/>
          <p:cNvPicPr preferRelativeResize="0"/>
          <p:nvPr/>
        </p:nvPicPr>
        <p:blipFill>
          <a:blip r:embed="rId3">
            <a:alphaModFix amt="24000"/>
          </a:blip>
          <a:stretch>
            <a:fillRect/>
          </a:stretch>
        </p:blipFill>
        <p:spPr>
          <a:xfrm>
            <a:off x="-107012" y="-547587"/>
            <a:ext cx="9358027" cy="6238675"/>
          </a:xfrm>
          <a:prstGeom prst="rect">
            <a:avLst/>
          </a:prstGeom>
          <a:noFill/>
          <a:ln>
            <a:noFill/>
          </a:ln>
        </p:spPr>
      </p:pic>
      <p:sp>
        <p:nvSpPr>
          <p:cNvPr id="286" name="Google Shape;286;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Language resources: transitions</a:t>
            </a:r>
            <a:endParaRPr/>
          </a:p>
        </p:txBody>
      </p:sp>
      <p:sp>
        <p:nvSpPr>
          <p:cNvPr id="287" name="Google Shape;287;p4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Transitions are your best friend when making arguments.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graphicFrame>
        <p:nvGraphicFramePr>
          <p:cNvPr id="288" name="Google Shape;288;p40"/>
          <p:cNvGraphicFramePr/>
          <p:nvPr/>
        </p:nvGraphicFramePr>
        <p:xfrm>
          <a:off x="952500" y="1725425"/>
          <a:ext cx="3000000" cy="3000000"/>
        </p:xfrm>
        <a:graphic>
          <a:graphicData uri="http://schemas.openxmlformats.org/drawingml/2006/table">
            <a:tbl>
              <a:tblPr>
                <a:noFill/>
                <a:tableStyleId>{A1FEDFCD-BC42-4225-886D-6D3858ECF4EA}</a:tableStyleId>
              </a:tblPr>
              <a:tblGrid>
                <a:gridCol w="4718775"/>
                <a:gridCol w="2520225"/>
              </a:tblGrid>
              <a:tr h="381000">
                <a:tc>
                  <a:txBody>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Open Sans"/>
                          <a:ea typeface="Open Sans"/>
                          <a:cs typeface="Open Sans"/>
                          <a:sym typeface="Open Sans"/>
                        </a:rPr>
                        <a:t>Transitions to emphasize your conclusions</a:t>
                      </a:r>
                      <a:endParaRPr sz="1600">
                        <a:solidFill>
                          <a:schemeClr val="dk1"/>
                        </a:solidFill>
                        <a:latin typeface="Open Sans"/>
                        <a:ea typeface="Open Sans"/>
                        <a:cs typeface="Open Sans"/>
                        <a:sym typeface="Open Sans"/>
                      </a:endParaRPr>
                    </a:p>
                    <a:p>
                      <a:pPr indent="0" lvl="0" marL="0" rtl="0" algn="l">
                        <a:spcBef>
                          <a:spcPts val="1600"/>
                        </a:spcBef>
                        <a:spcAft>
                          <a:spcPts val="0"/>
                        </a:spcAft>
                        <a:buNone/>
                      </a:pPr>
                      <a:r>
                        <a:t/>
                      </a:r>
                      <a:endParaRPr sz="1600">
                        <a:latin typeface="Open Sans"/>
                        <a:ea typeface="Open Sans"/>
                        <a:cs typeface="Open Sans"/>
                        <a:sym typeface="Open Sans"/>
                      </a:endParaRPr>
                    </a:p>
                  </a:txBody>
                  <a:tcPr marT="91425" marB="91425" marR="91425" marL="91425"/>
                </a:tc>
                <a:tc>
                  <a:txBody>
                    <a:bodyPr/>
                    <a:lstStyle/>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S</a:t>
                      </a:r>
                      <a:r>
                        <a:rPr lang="en" sz="1600">
                          <a:solidFill>
                            <a:schemeClr val="dk1"/>
                          </a:solidFill>
                          <a:latin typeface="Open Sans"/>
                          <a:ea typeface="Open Sans"/>
                          <a:cs typeface="Open Sans"/>
                          <a:sym typeface="Open Sans"/>
                        </a:rPr>
                        <a:t>ince </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As a result </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Thus </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So </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Therefore </a:t>
                      </a:r>
                      <a:endParaRPr sz="1600">
                        <a:latin typeface="Open Sans"/>
                        <a:ea typeface="Open Sans"/>
                        <a:cs typeface="Open Sans"/>
                        <a:sym typeface="Open Sans"/>
                      </a:endParaRPr>
                    </a:p>
                  </a:txBody>
                  <a:tcPr marT="91425" marB="91425" marR="91425" marL="91425"/>
                </a:tc>
              </a:tr>
              <a:tr h="381000">
                <a:tc>
                  <a:txBody>
                    <a:bodyPr/>
                    <a:lstStyle/>
                    <a:p>
                      <a:pPr indent="0" lvl="0" marL="0" rtl="0" algn="l">
                        <a:lnSpc>
                          <a:spcPct val="115000"/>
                        </a:lnSpc>
                        <a:spcBef>
                          <a:spcPts val="0"/>
                        </a:spcBef>
                        <a:spcAft>
                          <a:spcPts val="1600"/>
                        </a:spcAft>
                        <a:buNone/>
                      </a:pPr>
                      <a:r>
                        <a:rPr lang="en" sz="1600">
                          <a:solidFill>
                            <a:schemeClr val="dk1"/>
                          </a:solidFill>
                          <a:latin typeface="Open Sans"/>
                          <a:ea typeface="Open Sans"/>
                          <a:cs typeface="Open Sans"/>
                          <a:sym typeface="Open Sans"/>
                        </a:rPr>
                        <a:t>Transitions to point out the limits of counterarguments </a:t>
                      </a:r>
                      <a:endParaRPr sz="1600">
                        <a:latin typeface="Open Sans"/>
                        <a:ea typeface="Open Sans"/>
                        <a:cs typeface="Open Sans"/>
                        <a:sym typeface="Open Sans"/>
                      </a:endParaRPr>
                    </a:p>
                  </a:txBody>
                  <a:tcPr marT="91425" marB="91425" marR="91425" marL="91425"/>
                </a:tc>
                <a:tc>
                  <a:txBody>
                    <a:bodyPr/>
                    <a:lstStyle/>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H</a:t>
                      </a:r>
                      <a:r>
                        <a:rPr lang="en" sz="1600">
                          <a:solidFill>
                            <a:schemeClr val="dk1"/>
                          </a:solidFill>
                          <a:latin typeface="Open Sans"/>
                          <a:ea typeface="Open Sans"/>
                          <a:cs typeface="Open Sans"/>
                          <a:sym typeface="Open Sans"/>
                        </a:rPr>
                        <a:t>owever </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Unfortunately </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But</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On the contrary </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en" sz="1600">
                          <a:solidFill>
                            <a:schemeClr val="dk1"/>
                          </a:solidFill>
                          <a:latin typeface="Open Sans"/>
                          <a:ea typeface="Open Sans"/>
                          <a:cs typeface="Open Sans"/>
                          <a:sym typeface="Open Sans"/>
                        </a:rPr>
                        <a:t>In contrast</a:t>
                      </a:r>
                      <a:endParaRPr sz="1600">
                        <a:latin typeface="Open Sans"/>
                        <a:ea typeface="Open Sans"/>
                        <a:cs typeface="Open Sans"/>
                        <a:sym typeface="Open Sans"/>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Over to you: Transitions</a:t>
            </a:r>
            <a:endParaRPr/>
          </a:p>
        </p:txBody>
      </p:sp>
      <p:sp>
        <p:nvSpPr>
          <p:cNvPr id="294" name="Google Shape;294;p41"/>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Read:</a:t>
            </a:r>
            <a:endParaRPr b="1" i="1"/>
          </a:p>
          <a:p>
            <a:pPr indent="0" lvl="0" marL="0" rtl="0" algn="l">
              <a:spcBef>
                <a:spcPts val="1600"/>
              </a:spcBef>
              <a:spcAft>
                <a:spcPts val="0"/>
              </a:spcAft>
              <a:buNone/>
            </a:pPr>
            <a:r>
              <a:rPr lang="en"/>
              <a:t>Take a close look at the use of transitions in the introduction of the paper you’re reading.</a:t>
            </a:r>
            <a:endParaRPr/>
          </a:p>
          <a:p>
            <a:pPr indent="-317500" lvl="0" marL="457200" rtl="0" algn="l">
              <a:spcBef>
                <a:spcPts val="1600"/>
              </a:spcBef>
              <a:spcAft>
                <a:spcPts val="0"/>
              </a:spcAft>
              <a:buSzPts val="1400"/>
              <a:buChar char="●"/>
            </a:pPr>
            <a:r>
              <a:rPr lang="en"/>
              <a:t>Where and how do the authors use the various types of transitions?</a:t>
            </a:r>
            <a:endParaRPr/>
          </a:p>
          <a:p>
            <a:pPr indent="-317500" lvl="0" marL="457200" rtl="0" algn="l">
              <a:spcBef>
                <a:spcPts val="0"/>
              </a:spcBef>
              <a:spcAft>
                <a:spcPts val="0"/>
              </a:spcAft>
              <a:buSzPts val="1400"/>
              <a:buChar char="●"/>
            </a:pPr>
            <a:r>
              <a:rPr lang="en"/>
              <a:t>How do the transitions - and the information they introduce - impact the argument?</a:t>
            </a:r>
            <a:endParaRPr/>
          </a:p>
        </p:txBody>
      </p:sp>
      <p:sp>
        <p:nvSpPr>
          <p:cNvPr id="295" name="Google Shape;295;p41"/>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Write:</a:t>
            </a:r>
            <a:endParaRPr b="1" i="1"/>
          </a:p>
          <a:p>
            <a:pPr indent="0" lvl="0" marL="0" rtl="0" algn="l">
              <a:spcBef>
                <a:spcPts val="1600"/>
              </a:spcBef>
              <a:spcAft>
                <a:spcPts val="0"/>
              </a:spcAft>
              <a:buNone/>
            </a:pPr>
            <a:r>
              <a:rPr lang="en"/>
              <a:t>In the paper you’re working on, take a look at </a:t>
            </a:r>
            <a:r>
              <a:rPr lang="en"/>
              <a:t>the</a:t>
            </a:r>
            <a:r>
              <a:rPr lang="en"/>
              <a:t> transitions you’ve used.</a:t>
            </a:r>
            <a:endParaRPr/>
          </a:p>
          <a:p>
            <a:pPr indent="-317500" lvl="0" marL="457200" rtl="0" algn="l">
              <a:spcBef>
                <a:spcPts val="1600"/>
              </a:spcBef>
              <a:spcAft>
                <a:spcPts val="0"/>
              </a:spcAft>
              <a:buSzPts val="1400"/>
              <a:buChar char="●"/>
            </a:pPr>
            <a:r>
              <a:rPr lang="en"/>
              <a:t>Where can you use transitions to more forcefully make your argument?</a:t>
            </a:r>
            <a:endParaRPr/>
          </a:p>
          <a:p>
            <a:pPr indent="-317500" lvl="0" marL="457200" rtl="0" algn="l">
              <a:spcBef>
                <a:spcPts val="0"/>
              </a:spcBef>
              <a:spcAft>
                <a:spcPts val="0"/>
              </a:spcAft>
              <a:buSzPts val="1400"/>
              <a:buChar char="●"/>
            </a:pPr>
            <a:r>
              <a:rPr lang="en"/>
              <a:t>Where can you use transitions to strengthen the connection between your ideas?</a:t>
            </a:r>
            <a:endParaRPr/>
          </a:p>
          <a:p>
            <a:pPr indent="-317500" lvl="0" marL="457200" rtl="0" algn="l">
              <a:spcBef>
                <a:spcPts val="0"/>
              </a:spcBef>
              <a:spcAft>
                <a:spcPts val="0"/>
              </a:spcAft>
              <a:buSzPts val="1400"/>
              <a:buChar char="●"/>
            </a:pPr>
            <a:r>
              <a:rPr lang="en"/>
              <a:t>Make those changes and get feedback from your peers (or me).</a:t>
            </a:r>
            <a:endParaRPr/>
          </a:p>
        </p:txBody>
      </p:sp>
      <p:pic>
        <p:nvPicPr>
          <p:cNvPr id="296" name="Google Shape;296;p41"/>
          <p:cNvPicPr preferRelativeResize="0"/>
          <p:nvPr/>
        </p:nvPicPr>
        <p:blipFill>
          <a:blip r:embed="rId3">
            <a:alphaModFix/>
          </a:blip>
          <a:stretch>
            <a:fillRect/>
          </a:stretch>
        </p:blipFill>
        <p:spPr>
          <a:xfrm>
            <a:off x="6683125" y="315925"/>
            <a:ext cx="2149176" cy="1422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Over to you: The whole shebang </a:t>
            </a:r>
            <a:endParaRPr/>
          </a:p>
        </p:txBody>
      </p:sp>
      <p:sp>
        <p:nvSpPr>
          <p:cNvPr id="302" name="Google Shape;302;p42"/>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Read:</a:t>
            </a:r>
            <a:endParaRPr b="1" i="1"/>
          </a:p>
          <a:p>
            <a:pPr indent="0" lvl="0" marL="0" rtl="0" algn="l">
              <a:spcBef>
                <a:spcPts val="1600"/>
              </a:spcBef>
              <a:spcAft>
                <a:spcPts val="0"/>
              </a:spcAft>
              <a:buNone/>
            </a:pPr>
            <a:r>
              <a:rPr lang="en"/>
              <a:t>In the paper you’re currently reading:</a:t>
            </a:r>
            <a:endParaRPr/>
          </a:p>
          <a:p>
            <a:pPr indent="-317500" lvl="0" marL="457200" rtl="0" algn="l">
              <a:spcBef>
                <a:spcPts val="1600"/>
              </a:spcBef>
              <a:spcAft>
                <a:spcPts val="0"/>
              </a:spcAft>
              <a:buSzPts val="1400"/>
              <a:buChar char="●"/>
            </a:pPr>
            <a:r>
              <a:rPr lang="en"/>
              <a:t>How long is the introduction as a fraction of the whole paper (approximately)?</a:t>
            </a:r>
            <a:endParaRPr/>
          </a:p>
          <a:p>
            <a:pPr indent="-317500" lvl="0" marL="457200" rtl="0" algn="l">
              <a:spcBef>
                <a:spcPts val="0"/>
              </a:spcBef>
              <a:spcAft>
                <a:spcPts val="0"/>
              </a:spcAft>
              <a:buSzPts val="1400"/>
              <a:buChar char="●"/>
            </a:pPr>
            <a:r>
              <a:rPr lang="en"/>
              <a:t>How much of the introduction deals with the problem at hand?</a:t>
            </a:r>
            <a:endParaRPr/>
          </a:p>
          <a:p>
            <a:pPr indent="-317500" lvl="0" marL="457200" rtl="0" algn="l">
              <a:spcBef>
                <a:spcPts val="0"/>
              </a:spcBef>
              <a:spcAft>
                <a:spcPts val="0"/>
              </a:spcAft>
              <a:buSzPts val="1400"/>
              <a:buChar char="●"/>
            </a:pPr>
            <a:r>
              <a:rPr lang="en"/>
              <a:t>How much of the introduction deals with the proposed solution?</a:t>
            </a:r>
            <a:endParaRPr/>
          </a:p>
          <a:p>
            <a:pPr indent="-317500" lvl="0" marL="457200" rtl="0" algn="l">
              <a:spcBef>
                <a:spcPts val="0"/>
              </a:spcBef>
              <a:spcAft>
                <a:spcPts val="0"/>
              </a:spcAft>
              <a:buSzPts val="1400"/>
              <a:buChar char="●"/>
            </a:pPr>
            <a:r>
              <a:rPr lang="en"/>
              <a:t>How well do you feel the introduction sets up a compelling argument? Why?</a:t>
            </a:r>
            <a:endParaRPr/>
          </a:p>
        </p:txBody>
      </p:sp>
      <p:sp>
        <p:nvSpPr>
          <p:cNvPr id="303" name="Google Shape;303;p42"/>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Write:</a:t>
            </a:r>
            <a:endParaRPr b="1" i="1"/>
          </a:p>
          <a:p>
            <a:pPr indent="0" lvl="0" marL="0" rtl="0" algn="l">
              <a:spcBef>
                <a:spcPts val="1600"/>
              </a:spcBef>
              <a:spcAft>
                <a:spcPts val="0"/>
              </a:spcAft>
              <a:buNone/>
            </a:pPr>
            <a:r>
              <a:rPr lang="en"/>
              <a:t>Pick one aspect of introductions that we covered in this section and use it to rewrite your introduction.</a:t>
            </a:r>
            <a:endParaRPr/>
          </a:p>
          <a:p>
            <a:pPr indent="0" lvl="0" marL="0" rtl="0" algn="l">
              <a:spcBef>
                <a:spcPts val="1600"/>
              </a:spcBef>
              <a:spcAft>
                <a:spcPts val="1600"/>
              </a:spcAft>
              <a:buNone/>
            </a:pPr>
            <a:r>
              <a:rPr lang="en"/>
              <a:t>Get feedback from peers (or me) on </a:t>
            </a:r>
            <a:r>
              <a:rPr lang="en"/>
              <a:t>the</a:t>
            </a:r>
            <a:r>
              <a:rPr lang="en"/>
              <a:t> before and after to see how you can continue to strengthen your argument.</a:t>
            </a:r>
            <a:endParaRPr/>
          </a:p>
        </p:txBody>
      </p:sp>
      <p:pic>
        <p:nvPicPr>
          <p:cNvPr id="304" name="Google Shape;304;p42"/>
          <p:cNvPicPr preferRelativeResize="0"/>
          <p:nvPr/>
        </p:nvPicPr>
        <p:blipFill>
          <a:blip r:embed="rId3">
            <a:alphaModFix/>
          </a:blip>
          <a:stretch>
            <a:fillRect/>
          </a:stretch>
        </p:blipFill>
        <p:spPr>
          <a:xfrm>
            <a:off x="6683125" y="315925"/>
            <a:ext cx="2149176" cy="1422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43"/>
          <p:cNvPicPr preferRelativeResize="0"/>
          <p:nvPr/>
        </p:nvPicPr>
        <p:blipFill>
          <a:blip r:embed="rId3">
            <a:alphaModFix amt="20000"/>
          </a:blip>
          <a:stretch>
            <a:fillRect/>
          </a:stretch>
        </p:blipFill>
        <p:spPr>
          <a:xfrm>
            <a:off x="-136774" y="-643637"/>
            <a:ext cx="9417552" cy="6278374"/>
          </a:xfrm>
          <a:prstGeom prst="rect">
            <a:avLst/>
          </a:prstGeom>
          <a:noFill/>
          <a:ln>
            <a:noFill/>
          </a:ln>
        </p:spPr>
      </p:pic>
      <p:sp>
        <p:nvSpPr>
          <p:cNvPr id="310" name="Google Shape;310;p43"/>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Related Works</a:t>
            </a:r>
            <a:endParaRPr/>
          </a:p>
        </p:txBody>
      </p:sp>
      <p:sp>
        <p:nvSpPr>
          <p:cNvPr id="311" name="Google Shape;311;p43"/>
          <p:cNvSpPr txBox="1"/>
          <p:nvPr/>
        </p:nvSpPr>
        <p:spPr>
          <a:xfrm>
            <a:off x="0" y="4732875"/>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4">
                  <a:extLst>
                    <a:ext uri="{A12FA001-AC4F-418D-AE19-62706E023703}">
                      <ahyp:hlinkClr val="tx"/>
                    </a:ext>
                  </a:extLst>
                </a:hlinkClick>
              </a:rPr>
              <a:t>_Alicja_</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44"/>
          <p:cNvPicPr preferRelativeResize="0"/>
          <p:nvPr/>
        </p:nvPicPr>
        <p:blipFill>
          <a:blip r:embed="rId3">
            <a:alphaModFix amt="21000"/>
          </a:blip>
          <a:stretch>
            <a:fillRect/>
          </a:stretch>
        </p:blipFill>
        <p:spPr>
          <a:xfrm>
            <a:off x="0" y="-476254"/>
            <a:ext cx="9144000" cy="6096016"/>
          </a:xfrm>
          <a:prstGeom prst="rect">
            <a:avLst/>
          </a:prstGeom>
          <a:noFill/>
          <a:ln>
            <a:noFill/>
          </a:ln>
        </p:spPr>
      </p:pic>
      <p:sp>
        <p:nvSpPr>
          <p:cNvPr id="317" name="Google Shape;317;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Outlining Prior Approaches</a:t>
            </a:r>
            <a:endParaRPr/>
          </a:p>
        </p:txBody>
      </p:sp>
      <p:sp>
        <p:nvSpPr>
          <p:cNvPr id="318" name="Google Shape;318;p4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your related works from a humdrum list of reading you’ve done to a key part of your argument.</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Remember:</a:t>
            </a:r>
            <a:endParaRPr/>
          </a:p>
          <a:p>
            <a:pPr indent="0" lvl="0" marL="0" rtl="0" algn="l">
              <a:spcBef>
                <a:spcPts val="1600"/>
              </a:spcBef>
              <a:spcAft>
                <a:spcPts val="0"/>
              </a:spcAft>
              <a:buNone/>
            </a:pPr>
            <a:r>
              <a:rPr lang="en"/>
              <a:t>The Related Works section is a great opportunity to really solidify your argument!</a:t>
            </a:r>
            <a:endParaRPr/>
          </a:p>
          <a:p>
            <a:pPr indent="0" lvl="0" marL="0" rtl="0" algn="l">
              <a:spcBef>
                <a:spcPts val="1600"/>
              </a:spcBef>
              <a:spcAft>
                <a:spcPts val="16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Structure: Related Works Section</a:t>
            </a:r>
            <a:endParaRPr/>
          </a:p>
        </p:txBody>
      </p:sp>
      <p:grpSp>
        <p:nvGrpSpPr>
          <p:cNvPr id="324" name="Google Shape;324;p45"/>
          <p:cNvGrpSpPr/>
          <p:nvPr/>
        </p:nvGrpSpPr>
        <p:grpSpPr>
          <a:xfrm>
            <a:off x="5632317" y="1189775"/>
            <a:ext cx="3305700" cy="3483050"/>
            <a:chOff x="5632317" y="1189775"/>
            <a:chExt cx="3305700" cy="3483050"/>
          </a:xfrm>
        </p:grpSpPr>
        <p:sp>
          <p:nvSpPr>
            <p:cNvPr id="325" name="Google Shape;325;p45"/>
            <p:cNvSpPr/>
            <p:nvPr/>
          </p:nvSpPr>
          <p:spPr>
            <a:xfrm>
              <a:off x="5632317" y="1189775"/>
              <a:ext cx="3305700" cy="669000"/>
            </a:xfrm>
            <a:prstGeom prst="chevron">
              <a:avLst>
                <a:gd fmla="val 50000" name="adj"/>
              </a:avLst>
            </a:prstGeom>
            <a:solidFill>
              <a:srgbClr val="D838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3. Conclude</a:t>
              </a:r>
              <a:endParaRPr>
                <a:solidFill>
                  <a:srgbClr val="FFFFFF"/>
                </a:solidFill>
                <a:latin typeface="Roboto"/>
                <a:ea typeface="Roboto"/>
                <a:cs typeface="Roboto"/>
                <a:sym typeface="Roboto"/>
              </a:endParaRPr>
            </a:p>
          </p:txBody>
        </p:sp>
        <p:sp>
          <p:nvSpPr>
            <p:cNvPr id="326" name="Google Shape;326;p45"/>
            <p:cNvSpPr txBox="1"/>
            <p:nvPr/>
          </p:nvSpPr>
          <p:spPr>
            <a:xfrm>
              <a:off x="6167063"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Conclude the related works with approaches that are complementary to yours.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If an approach is very similar to yours, be sure to highlight the ways in which yours is an improvement.</a:t>
              </a:r>
              <a:endParaRPr sz="1200">
                <a:latin typeface="Roboto"/>
                <a:ea typeface="Roboto"/>
                <a:cs typeface="Roboto"/>
                <a:sym typeface="Roboto"/>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p:txBody>
        </p:sp>
      </p:grpSp>
      <p:grpSp>
        <p:nvGrpSpPr>
          <p:cNvPr id="327" name="Google Shape;327;p45"/>
          <p:cNvGrpSpPr/>
          <p:nvPr/>
        </p:nvGrpSpPr>
        <p:grpSpPr>
          <a:xfrm>
            <a:off x="0" y="1189989"/>
            <a:ext cx="3546900" cy="3482836"/>
            <a:chOff x="0" y="1189989"/>
            <a:chExt cx="3546900" cy="3482836"/>
          </a:xfrm>
        </p:grpSpPr>
        <p:sp>
          <p:nvSpPr>
            <p:cNvPr id="328" name="Google Shape;328;p45"/>
            <p:cNvSpPr/>
            <p:nvPr/>
          </p:nvSpPr>
          <p:spPr>
            <a:xfrm>
              <a:off x="0" y="1189989"/>
              <a:ext cx="3546900" cy="669000"/>
            </a:xfrm>
            <a:prstGeom prst="homePlate">
              <a:avLst>
                <a:gd fmla="val 50000" name="adj"/>
              </a:avLst>
            </a:prstGeom>
            <a:solidFill>
              <a:srgbClr val="802017"/>
            </a:solidFill>
            <a:ln>
              <a:noFill/>
            </a:ln>
          </p:spPr>
          <p:txBody>
            <a:bodyPr anchorCtr="0" anchor="ctr" bIns="91425" lIns="91425" spcFirstLastPara="1" rIns="91425" wrap="square" tIns="91425">
              <a:noAutofit/>
            </a:bodyPr>
            <a:lstStyle/>
            <a:p>
              <a:pPr indent="-317500" lvl="0" marL="457200" rtl="0" algn="ctr">
                <a:spcBef>
                  <a:spcPts val="0"/>
                </a:spcBef>
                <a:spcAft>
                  <a:spcPts val="0"/>
                </a:spcAft>
                <a:buClr>
                  <a:srgbClr val="FFFFFF"/>
                </a:buClr>
                <a:buSzPts val="1400"/>
                <a:buFont typeface="Roboto"/>
                <a:buAutoNum type="arabicPeriod"/>
              </a:pPr>
              <a:r>
                <a:rPr lang="en">
                  <a:solidFill>
                    <a:srgbClr val="FFFFFF"/>
                  </a:solidFill>
                  <a:latin typeface="Roboto"/>
                  <a:ea typeface="Roboto"/>
                  <a:cs typeface="Roboto"/>
                  <a:sym typeface="Roboto"/>
                </a:rPr>
                <a:t>Organize</a:t>
              </a:r>
              <a:endParaRPr>
                <a:solidFill>
                  <a:srgbClr val="FFFFFF"/>
                </a:solidFill>
                <a:latin typeface="Roboto"/>
                <a:ea typeface="Roboto"/>
                <a:cs typeface="Roboto"/>
                <a:sym typeface="Roboto"/>
              </a:endParaRPr>
            </a:p>
          </p:txBody>
        </p:sp>
        <p:sp>
          <p:nvSpPr>
            <p:cNvPr id="329" name="Google Shape;329;p45"/>
            <p:cNvSpPr txBox="1"/>
            <p:nvPr/>
          </p:nvSpPr>
          <p:spPr>
            <a:xfrm>
              <a:off x="655361"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In a sentence or two, signpost how you will be organizing this section.</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Ideally, this organization is linked to the challenges outlined in the introduction.</a:t>
              </a:r>
              <a:endParaRPr sz="1200">
                <a:latin typeface="Roboto"/>
                <a:ea typeface="Roboto"/>
                <a:cs typeface="Roboto"/>
                <a:sym typeface="Roboto"/>
              </a:endParaRPr>
            </a:p>
          </p:txBody>
        </p:sp>
      </p:grpSp>
      <p:grpSp>
        <p:nvGrpSpPr>
          <p:cNvPr id="330" name="Google Shape;330;p45"/>
          <p:cNvGrpSpPr/>
          <p:nvPr/>
        </p:nvGrpSpPr>
        <p:grpSpPr>
          <a:xfrm>
            <a:off x="2944204" y="1189775"/>
            <a:ext cx="3305700" cy="3483050"/>
            <a:chOff x="2944204" y="1189775"/>
            <a:chExt cx="3305700" cy="3483050"/>
          </a:xfrm>
        </p:grpSpPr>
        <p:sp>
          <p:nvSpPr>
            <p:cNvPr id="331" name="Google Shape;331;p45"/>
            <p:cNvSpPr/>
            <p:nvPr/>
          </p:nvSpPr>
          <p:spPr>
            <a:xfrm>
              <a:off x="2944204" y="1189775"/>
              <a:ext cx="3305700" cy="669000"/>
            </a:xfrm>
            <a:prstGeom prst="chevron">
              <a:avLst>
                <a:gd fmla="val 50000" name="adj"/>
              </a:avLst>
            </a:prstGeom>
            <a:solidFill>
              <a:srgbClr val="B02C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2. Describe</a:t>
              </a:r>
              <a:endParaRPr>
                <a:solidFill>
                  <a:srgbClr val="FFFFFF"/>
                </a:solidFill>
                <a:latin typeface="Roboto"/>
                <a:ea typeface="Roboto"/>
                <a:cs typeface="Roboto"/>
                <a:sym typeface="Roboto"/>
              </a:endParaRPr>
            </a:p>
          </p:txBody>
        </p:sp>
        <p:sp>
          <p:nvSpPr>
            <p:cNvPr id="332" name="Google Shape;332;p45"/>
            <p:cNvSpPr txBox="1"/>
            <p:nvPr/>
          </p:nvSpPr>
          <p:spPr>
            <a:xfrm>
              <a:off x="3478949"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In several paragraphs, describe </a:t>
              </a:r>
              <a:r>
                <a:rPr lang="en" sz="1200">
                  <a:latin typeface="Roboto"/>
                  <a:ea typeface="Roboto"/>
                  <a:cs typeface="Roboto"/>
                  <a:sym typeface="Roboto"/>
                </a:rPr>
                <a:t>the</a:t>
              </a:r>
              <a:r>
                <a:rPr lang="en" sz="1200">
                  <a:latin typeface="Roboto"/>
                  <a:ea typeface="Roboto"/>
                  <a:cs typeface="Roboto"/>
                  <a:sym typeface="Roboto"/>
                </a:rPr>
                <a:t> related work.</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See the next slide for a breakdown of how to structure those paragraphs.</a:t>
              </a:r>
              <a:endParaRPr sz="1200">
                <a:latin typeface="Roboto"/>
                <a:ea typeface="Roboto"/>
                <a:cs typeface="Roboto"/>
                <a:sym typeface="Roboto"/>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Structuring individual paragraphs: Related Work</a:t>
            </a:r>
            <a:endParaRPr/>
          </a:p>
        </p:txBody>
      </p:sp>
      <p:grpSp>
        <p:nvGrpSpPr>
          <p:cNvPr id="338" name="Google Shape;338;p46"/>
          <p:cNvGrpSpPr/>
          <p:nvPr/>
        </p:nvGrpSpPr>
        <p:grpSpPr>
          <a:xfrm>
            <a:off x="637083" y="1311525"/>
            <a:ext cx="7546221" cy="731700"/>
            <a:chOff x="710674" y="1323164"/>
            <a:chExt cx="7300911" cy="731700"/>
          </a:xfrm>
        </p:grpSpPr>
        <p:sp>
          <p:nvSpPr>
            <p:cNvPr id="339" name="Google Shape;339;p46"/>
            <p:cNvSpPr txBox="1"/>
            <p:nvPr/>
          </p:nvSpPr>
          <p:spPr>
            <a:xfrm>
              <a:off x="710674" y="1373350"/>
              <a:ext cx="20043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000">
                  <a:solidFill>
                    <a:srgbClr val="085631"/>
                  </a:solidFill>
                  <a:latin typeface="Roboto Medium"/>
                  <a:ea typeface="Roboto Medium"/>
                  <a:cs typeface="Roboto Medium"/>
                  <a:sym typeface="Roboto Medium"/>
                </a:rPr>
                <a:t>1st half</a:t>
              </a:r>
              <a:endParaRPr sz="4000">
                <a:solidFill>
                  <a:srgbClr val="085631"/>
                </a:solidFill>
                <a:latin typeface="Roboto Medium"/>
                <a:ea typeface="Roboto Medium"/>
                <a:cs typeface="Roboto Medium"/>
                <a:sym typeface="Roboto Medium"/>
              </a:endParaRPr>
            </a:p>
          </p:txBody>
        </p:sp>
        <p:sp>
          <p:nvSpPr>
            <p:cNvPr id="340" name="Google Shape;340;p46"/>
            <p:cNvSpPr/>
            <p:nvPr/>
          </p:nvSpPr>
          <p:spPr>
            <a:xfrm>
              <a:off x="2789785" y="1323164"/>
              <a:ext cx="5221800" cy="731700"/>
            </a:xfrm>
            <a:prstGeom prst="rect">
              <a:avLst/>
            </a:prstGeom>
            <a:solidFill>
              <a:srgbClr val="08563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46"/>
            <p:cNvSpPr txBox="1"/>
            <p:nvPr/>
          </p:nvSpPr>
          <p:spPr>
            <a:xfrm>
              <a:off x="2914389" y="1407440"/>
              <a:ext cx="4765800" cy="575400"/>
            </a:xfrm>
            <a:prstGeom prst="rect">
              <a:avLst/>
            </a:prstGeom>
            <a:noFill/>
            <a:ln>
              <a:noFill/>
            </a:ln>
          </p:spPr>
          <p:txBody>
            <a:bodyPr anchorCtr="0" anchor="ctr" bIns="45700" lIns="91425" spcFirstLastPara="1" rIns="91425" wrap="square" tIns="45700">
              <a:noAutofit/>
            </a:bodyPr>
            <a:lstStyle/>
            <a:p>
              <a:pPr indent="-304800" lvl="0" marL="457200" rtl="0" algn="l">
                <a:lnSpc>
                  <a:spcPct val="115000"/>
                </a:lnSpc>
                <a:spcBef>
                  <a:spcPts val="0"/>
                </a:spcBef>
                <a:spcAft>
                  <a:spcPts val="0"/>
                </a:spcAft>
                <a:buClr>
                  <a:srgbClr val="FFFFFF"/>
                </a:buClr>
                <a:buSzPts val="1200"/>
                <a:buFont typeface="Roboto"/>
                <a:buChar char="●"/>
              </a:pPr>
              <a:r>
                <a:rPr lang="en" sz="1200">
                  <a:solidFill>
                    <a:srgbClr val="FFFFFF"/>
                  </a:solidFill>
                  <a:latin typeface="Roboto"/>
                  <a:ea typeface="Roboto"/>
                  <a:cs typeface="Roboto"/>
                  <a:sym typeface="Roboto"/>
                </a:rPr>
                <a:t>High level overview of prior approach(es)</a:t>
              </a:r>
              <a:endParaRPr sz="1200">
                <a:solidFill>
                  <a:srgbClr val="FFFFFF"/>
                </a:solidFill>
                <a:latin typeface="Roboto"/>
                <a:ea typeface="Roboto"/>
                <a:cs typeface="Roboto"/>
                <a:sym typeface="Roboto"/>
              </a:endParaRPr>
            </a:p>
            <a:p>
              <a:pPr indent="-304800" lvl="0" marL="457200" rtl="0" algn="l">
                <a:lnSpc>
                  <a:spcPct val="115000"/>
                </a:lnSpc>
                <a:spcBef>
                  <a:spcPts val="0"/>
                </a:spcBef>
                <a:spcAft>
                  <a:spcPts val="0"/>
                </a:spcAft>
                <a:buClr>
                  <a:srgbClr val="FFFFFF"/>
                </a:buClr>
                <a:buSzPts val="1200"/>
                <a:buFont typeface="Roboto"/>
                <a:buChar char="●"/>
              </a:pPr>
              <a:r>
                <a:rPr lang="en" sz="1200">
                  <a:solidFill>
                    <a:srgbClr val="FFFFFF"/>
                  </a:solidFill>
                  <a:latin typeface="Roboto"/>
                  <a:ea typeface="Roboto"/>
                  <a:cs typeface="Roboto"/>
                  <a:sym typeface="Roboto"/>
                </a:rPr>
                <a:t>Focus on aspects of the approach that are different from yours</a:t>
              </a:r>
              <a:endParaRPr sz="1200">
                <a:solidFill>
                  <a:srgbClr val="FFFFFF"/>
                </a:solidFill>
                <a:latin typeface="Roboto"/>
                <a:ea typeface="Roboto"/>
                <a:cs typeface="Roboto"/>
                <a:sym typeface="Roboto"/>
              </a:endParaRPr>
            </a:p>
          </p:txBody>
        </p:sp>
      </p:grpSp>
      <p:grpSp>
        <p:nvGrpSpPr>
          <p:cNvPr id="342" name="Google Shape;342;p46"/>
          <p:cNvGrpSpPr/>
          <p:nvPr/>
        </p:nvGrpSpPr>
        <p:grpSpPr>
          <a:xfrm>
            <a:off x="7" y="2207525"/>
            <a:ext cx="7650080" cy="731700"/>
            <a:chOff x="7" y="2207525"/>
            <a:chExt cx="7650080" cy="731700"/>
          </a:xfrm>
        </p:grpSpPr>
        <p:sp>
          <p:nvSpPr>
            <p:cNvPr id="343" name="Google Shape;343;p46"/>
            <p:cNvSpPr txBox="1"/>
            <p:nvPr/>
          </p:nvSpPr>
          <p:spPr>
            <a:xfrm>
              <a:off x="7" y="2257725"/>
              <a:ext cx="27153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000">
                  <a:solidFill>
                    <a:srgbClr val="0B7140"/>
                  </a:solidFill>
                  <a:latin typeface="Roboto Medium"/>
                  <a:ea typeface="Roboto Medium"/>
                  <a:cs typeface="Roboto Medium"/>
                  <a:sym typeface="Roboto Medium"/>
                </a:rPr>
                <a:t>Transition</a:t>
              </a:r>
              <a:endParaRPr sz="4000">
                <a:solidFill>
                  <a:srgbClr val="0B7140"/>
                </a:solidFill>
                <a:latin typeface="Roboto Medium"/>
                <a:ea typeface="Roboto Medium"/>
                <a:cs typeface="Roboto Medium"/>
                <a:sym typeface="Roboto Medium"/>
              </a:endParaRPr>
            </a:p>
          </p:txBody>
        </p:sp>
        <p:sp>
          <p:nvSpPr>
            <p:cNvPr id="344" name="Google Shape;344;p46"/>
            <p:cNvSpPr/>
            <p:nvPr/>
          </p:nvSpPr>
          <p:spPr>
            <a:xfrm>
              <a:off x="2789787" y="2207525"/>
              <a:ext cx="4860300" cy="731700"/>
            </a:xfrm>
            <a:prstGeom prst="rect">
              <a:avLst/>
            </a:prstGeom>
            <a:solidFill>
              <a:srgbClr val="0B714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46"/>
            <p:cNvSpPr txBox="1"/>
            <p:nvPr/>
          </p:nvSpPr>
          <p:spPr>
            <a:xfrm>
              <a:off x="2914387" y="2414096"/>
              <a:ext cx="43731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a:solidFill>
                    <a:srgbClr val="FFFFFF"/>
                  </a:solidFill>
                  <a:latin typeface="Roboto"/>
                  <a:ea typeface="Roboto"/>
                  <a:cs typeface="Roboto"/>
                  <a:sym typeface="Roboto"/>
                </a:rPr>
                <a:t>However        But        In contrast        Unfortunately</a:t>
              </a:r>
              <a:endParaRPr>
                <a:solidFill>
                  <a:srgbClr val="FFFFFF"/>
                </a:solidFill>
                <a:latin typeface="Roboto"/>
                <a:ea typeface="Roboto"/>
                <a:cs typeface="Roboto"/>
                <a:sym typeface="Roboto"/>
              </a:endParaRPr>
            </a:p>
          </p:txBody>
        </p:sp>
      </p:grpSp>
      <p:grpSp>
        <p:nvGrpSpPr>
          <p:cNvPr id="346" name="Google Shape;346;p46"/>
          <p:cNvGrpSpPr/>
          <p:nvPr/>
        </p:nvGrpSpPr>
        <p:grpSpPr>
          <a:xfrm>
            <a:off x="637072" y="3088625"/>
            <a:ext cx="6758048" cy="731700"/>
            <a:chOff x="637075" y="3088625"/>
            <a:chExt cx="6650313" cy="731700"/>
          </a:xfrm>
        </p:grpSpPr>
        <p:sp>
          <p:nvSpPr>
            <p:cNvPr id="347" name="Google Shape;347;p46"/>
            <p:cNvSpPr txBox="1"/>
            <p:nvPr/>
          </p:nvSpPr>
          <p:spPr>
            <a:xfrm>
              <a:off x="637075" y="3138825"/>
              <a:ext cx="20778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000">
                  <a:solidFill>
                    <a:srgbClr val="0B7743"/>
                  </a:solidFill>
                  <a:latin typeface="Roboto Medium"/>
                  <a:ea typeface="Roboto Medium"/>
                  <a:cs typeface="Roboto Medium"/>
                  <a:sym typeface="Roboto Medium"/>
                </a:rPr>
                <a:t>2nd half</a:t>
              </a:r>
              <a:endParaRPr sz="4000">
                <a:solidFill>
                  <a:srgbClr val="0B7743"/>
                </a:solidFill>
                <a:latin typeface="Roboto Medium"/>
                <a:ea typeface="Roboto Medium"/>
                <a:cs typeface="Roboto Medium"/>
                <a:sym typeface="Roboto Medium"/>
              </a:endParaRPr>
            </a:p>
          </p:txBody>
        </p:sp>
        <p:sp>
          <p:nvSpPr>
            <p:cNvPr id="348" name="Google Shape;348;p46"/>
            <p:cNvSpPr/>
            <p:nvPr/>
          </p:nvSpPr>
          <p:spPr>
            <a:xfrm>
              <a:off x="2789787" y="3088625"/>
              <a:ext cx="4497600" cy="731700"/>
            </a:xfrm>
            <a:prstGeom prst="rect">
              <a:avLst/>
            </a:prstGeom>
            <a:solidFill>
              <a:srgbClr val="0B774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46"/>
            <p:cNvSpPr txBox="1"/>
            <p:nvPr/>
          </p:nvSpPr>
          <p:spPr>
            <a:xfrm>
              <a:off x="2914388" y="3295180"/>
              <a:ext cx="3849900" cy="330600"/>
            </a:xfrm>
            <a:prstGeom prst="rect">
              <a:avLst/>
            </a:prstGeom>
            <a:noFill/>
            <a:ln>
              <a:noFill/>
            </a:ln>
          </p:spPr>
          <p:txBody>
            <a:bodyPr anchorCtr="0" anchor="ctr" bIns="45700" lIns="91425" spcFirstLastPara="1" rIns="91425" wrap="square" tIns="45700">
              <a:noAutofit/>
            </a:bodyPr>
            <a:lstStyle/>
            <a:p>
              <a:pPr indent="-304800" lvl="0" marL="457200" rtl="0" algn="l">
                <a:lnSpc>
                  <a:spcPct val="115000"/>
                </a:lnSpc>
                <a:spcBef>
                  <a:spcPts val="0"/>
                </a:spcBef>
                <a:spcAft>
                  <a:spcPts val="0"/>
                </a:spcAft>
                <a:buClr>
                  <a:srgbClr val="FFFFFF"/>
                </a:buClr>
                <a:buSzPts val="1200"/>
                <a:buFont typeface="Roboto"/>
                <a:buChar char="●"/>
              </a:pPr>
              <a:r>
                <a:rPr lang="en" sz="1200">
                  <a:solidFill>
                    <a:srgbClr val="FFFFFF"/>
                  </a:solidFill>
                  <a:latin typeface="Roboto"/>
                  <a:ea typeface="Roboto"/>
                  <a:cs typeface="Roboto"/>
                  <a:sym typeface="Roboto"/>
                </a:rPr>
                <a:t>Limitation(s) of the prior approach</a:t>
              </a:r>
              <a:endParaRPr sz="1200">
                <a:solidFill>
                  <a:srgbClr val="FFFFFF"/>
                </a:solidFill>
                <a:latin typeface="Roboto"/>
                <a:ea typeface="Roboto"/>
                <a:cs typeface="Roboto"/>
                <a:sym typeface="Roboto"/>
              </a:endParaRPr>
            </a:p>
            <a:p>
              <a:pPr indent="-304800" lvl="0" marL="457200" rtl="0" algn="l">
                <a:lnSpc>
                  <a:spcPct val="115000"/>
                </a:lnSpc>
                <a:spcBef>
                  <a:spcPts val="0"/>
                </a:spcBef>
                <a:spcAft>
                  <a:spcPts val="0"/>
                </a:spcAft>
                <a:buClr>
                  <a:srgbClr val="FFFFFF"/>
                </a:buClr>
                <a:buSzPts val="1200"/>
                <a:buFont typeface="Roboto"/>
                <a:buChar char="●"/>
              </a:pPr>
              <a:r>
                <a:rPr lang="en" sz="1200">
                  <a:solidFill>
                    <a:srgbClr val="FFFFFF"/>
                  </a:solidFill>
                  <a:latin typeface="Roboto"/>
                  <a:ea typeface="Roboto"/>
                  <a:cs typeface="Roboto"/>
                  <a:sym typeface="Roboto"/>
                </a:rPr>
                <a:t>Better: Include how you address the limitation</a:t>
              </a:r>
              <a:endParaRPr sz="1200">
                <a:solidFill>
                  <a:srgbClr val="FFFFFF"/>
                </a:solidFill>
                <a:latin typeface="Roboto"/>
                <a:ea typeface="Roboto"/>
                <a:cs typeface="Roboto"/>
                <a:sym typeface="Roboto"/>
              </a:endParaRPr>
            </a:p>
            <a:p>
              <a:pPr indent="-304800" lvl="0" marL="457200" rtl="0" algn="l">
                <a:lnSpc>
                  <a:spcPct val="115000"/>
                </a:lnSpc>
                <a:spcBef>
                  <a:spcPts val="0"/>
                </a:spcBef>
                <a:spcAft>
                  <a:spcPts val="0"/>
                </a:spcAft>
                <a:buClr>
                  <a:srgbClr val="FFFFFF"/>
                </a:buClr>
                <a:buSzPts val="1200"/>
                <a:buFont typeface="Roboto"/>
                <a:buChar char="●"/>
              </a:pPr>
              <a:r>
                <a:rPr lang="en" sz="1200">
                  <a:solidFill>
                    <a:srgbClr val="FFFFFF"/>
                  </a:solidFill>
                  <a:latin typeface="Roboto"/>
                  <a:ea typeface="Roboto"/>
                  <a:cs typeface="Roboto"/>
                  <a:sym typeface="Roboto"/>
                </a:rPr>
                <a:t>Best: Include an insight</a:t>
              </a:r>
              <a:endParaRPr sz="1200">
                <a:solidFill>
                  <a:srgbClr val="FFFFFF"/>
                </a:solidFill>
                <a:latin typeface="Roboto"/>
                <a:ea typeface="Roboto"/>
                <a:cs typeface="Roboto"/>
                <a:sym typeface="Roboto"/>
              </a:endParaRPr>
            </a:p>
          </p:txBody>
        </p:sp>
      </p:grpSp>
      <p:sp>
        <p:nvSpPr>
          <p:cNvPr id="350" name="Google Shape;350;p46"/>
          <p:cNvSpPr txBox="1"/>
          <p:nvPr/>
        </p:nvSpPr>
        <p:spPr>
          <a:xfrm>
            <a:off x="311700" y="4304100"/>
            <a:ext cx="85206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Note: You won’t necessarily structure each of your paragraphs using this model, but in strong papers, the majority of the related works paragraphs are structured in this fashion.</a:t>
            </a:r>
            <a:endParaRPr>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example: Breaking down a paragraph</a:t>
            </a:r>
            <a:endParaRPr/>
          </a:p>
        </p:txBody>
      </p:sp>
      <p:sp>
        <p:nvSpPr>
          <p:cNvPr id="356" name="Google Shape;356;p4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0"/>
              </a:spcBef>
              <a:spcAft>
                <a:spcPts val="0"/>
              </a:spcAft>
              <a:buNone/>
            </a:pPr>
            <a:r>
              <a:rPr lang="en" sz="1200"/>
              <a:t>From: </a:t>
            </a:r>
            <a:r>
              <a:rPr lang="en" sz="1200" u="sng">
                <a:solidFill>
                  <a:schemeClr val="hlink"/>
                </a:solidFill>
                <a:hlinkClick r:id="rId3"/>
              </a:rPr>
              <a:t>AsmDB</a:t>
            </a:r>
            <a:r>
              <a:rPr lang="en" sz="1200"/>
              <a:t> (underlining mine)</a:t>
            </a:r>
            <a:endParaRPr sz="1200"/>
          </a:p>
          <a:p>
            <a:pPr indent="0" lvl="0" marL="0" rtl="0" algn="l">
              <a:spcBef>
                <a:spcPts val="0"/>
              </a:spcBef>
              <a:spcAft>
                <a:spcPts val="1600"/>
              </a:spcAft>
              <a:buNone/>
            </a:pPr>
            <a:r>
              <a:t/>
            </a:r>
            <a:endParaRPr/>
          </a:p>
        </p:txBody>
      </p:sp>
      <p:graphicFrame>
        <p:nvGraphicFramePr>
          <p:cNvPr id="357" name="Google Shape;357;p47"/>
          <p:cNvGraphicFramePr/>
          <p:nvPr/>
        </p:nvGraphicFramePr>
        <p:xfrm>
          <a:off x="311700" y="1147213"/>
          <a:ext cx="3000000" cy="3000000"/>
        </p:xfrm>
        <a:graphic>
          <a:graphicData uri="http://schemas.openxmlformats.org/drawingml/2006/table">
            <a:tbl>
              <a:tblPr>
                <a:noFill/>
                <a:tableStyleId>{A1FEDFCD-BC42-4225-886D-6D3858ECF4EA}</a:tableStyleId>
              </a:tblPr>
              <a:tblGrid>
                <a:gridCol w="6321450"/>
                <a:gridCol w="2199150"/>
              </a:tblGrid>
              <a:tr h="381000">
                <a:tc>
                  <a:txBody>
                    <a:bodyPr/>
                    <a:lstStyle/>
                    <a:p>
                      <a:pPr indent="0" lvl="0" marL="0" rtl="0" algn="l">
                        <a:spcBef>
                          <a:spcPts val="0"/>
                        </a:spcBef>
                        <a:spcAft>
                          <a:spcPts val="0"/>
                        </a:spcAft>
                        <a:buNone/>
                      </a:pPr>
                      <a:r>
                        <a:rPr b="1" lang="en" sz="1200">
                          <a:latin typeface="Open Sans"/>
                          <a:ea typeface="Open Sans"/>
                          <a:cs typeface="Open Sans"/>
                          <a:sym typeface="Open Sans"/>
                        </a:rPr>
                        <a:t>Sentence </a:t>
                      </a:r>
                      <a:endParaRPr b="1" sz="12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b="1" lang="en" sz="1200">
                          <a:latin typeface="Open Sans"/>
                          <a:ea typeface="Open Sans"/>
                          <a:cs typeface="Open Sans"/>
                          <a:sym typeface="Open Sans"/>
                        </a:rPr>
                        <a:t>Function</a:t>
                      </a:r>
                      <a:endParaRPr b="1" sz="1200">
                        <a:latin typeface="Open Sans"/>
                        <a:ea typeface="Open Sans"/>
                        <a:cs typeface="Open Sans"/>
                        <a:sym typeface="Open Sans"/>
                      </a:endParaRPr>
                    </a:p>
                  </a:txBody>
                  <a:tcPr marT="91425" marB="91425" marR="91425" marL="91425"/>
                </a:tc>
              </a:tr>
              <a:tr h="381000">
                <a:tc>
                  <a:txBody>
                    <a:bodyPr/>
                    <a:lstStyle/>
                    <a:p>
                      <a:pPr indent="0" lvl="0" marL="0" rtl="0" algn="l">
                        <a:lnSpc>
                          <a:spcPct val="115000"/>
                        </a:lnSpc>
                        <a:spcBef>
                          <a:spcPts val="0"/>
                        </a:spcBef>
                        <a:spcAft>
                          <a:spcPts val="1600"/>
                        </a:spcAft>
                        <a:buClr>
                          <a:schemeClr val="dk1"/>
                        </a:buClr>
                        <a:buSzPts val="1100"/>
                        <a:buFont typeface="Arial"/>
                        <a:buNone/>
                      </a:pPr>
                      <a:r>
                        <a:rPr i="1" lang="en" sz="1200">
                          <a:solidFill>
                            <a:schemeClr val="dk1"/>
                          </a:solidFill>
                          <a:latin typeface="Open Sans"/>
                          <a:ea typeface="Open Sans"/>
                          <a:cs typeface="Open Sans"/>
                          <a:sym typeface="Open Sans"/>
                        </a:rPr>
                        <a:t>Front-end prefetching.</a:t>
                      </a:r>
                      <a:endParaRPr sz="12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200">
                          <a:latin typeface="Open Sans"/>
                          <a:ea typeface="Open Sans"/>
                          <a:cs typeface="Open Sans"/>
                          <a:sym typeface="Open Sans"/>
                        </a:rPr>
                        <a:t>Mini-heading organizes related work</a:t>
                      </a:r>
                      <a:endParaRPr sz="1200">
                        <a:latin typeface="Open Sans"/>
                        <a:ea typeface="Open Sans"/>
                        <a:cs typeface="Open Sans"/>
                        <a:sym typeface="Open Sans"/>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Researchers have proposed a number of prefetching techniques for reducing front-end stalls. Temporal streaming prefetchers capture and replay instruction sequences with high accuracy. </a:t>
                      </a:r>
                      <a:endParaRPr sz="12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200">
                          <a:latin typeface="Open Sans"/>
                          <a:ea typeface="Open Sans"/>
                          <a:cs typeface="Open Sans"/>
                          <a:sym typeface="Open Sans"/>
                        </a:rPr>
                        <a:t>High level overview of prior approaches</a:t>
                      </a:r>
                      <a:endParaRPr sz="1200">
                        <a:latin typeface="Open Sans"/>
                        <a:ea typeface="Open Sans"/>
                        <a:cs typeface="Open Sans"/>
                        <a:sym typeface="Open Sans"/>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sz="1200" u="sng">
                          <a:solidFill>
                            <a:schemeClr val="dk1"/>
                          </a:solidFill>
                          <a:latin typeface="Open Sans"/>
                          <a:ea typeface="Open Sans"/>
                          <a:cs typeface="Open Sans"/>
                          <a:sym typeface="Open Sans"/>
                        </a:rPr>
                        <a:t>However</a:t>
                      </a:r>
                      <a:r>
                        <a:rPr lang="en" sz="1200">
                          <a:solidFill>
                            <a:schemeClr val="dk1"/>
                          </a:solidFill>
                          <a:latin typeface="Open Sans"/>
                          <a:ea typeface="Open Sans"/>
                          <a:cs typeface="Open Sans"/>
                          <a:sym typeface="Open Sans"/>
                        </a:rPr>
                        <a:t>, they typically have enormous on-chip storage costs in the range of hundreds of kilobytes per core or per chip.</a:t>
                      </a:r>
                      <a:endParaRPr sz="1200">
                        <a:solidFill>
                          <a:schemeClr val="dk1"/>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200">
                          <a:latin typeface="Open Sans"/>
                          <a:ea typeface="Open Sans"/>
                          <a:cs typeface="Open Sans"/>
                          <a:sym typeface="Open Sans"/>
                        </a:rPr>
                        <a:t>HOWEVER + limitation of prior approach</a:t>
                      </a:r>
                      <a:endParaRPr sz="1200">
                        <a:latin typeface="Open Sans"/>
                        <a:ea typeface="Open Sans"/>
                        <a:cs typeface="Open Sans"/>
                        <a:sym typeface="Open Sans"/>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Recent streaming prefetchers have reduced the required amount of on-chip storage. </a:t>
                      </a:r>
                      <a:endParaRPr sz="1200" u="sng">
                        <a:solidFill>
                          <a:schemeClr val="dk1"/>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200">
                          <a:latin typeface="Open Sans"/>
                          <a:ea typeface="Open Sans"/>
                          <a:cs typeface="Open Sans"/>
                          <a:sym typeface="Open Sans"/>
                        </a:rPr>
                        <a:t>High level: address limitation</a:t>
                      </a:r>
                      <a:endParaRPr sz="1200">
                        <a:latin typeface="Open Sans"/>
                        <a:ea typeface="Open Sans"/>
                        <a:cs typeface="Open Sans"/>
                        <a:sym typeface="Open Sans"/>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sz="1200" u="sng">
                          <a:solidFill>
                            <a:schemeClr val="dk1"/>
                          </a:solidFill>
                          <a:latin typeface="Open Sans"/>
                          <a:ea typeface="Open Sans"/>
                          <a:cs typeface="Open Sans"/>
                          <a:sym typeface="Open Sans"/>
                        </a:rPr>
                        <a:t>However</a:t>
                      </a:r>
                      <a:r>
                        <a:rPr lang="en" sz="1200">
                          <a:solidFill>
                            <a:schemeClr val="dk1"/>
                          </a:solidFill>
                          <a:latin typeface="Open Sans"/>
                          <a:ea typeface="Open Sans"/>
                          <a:cs typeface="Open Sans"/>
                          <a:sym typeface="Open Sans"/>
                        </a:rPr>
                        <a:t>, they still require several megabytes of total chip storage, making them difficult to implement in commercial processors.</a:t>
                      </a:r>
                      <a:endParaRPr sz="1200">
                        <a:solidFill>
                          <a:schemeClr val="dk1"/>
                        </a:solidFill>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200">
                          <a:latin typeface="Open Sans"/>
                          <a:ea typeface="Open Sans"/>
                          <a:cs typeface="Open Sans"/>
                          <a:sym typeface="Open Sans"/>
                        </a:rPr>
                        <a:t>HOWEVER + limitation (and real-world implication)</a:t>
                      </a:r>
                      <a:endParaRPr sz="1200">
                        <a:latin typeface="Open Sans"/>
                        <a:ea typeface="Open Sans"/>
                        <a:cs typeface="Open Sans"/>
                        <a:sym typeface="Open Sans"/>
                      </a:endParaRPr>
                    </a:p>
                  </a:txBody>
                  <a:tcPr marT="91425" marB="91425" marR="91425" marL="91425"/>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48"/>
          <p:cNvPicPr preferRelativeResize="0"/>
          <p:nvPr/>
        </p:nvPicPr>
        <p:blipFill>
          <a:blip r:embed="rId3">
            <a:alphaModFix amt="28000"/>
          </a:blip>
          <a:stretch>
            <a:fillRect/>
          </a:stretch>
        </p:blipFill>
        <p:spPr>
          <a:xfrm>
            <a:off x="0" y="-476250"/>
            <a:ext cx="9144000" cy="6096000"/>
          </a:xfrm>
          <a:prstGeom prst="rect">
            <a:avLst/>
          </a:prstGeom>
          <a:noFill/>
          <a:ln>
            <a:noFill/>
          </a:ln>
        </p:spPr>
      </p:pic>
      <p:sp>
        <p:nvSpPr>
          <p:cNvPr id="363" name="Google Shape;363;p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See what I mean?</a:t>
            </a:r>
            <a:endParaRPr/>
          </a:p>
        </p:txBody>
      </p:sp>
      <p:sp>
        <p:nvSpPr>
          <p:cNvPr id="364" name="Google Shape;364;p4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out the related works section of </a:t>
            </a:r>
            <a:r>
              <a:rPr lang="en" u="sng">
                <a:solidFill>
                  <a:schemeClr val="hlink"/>
                </a:solidFill>
                <a:hlinkClick r:id="rId4"/>
              </a:rPr>
              <a:t>D-RaNGe</a:t>
            </a:r>
            <a:r>
              <a:rPr lang="en"/>
              <a:t>, </a:t>
            </a:r>
            <a:r>
              <a:rPr lang="en" u="sng">
                <a:solidFill>
                  <a:schemeClr val="hlink"/>
                </a:solidFill>
                <a:hlinkClick r:id="rId5"/>
              </a:rPr>
              <a:t>SmoothOperator</a:t>
            </a:r>
            <a:r>
              <a:rPr lang="en"/>
              <a:t> and </a:t>
            </a:r>
            <a:r>
              <a:rPr lang="en" u="sng">
                <a:solidFill>
                  <a:schemeClr val="hlink"/>
                </a:solidFill>
                <a:hlinkClick r:id="rId6"/>
              </a:rPr>
              <a:t>AsmDB</a:t>
            </a:r>
            <a:r>
              <a:rPr lang="en"/>
              <a:t>.</a:t>
            </a:r>
            <a:endParaRPr/>
          </a:p>
          <a:p>
            <a:pPr indent="-342900" lvl="0" marL="457200" rtl="0" algn="l">
              <a:spcBef>
                <a:spcPts val="1600"/>
              </a:spcBef>
              <a:spcAft>
                <a:spcPts val="0"/>
              </a:spcAft>
              <a:buSzPts val="1800"/>
              <a:buChar char="●"/>
            </a:pPr>
            <a:r>
              <a:rPr lang="en"/>
              <a:t>How closely do they conform to the structure listed above?</a:t>
            </a:r>
            <a:endParaRPr/>
          </a:p>
          <a:p>
            <a:pPr indent="-342900" lvl="0" marL="457200" rtl="0" algn="l">
              <a:spcBef>
                <a:spcPts val="0"/>
              </a:spcBef>
              <a:spcAft>
                <a:spcPts val="0"/>
              </a:spcAft>
              <a:buSzPts val="1800"/>
              <a:buChar char="●"/>
            </a:pPr>
            <a:r>
              <a:rPr lang="en"/>
              <a:t>How does the structure impact their argument?</a:t>
            </a:r>
            <a:endParaRPr/>
          </a:p>
          <a:p>
            <a:pPr indent="0" lvl="0" marL="0" rtl="0" algn="l">
              <a:spcBef>
                <a:spcPts val="1600"/>
              </a:spcBef>
              <a:spcAft>
                <a:spcPts val="0"/>
              </a:spcAft>
              <a:buNone/>
            </a:pPr>
            <a:r>
              <a:rPr lang="en"/>
              <a:t>Check out a different approach to related works in </a:t>
            </a:r>
            <a:r>
              <a:rPr lang="en" u="sng">
                <a:solidFill>
                  <a:schemeClr val="hlink"/>
                </a:solidFill>
                <a:hlinkClick r:id="rId7"/>
              </a:rPr>
              <a:t>CapMaestro</a:t>
            </a:r>
            <a:r>
              <a:rPr lang="en"/>
              <a:t>.</a:t>
            </a:r>
            <a:endParaRPr/>
          </a:p>
          <a:p>
            <a:pPr indent="-342900" lvl="0" marL="457200" rtl="0" algn="l">
              <a:spcBef>
                <a:spcPts val="1600"/>
              </a:spcBef>
              <a:spcAft>
                <a:spcPts val="0"/>
              </a:spcAft>
              <a:buSzPts val="1800"/>
              <a:buChar char="●"/>
            </a:pPr>
            <a:r>
              <a:rPr lang="en"/>
              <a:t>What similarities do you see between the two structures?</a:t>
            </a:r>
            <a:endParaRPr/>
          </a:p>
          <a:p>
            <a:pPr indent="-342900" lvl="0" marL="457200" rtl="0" algn="l">
              <a:spcBef>
                <a:spcPts val="0"/>
              </a:spcBef>
              <a:spcAft>
                <a:spcPts val="0"/>
              </a:spcAft>
              <a:buSzPts val="1800"/>
              <a:buChar char="●"/>
            </a:pPr>
            <a:r>
              <a:rPr lang="en"/>
              <a:t>What type of information is in this RW section that isn’t present in the structure outlined above?</a:t>
            </a:r>
            <a:endParaRPr/>
          </a:p>
          <a:p>
            <a:pPr indent="0" lvl="0" marL="0" rtl="0" algn="l">
              <a:spcBef>
                <a:spcPts val="1600"/>
              </a:spcBef>
              <a:spcAft>
                <a:spcPts val="1600"/>
              </a:spcAft>
              <a:buNone/>
            </a:pPr>
            <a:r>
              <a:rPr lang="en"/>
              <a:t>For all three papers: what transitions do the authors use and where?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Over to you: Related Works</a:t>
            </a:r>
            <a:endParaRPr/>
          </a:p>
        </p:txBody>
      </p:sp>
      <p:sp>
        <p:nvSpPr>
          <p:cNvPr id="370" name="Google Shape;370;p49"/>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Read:</a:t>
            </a:r>
            <a:endParaRPr b="1" i="1"/>
          </a:p>
          <a:p>
            <a:pPr indent="0" lvl="0" marL="0" rtl="0" algn="l">
              <a:spcBef>
                <a:spcPts val="1600"/>
              </a:spcBef>
              <a:spcAft>
                <a:spcPts val="0"/>
              </a:spcAft>
              <a:buNone/>
            </a:pPr>
            <a:r>
              <a:rPr lang="en"/>
              <a:t>In the paper you’re reading:</a:t>
            </a:r>
            <a:endParaRPr/>
          </a:p>
          <a:p>
            <a:pPr indent="-317500" lvl="0" marL="457200" rtl="0" algn="l">
              <a:spcBef>
                <a:spcPts val="1600"/>
              </a:spcBef>
              <a:spcAft>
                <a:spcPts val="0"/>
              </a:spcAft>
              <a:buSzPts val="1400"/>
              <a:buChar char="●"/>
            </a:pPr>
            <a:r>
              <a:rPr lang="en"/>
              <a:t>How do the authors introduce and organize the related work?</a:t>
            </a:r>
            <a:endParaRPr/>
          </a:p>
          <a:p>
            <a:pPr indent="-317500" lvl="0" marL="457200" rtl="0" algn="l">
              <a:spcBef>
                <a:spcPts val="0"/>
              </a:spcBef>
              <a:spcAft>
                <a:spcPts val="0"/>
              </a:spcAft>
              <a:buSzPts val="1400"/>
              <a:buChar char="●"/>
            </a:pPr>
            <a:r>
              <a:rPr lang="en"/>
              <a:t>How is the related works section structured? </a:t>
            </a:r>
            <a:r>
              <a:rPr lang="en"/>
              <a:t>Do the paragraphs read as interesting or too repetitive?</a:t>
            </a:r>
            <a:endParaRPr/>
          </a:p>
          <a:p>
            <a:pPr indent="-317500" lvl="0" marL="457200" rtl="0" algn="l">
              <a:spcBef>
                <a:spcPts val="0"/>
              </a:spcBef>
              <a:spcAft>
                <a:spcPts val="0"/>
              </a:spcAft>
              <a:buSzPts val="1400"/>
              <a:buChar char="●"/>
            </a:pPr>
            <a:r>
              <a:rPr lang="en"/>
              <a:t>How do the transitions strengthen the argument? Where are more transitions needed? </a:t>
            </a:r>
            <a:endParaRPr/>
          </a:p>
          <a:p>
            <a:pPr indent="-317500" lvl="0" marL="457200" rtl="0" algn="l">
              <a:spcBef>
                <a:spcPts val="0"/>
              </a:spcBef>
              <a:spcAft>
                <a:spcPts val="0"/>
              </a:spcAft>
              <a:buSzPts val="1400"/>
              <a:buChar char="●"/>
            </a:pPr>
            <a:r>
              <a:rPr lang="en"/>
              <a:t>How do the authors portray the limits of prior work?</a:t>
            </a:r>
            <a:endParaRPr/>
          </a:p>
        </p:txBody>
      </p:sp>
      <p:sp>
        <p:nvSpPr>
          <p:cNvPr id="371" name="Google Shape;371;p49"/>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Write:</a:t>
            </a:r>
            <a:endParaRPr b="1" i="1"/>
          </a:p>
          <a:p>
            <a:pPr indent="0" lvl="0" marL="0" rtl="0" algn="l">
              <a:spcBef>
                <a:spcPts val="1600"/>
              </a:spcBef>
              <a:spcAft>
                <a:spcPts val="0"/>
              </a:spcAft>
              <a:buNone/>
            </a:pPr>
            <a:r>
              <a:rPr lang="en"/>
              <a:t>In the paper you’re writing:</a:t>
            </a:r>
            <a:endParaRPr/>
          </a:p>
          <a:p>
            <a:pPr indent="-317500" lvl="0" marL="457200" rtl="0" algn="l">
              <a:spcBef>
                <a:spcPts val="1600"/>
              </a:spcBef>
              <a:spcAft>
                <a:spcPts val="0"/>
              </a:spcAft>
              <a:buSzPts val="1400"/>
              <a:buChar char="●"/>
            </a:pPr>
            <a:r>
              <a:rPr lang="en"/>
              <a:t>If you don’t already have it, how can you organize your related work into a small number of overarching ideas? How does that link to your introduction (and, if appropriate, the background section)?</a:t>
            </a:r>
            <a:endParaRPr/>
          </a:p>
          <a:p>
            <a:pPr indent="-317500" lvl="0" marL="457200" rtl="0" algn="l">
              <a:spcBef>
                <a:spcPts val="0"/>
              </a:spcBef>
              <a:spcAft>
                <a:spcPts val="0"/>
              </a:spcAft>
              <a:buSzPts val="1400"/>
              <a:buChar char="●"/>
            </a:pPr>
            <a:r>
              <a:rPr lang="en"/>
              <a:t>Try writing each paragraph using </a:t>
            </a:r>
            <a:r>
              <a:rPr lang="en"/>
              <a:t>the</a:t>
            </a:r>
            <a:r>
              <a:rPr lang="en"/>
              <a:t> structure outlined above. Get feedback from peers (or me) to see how that impacts your argument and style.</a:t>
            </a:r>
            <a:endParaRPr/>
          </a:p>
        </p:txBody>
      </p:sp>
      <p:pic>
        <p:nvPicPr>
          <p:cNvPr id="372" name="Google Shape;372;p49"/>
          <p:cNvPicPr preferRelativeResize="0"/>
          <p:nvPr/>
        </p:nvPicPr>
        <p:blipFill>
          <a:blip r:embed="rId3">
            <a:alphaModFix/>
          </a:blip>
          <a:stretch>
            <a:fillRect/>
          </a:stretch>
        </p:blipFill>
        <p:spPr>
          <a:xfrm>
            <a:off x="6683125" y="315925"/>
            <a:ext cx="2149176" cy="14227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id="377" name="Google Shape;377;p50"/>
          <p:cNvPicPr preferRelativeResize="0"/>
          <p:nvPr/>
        </p:nvPicPr>
        <p:blipFill>
          <a:blip r:embed="rId3">
            <a:alphaModFix amt="20000"/>
          </a:blip>
          <a:stretch>
            <a:fillRect/>
          </a:stretch>
        </p:blipFill>
        <p:spPr>
          <a:xfrm>
            <a:off x="-136774" y="-643637"/>
            <a:ext cx="9417552" cy="6278374"/>
          </a:xfrm>
          <a:prstGeom prst="rect">
            <a:avLst/>
          </a:prstGeom>
          <a:noFill/>
          <a:ln>
            <a:noFill/>
          </a:ln>
        </p:spPr>
      </p:pic>
      <p:sp>
        <p:nvSpPr>
          <p:cNvPr id="378" name="Google Shape;378;p50"/>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Conclusions</a:t>
            </a:r>
            <a:endParaRPr/>
          </a:p>
        </p:txBody>
      </p:sp>
      <p:sp>
        <p:nvSpPr>
          <p:cNvPr id="379" name="Google Shape;379;p50"/>
          <p:cNvSpPr txBox="1"/>
          <p:nvPr/>
        </p:nvSpPr>
        <p:spPr>
          <a:xfrm>
            <a:off x="0" y="4732875"/>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4">
                  <a:extLst>
                    <a:ext uri="{A12FA001-AC4F-418D-AE19-62706E023703}">
                      <ahyp:hlinkClr val="tx"/>
                    </a:ext>
                  </a:extLst>
                </a:hlinkClick>
              </a:rPr>
              <a:t>_Alicja_</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51"/>
          <p:cNvPicPr preferRelativeResize="0"/>
          <p:nvPr/>
        </p:nvPicPr>
        <p:blipFill>
          <a:blip r:embed="rId3">
            <a:alphaModFix amt="34000"/>
          </a:blip>
          <a:stretch>
            <a:fillRect/>
          </a:stretch>
        </p:blipFill>
        <p:spPr>
          <a:xfrm>
            <a:off x="0" y="2248256"/>
            <a:ext cx="9144000" cy="2795588"/>
          </a:xfrm>
          <a:prstGeom prst="rect">
            <a:avLst/>
          </a:prstGeom>
          <a:noFill/>
          <a:ln>
            <a:noFill/>
          </a:ln>
        </p:spPr>
      </p:pic>
      <p:sp>
        <p:nvSpPr>
          <p:cNvPr id="385" name="Google Shape;385;p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Concluding the Work</a:t>
            </a:r>
            <a:endParaRPr/>
          </a:p>
        </p:txBody>
      </p:sp>
      <p:sp>
        <p:nvSpPr>
          <p:cNvPr id="386" name="Google Shape;386;p5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Short. Sweet.</a:t>
            </a:r>
            <a:endParaRPr/>
          </a:p>
          <a:p>
            <a:pPr indent="0" lvl="0" marL="0" rtl="0" algn="l">
              <a:spcBef>
                <a:spcPts val="1600"/>
              </a:spcBef>
              <a:spcAft>
                <a:spcPts val="0"/>
              </a:spcAft>
              <a:buNone/>
            </a:pPr>
            <a:r>
              <a:rPr lang="en"/>
              <a:t>The last part to read. Your final opportunity to drive home your argument.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How should you structure it?</a:t>
            </a:r>
            <a:endParaRPr/>
          </a:p>
          <a:p>
            <a:pPr indent="0" lvl="0" marL="0" rtl="0" algn="l">
              <a:spcBef>
                <a:spcPts val="1600"/>
              </a:spcBef>
              <a:spcAft>
                <a:spcPts val="0"/>
              </a:spcAft>
              <a:buNone/>
            </a:pPr>
            <a:r>
              <a:rPr lang="en"/>
              <a:t>What should you include?</a:t>
            </a:r>
            <a:endParaRPr/>
          </a:p>
          <a:p>
            <a:pPr indent="0" lvl="0" marL="0" rtl="0" algn="l">
              <a:spcBef>
                <a:spcPts val="1600"/>
              </a:spcBef>
              <a:spcAft>
                <a:spcPts val="0"/>
              </a:spcAft>
              <a:buNone/>
            </a:pPr>
            <a:r>
              <a:rPr lang="en"/>
              <a:t>How might your language differ from the rest of your paper?</a:t>
            </a:r>
            <a:endParaRPr/>
          </a:p>
          <a:p>
            <a:pPr indent="0" lvl="0" marL="0" rtl="0" algn="l">
              <a:spcBef>
                <a:spcPts val="1600"/>
              </a:spcBef>
              <a:spcAft>
                <a:spcPts val="16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Conclusions: Some Structures</a:t>
            </a:r>
            <a:endParaRPr/>
          </a:p>
        </p:txBody>
      </p:sp>
      <p:sp>
        <p:nvSpPr>
          <p:cNvPr id="392" name="Google Shape;392;p52"/>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Option 1: Strongest</a:t>
            </a:r>
            <a:endParaRPr b="1"/>
          </a:p>
          <a:p>
            <a:pPr indent="-317500" lvl="0" marL="457200" rtl="0" algn="l">
              <a:spcBef>
                <a:spcPts val="1600"/>
              </a:spcBef>
              <a:spcAft>
                <a:spcPts val="0"/>
              </a:spcAft>
              <a:buSzPts val="1400"/>
              <a:buAutoNum type="arabicPeriod"/>
            </a:pPr>
            <a:r>
              <a:rPr lang="en"/>
              <a:t>One-sentence description of solution</a:t>
            </a:r>
            <a:endParaRPr/>
          </a:p>
          <a:p>
            <a:pPr indent="-317500" lvl="0" marL="457200" rtl="0" algn="l">
              <a:spcBef>
                <a:spcPts val="0"/>
              </a:spcBef>
              <a:spcAft>
                <a:spcPts val="0"/>
              </a:spcAft>
              <a:buSzPts val="1400"/>
              <a:buAutoNum type="arabicPeriod"/>
            </a:pPr>
            <a:r>
              <a:rPr lang="en"/>
              <a:t>High level overview of solution</a:t>
            </a:r>
            <a:endParaRPr/>
          </a:p>
          <a:p>
            <a:pPr indent="-317500" lvl="0" marL="457200" rtl="0" algn="l">
              <a:spcBef>
                <a:spcPts val="0"/>
              </a:spcBef>
              <a:spcAft>
                <a:spcPts val="0"/>
              </a:spcAft>
              <a:buSzPts val="1400"/>
              <a:buAutoNum type="arabicPeriod"/>
            </a:pPr>
            <a:r>
              <a:rPr lang="en"/>
              <a:t>Your key insight</a:t>
            </a:r>
            <a:endParaRPr/>
          </a:p>
          <a:p>
            <a:pPr indent="-317500" lvl="0" marL="457200" rtl="0" algn="l">
              <a:spcBef>
                <a:spcPts val="0"/>
              </a:spcBef>
              <a:spcAft>
                <a:spcPts val="0"/>
              </a:spcAft>
              <a:buSzPts val="1400"/>
              <a:buAutoNum type="arabicPeriod"/>
            </a:pPr>
            <a:r>
              <a:rPr lang="en"/>
              <a:t>How you evaluated your solution</a:t>
            </a:r>
            <a:endParaRPr/>
          </a:p>
          <a:p>
            <a:pPr indent="-317500" lvl="0" marL="457200" rtl="0" algn="l">
              <a:spcBef>
                <a:spcPts val="0"/>
              </a:spcBef>
              <a:spcAft>
                <a:spcPts val="0"/>
              </a:spcAft>
              <a:buSzPts val="1400"/>
              <a:buAutoNum type="arabicPeriod"/>
            </a:pPr>
            <a:r>
              <a:rPr lang="en"/>
              <a:t>Your results</a:t>
            </a:r>
            <a:endParaRPr/>
          </a:p>
          <a:p>
            <a:pPr indent="-317500" lvl="0" marL="457200" rtl="0" algn="l">
              <a:spcBef>
                <a:spcPts val="0"/>
              </a:spcBef>
              <a:spcAft>
                <a:spcPts val="0"/>
              </a:spcAft>
              <a:buSzPts val="1400"/>
              <a:buAutoNum type="arabicPeriod"/>
            </a:pPr>
            <a:r>
              <a:rPr lang="en"/>
              <a:t>A conclusion</a:t>
            </a:r>
            <a:endParaRPr/>
          </a:p>
          <a:p>
            <a:pPr indent="0" lvl="0" marL="0" rtl="0" algn="l">
              <a:spcBef>
                <a:spcPts val="1600"/>
              </a:spcBef>
              <a:spcAft>
                <a:spcPts val="0"/>
              </a:spcAft>
              <a:buNone/>
            </a:pPr>
            <a:r>
              <a:t/>
            </a:r>
            <a:endParaRPr/>
          </a:p>
          <a:p>
            <a:pPr indent="457200" lvl="0" marL="0" rtl="0" algn="l">
              <a:spcBef>
                <a:spcPts val="1600"/>
              </a:spcBef>
              <a:spcAft>
                <a:spcPts val="1600"/>
              </a:spcAft>
              <a:buNone/>
            </a:pPr>
            <a:r>
              <a:rPr lang="en"/>
              <a:t>See </a:t>
            </a:r>
            <a:r>
              <a:rPr lang="en" u="sng">
                <a:solidFill>
                  <a:schemeClr val="hlink"/>
                </a:solidFill>
                <a:hlinkClick r:id="rId3"/>
              </a:rPr>
              <a:t>D-RaNGe</a:t>
            </a:r>
            <a:r>
              <a:rPr lang="en"/>
              <a:t>, </a:t>
            </a:r>
            <a:r>
              <a:rPr lang="en" u="sng">
                <a:solidFill>
                  <a:schemeClr val="hlink"/>
                </a:solidFill>
                <a:hlinkClick r:id="rId4"/>
              </a:rPr>
              <a:t>CapMaestro</a:t>
            </a:r>
            <a:r>
              <a:rPr lang="en"/>
              <a:t>, </a:t>
            </a:r>
            <a:r>
              <a:rPr lang="en" u="sng">
                <a:solidFill>
                  <a:schemeClr val="hlink"/>
                </a:solidFill>
                <a:hlinkClick r:id="rId5"/>
              </a:rPr>
              <a:t>CrystalGazer</a:t>
            </a:r>
            <a:endParaRPr/>
          </a:p>
        </p:txBody>
      </p:sp>
      <p:sp>
        <p:nvSpPr>
          <p:cNvPr id="393" name="Google Shape;393;p52"/>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Option 2: Strong</a:t>
            </a:r>
            <a:endParaRPr b="1"/>
          </a:p>
          <a:p>
            <a:pPr indent="-317500" lvl="0" marL="457200" rtl="0" algn="l">
              <a:spcBef>
                <a:spcPts val="1600"/>
              </a:spcBef>
              <a:spcAft>
                <a:spcPts val="0"/>
              </a:spcAft>
              <a:buSzPts val="1400"/>
              <a:buAutoNum type="arabicPeriod"/>
            </a:pPr>
            <a:r>
              <a:rPr lang="en"/>
              <a:t>Outline the problem</a:t>
            </a:r>
            <a:endParaRPr/>
          </a:p>
          <a:p>
            <a:pPr indent="-317500" lvl="0" marL="457200" rtl="0" algn="l">
              <a:spcBef>
                <a:spcPts val="0"/>
              </a:spcBef>
              <a:spcAft>
                <a:spcPts val="0"/>
              </a:spcAft>
              <a:buSzPts val="1400"/>
              <a:buAutoNum type="arabicPeriod"/>
            </a:pPr>
            <a:r>
              <a:rPr lang="en"/>
              <a:t>High level description of your solution</a:t>
            </a:r>
            <a:endParaRPr/>
          </a:p>
          <a:p>
            <a:pPr indent="-317500" lvl="0" marL="457200" rtl="0" algn="l">
              <a:spcBef>
                <a:spcPts val="0"/>
              </a:spcBef>
              <a:spcAft>
                <a:spcPts val="0"/>
              </a:spcAft>
              <a:buSzPts val="1400"/>
              <a:buAutoNum type="arabicPeriod"/>
            </a:pPr>
            <a:r>
              <a:rPr lang="en"/>
              <a:t>Optional: Mention prior approaches</a:t>
            </a:r>
            <a:endParaRPr/>
          </a:p>
          <a:p>
            <a:pPr indent="-317500" lvl="0" marL="457200" rtl="0" algn="l">
              <a:spcBef>
                <a:spcPts val="0"/>
              </a:spcBef>
              <a:spcAft>
                <a:spcPts val="0"/>
              </a:spcAft>
              <a:buSzPts val="1400"/>
              <a:buAutoNum type="arabicPeriod"/>
            </a:pPr>
            <a:r>
              <a:rPr lang="en"/>
              <a:t>Your results</a:t>
            </a:r>
            <a:endParaRPr/>
          </a:p>
          <a:p>
            <a:pPr indent="457200" lvl="0" marL="0" rtl="0" algn="l">
              <a:spcBef>
                <a:spcPts val="1600"/>
              </a:spcBef>
              <a:spcAft>
                <a:spcPts val="0"/>
              </a:spcAft>
              <a:buNone/>
            </a:pPr>
            <a:r>
              <a:rPr lang="en"/>
              <a:t>See </a:t>
            </a:r>
            <a:r>
              <a:rPr lang="en" u="sng">
                <a:solidFill>
                  <a:schemeClr val="hlink"/>
                </a:solidFill>
                <a:hlinkClick r:id="rId6"/>
              </a:rPr>
              <a:t>SmoothOperator</a:t>
            </a:r>
            <a:r>
              <a:rPr lang="en"/>
              <a:t>, </a:t>
            </a:r>
            <a:r>
              <a:rPr lang="en" u="sng">
                <a:solidFill>
                  <a:schemeClr val="hlink"/>
                </a:solidFill>
                <a:hlinkClick r:id="rId7"/>
              </a:rPr>
              <a:t>AsmDB</a:t>
            </a:r>
            <a:r>
              <a:rPr lang="en"/>
              <a:t>, </a:t>
            </a:r>
            <a:r>
              <a:rPr lang="en" u="sng">
                <a:solidFill>
                  <a:schemeClr val="hlink"/>
                </a:solidFill>
                <a:hlinkClick r:id="rId8"/>
              </a:rPr>
              <a:t>TSO</a:t>
            </a:r>
            <a:endParaRPr/>
          </a:p>
          <a:p>
            <a:pPr indent="0" lvl="0" marL="0" rtl="0" algn="l">
              <a:spcBef>
                <a:spcPts val="1600"/>
              </a:spcBef>
              <a:spcAft>
                <a:spcPts val="0"/>
              </a:spcAft>
              <a:buNone/>
            </a:pPr>
            <a:r>
              <a:rPr b="1" lang="en"/>
              <a:t>Option 3: Missed opportunity</a:t>
            </a:r>
            <a:endParaRPr b="1"/>
          </a:p>
          <a:p>
            <a:pPr indent="-317500" lvl="0" marL="457200" rtl="0" algn="l">
              <a:spcBef>
                <a:spcPts val="1600"/>
              </a:spcBef>
              <a:spcAft>
                <a:spcPts val="0"/>
              </a:spcAft>
              <a:buSzPts val="1400"/>
              <a:buAutoNum type="arabicPeriod"/>
            </a:pPr>
            <a:r>
              <a:rPr lang="en"/>
              <a:t>High level overview of your solution</a:t>
            </a:r>
            <a:endParaRPr/>
          </a:p>
          <a:p>
            <a:pPr indent="-317500" lvl="0" marL="457200" rtl="0" algn="l">
              <a:spcBef>
                <a:spcPts val="0"/>
              </a:spcBef>
              <a:spcAft>
                <a:spcPts val="0"/>
              </a:spcAft>
              <a:buSzPts val="1400"/>
              <a:buAutoNum type="arabicPeriod"/>
            </a:pPr>
            <a:r>
              <a:rPr lang="en"/>
              <a:t>Details of your solution</a:t>
            </a:r>
            <a:endParaRPr/>
          </a:p>
          <a:p>
            <a:pPr indent="-317500" lvl="0" marL="457200" rtl="0" algn="l">
              <a:spcBef>
                <a:spcPts val="0"/>
              </a:spcBef>
              <a:spcAft>
                <a:spcPts val="0"/>
              </a:spcAft>
              <a:buSzPts val="1400"/>
              <a:buAutoNum type="arabicPeriod"/>
            </a:pPr>
            <a:r>
              <a:rPr lang="en"/>
              <a:t>Your results</a:t>
            </a:r>
            <a:endParaRPr/>
          </a:p>
          <a:p>
            <a:pPr indent="457200" lvl="0" marL="0" rtl="0" algn="l">
              <a:spcBef>
                <a:spcPts val="1600"/>
              </a:spcBef>
              <a:spcAft>
                <a:spcPts val="1600"/>
              </a:spcAft>
              <a:buNone/>
            </a:pPr>
            <a:r>
              <a:rPr lang="en"/>
              <a:t>See </a:t>
            </a:r>
            <a:r>
              <a:rPr lang="en" u="sng">
                <a:solidFill>
                  <a:schemeClr val="hlink"/>
                </a:solidFill>
                <a:hlinkClick r:id="rId9"/>
              </a:rPr>
              <a:t>SWOOP</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 Worked Example from D-RaNGe</a:t>
            </a:r>
            <a:endParaRPr/>
          </a:p>
        </p:txBody>
      </p:sp>
      <p:graphicFrame>
        <p:nvGraphicFramePr>
          <p:cNvPr id="399" name="Google Shape;399;p53"/>
          <p:cNvGraphicFramePr/>
          <p:nvPr/>
        </p:nvGraphicFramePr>
        <p:xfrm>
          <a:off x="311700" y="1156400"/>
          <a:ext cx="3000000" cy="3000000"/>
        </p:xfrm>
        <a:graphic>
          <a:graphicData uri="http://schemas.openxmlformats.org/drawingml/2006/table">
            <a:tbl>
              <a:tblPr>
                <a:noFill/>
                <a:tableStyleId>{A1FEDFCD-BC42-4225-886D-6D3858ECF4EA}</a:tableStyleId>
              </a:tblPr>
              <a:tblGrid>
                <a:gridCol w="6296500"/>
                <a:gridCol w="2224100"/>
              </a:tblGrid>
              <a:tr h="381000">
                <a:tc>
                  <a:txBody>
                    <a:bodyPr/>
                    <a:lstStyle/>
                    <a:p>
                      <a:pPr indent="0" lvl="0" marL="0" rtl="0" algn="l">
                        <a:spcBef>
                          <a:spcPts val="0"/>
                        </a:spcBef>
                        <a:spcAft>
                          <a:spcPts val="0"/>
                        </a:spcAft>
                        <a:buNone/>
                      </a:pPr>
                      <a:r>
                        <a:rPr b="1" lang="en" sz="1100">
                          <a:latin typeface="Open Sans"/>
                          <a:ea typeface="Open Sans"/>
                          <a:cs typeface="Open Sans"/>
                          <a:sym typeface="Open Sans"/>
                        </a:rPr>
                        <a:t>Sentence</a:t>
                      </a:r>
                      <a:endParaRPr b="1" sz="11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b="1" lang="en" sz="1100">
                          <a:latin typeface="Open Sans"/>
                          <a:ea typeface="Open Sans"/>
                          <a:cs typeface="Open Sans"/>
                          <a:sym typeface="Open Sans"/>
                        </a:rPr>
                        <a:t>Function</a:t>
                      </a:r>
                      <a:endParaRPr b="1" sz="1100">
                        <a:latin typeface="Open Sans"/>
                        <a:ea typeface="Open Sans"/>
                        <a:cs typeface="Open Sans"/>
                        <a:sym typeface="Open Sans"/>
                      </a:endParaRPr>
                    </a:p>
                  </a:txBody>
                  <a:tcPr marT="91425" marB="91425" marR="91425" marL="91425"/>
                </a:tc>
              </a:tr>
              <a:tr h="381000">
                <a:tc>
                  <a:txBody>
                    <a:bodyPr/>
                    <a:lstStyle/>
                    <a:p>
                      <a:pPr indent="0" lvl="0" marL="0" rtl="0" algn="l">
                        <a:spcBef>
                          <a:spcPts val="0"/>
                        </a:spcBef>
                        <a:spcAft>
                          <a:spcPts val="0"/>
                        </a:spcAft>
                        <a:buNone/>
                      </a:pPr>
                      <a:r>
                        <a:rPr lang="en" sz="1000">
                          <a:latin typeface="Open Sans"/>
                          <a:ea typeface="Open Sans"/>
                          <a:cs typeface="Open Sans"/>
                          <a:sym typeface="Open Sans"/>
                        </a:rPr>
                        <a:t>We propose D-RaNGe, a mechanism for extracting true random numbers with high throughput from unmodified commodity DRAM devices on any system that allows manipulation of DRAM timing parameters in the memory controller. </a:t>
                      </a:r>
                      <a:endParaRPr sz="10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000">
                          <a:latin typeface="Open Sans"/>
                          <a:ea typeface="Open Sans"/>
                          <a:cs typeface="Open Sans"/>
                          <a:sym typeface="Open Sans"/>
                        </a:rPr>
                        <a:t>Present solution (with ‘name’)</a:t>
                      </a:r>
                      <a:endParaRPr sz="1000">
                        <a:latin typeface="Open Sans"/>
                        <a:ea typeface="Open Sans"/>
                        <a:cs typeface="Open Sans"/>
                        <a:sym typeface="Open Sans"/>
                      </a:endParaRPr>
                    </a:p>
                    <a:p>
                      <a:pPr indent="0" lvl="0" marL="0" rtl="0" algn="l">
                        <a:spcBef>
                          <a:spcPts val="0"/>
                        </a:spcBef>
                        <a:spcAft>
                          <a:spcPts val="0"/>
                        </a:spcAft>
                        <a:buNone/>
                      </a:pPr>
                      <a:r>
                        <a:rPr lang="en" sz="1000">
                          <a:latin typeface="Open Sans"/>
                          <a:ea typeface="Open Sans"/>
                          <a:cs typeface="Open Sans"/>
                          <a:sym typeface="Open Sans"/>
                        </a:rPr>
                        <a:t>Include high level overview of solution with key highlights</a:t>
                      </a:r>
                      <a:endParaRPr sz="1000">
                        <a:latin typeface="Open Sans"/>
                        <a:ea typeface="Open Sans"/>
                        <a:cs typeface="Open Sans"/>
                        <a:sym typeface="Open Sans"/>
                      </a:endParaRPr>
                    </a:p>
                  </a:txBody>
                  <a:tcPr marT="91425" marB="91425" marR="91425" marL="91425"/>
                </a:tc>
              </a:tr>
              <a:tr h="381000">
                <a:tc>
                  <a:txBody>
                    <a:bodyPr/>
                    <a:lstStyle/>
                    <a:p>
                      <a:pPr indent="0" lvl="0" marL="0" rtl="0" algn="l">
                        <a:spcBef>
                          <a:spcPts val="0"/>
                        </a:spcBef>
                        <a:spcAft>
                          <a:spcPts val="0"/>
                        </a:spcAft>
                        <a:buNone/>
                      </a:pPr>
                      <a:r>
                        <a:rPr lang="en" sz="1000">
                          <a:latin typeface="Open Sans"/>
                          <a:ea typeface="Open Sans"/>
                          <a:cs typeface="Open Sans"/>
                          <a:sym typeface="Open Sans"/>
                        </a:rPr>
                        <a:t>D-RaNGe harvests fully non-deterministic random numbers from DRAM row </a:t>
                      </a:r>
                      <a:r>
                        <a:rPr lang="en" sz="1000">
                          <a:latin typeface="Open Sans"/>
                          <a:ea typeface="Open Sans"/>
                          <a:cs typeface="Open Sans"/>
                          <a:sym typeface="Open Sans"/>
                        </a:rPr>
                        <a:t>activation</a:t>
                      </a:r>
                      <a:r>
                        <a:rPr lang="en" sz="1000">
                          <a:latin typeface="Open Sans"/>
                          <a:ea typeface="Open Sans"/>
                          <a:cs typeface="Open Sans"/>
                          <a:sym typeface="Open Sans"/>
                        </a:rPr>
                        <a:t> failures, which are bit errors induced by intentionally accessing DRAM with lower latency than required for correct row activation.</a:t>
                      </a:r>
                      <a:endParaRPr sz="10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000">
                          <a:latin typeface="Open Sans"/>
                          <a:ea typeface="Open Sans"/>
                          <a:cs typeface="Open Sans"/>
                          <a:sym typeface="Open Sans"/>
                        </a:rPr>
                        <a:t>High level overview of how the solution works, with some explanation of the key process</a:t>
                      </a:r>
                      <a:endParaRPr sz="1000">
                        <a:latin typeface="Open Sans"/>
                        <a:ea typeface="Open Sans"/>
                        <a:cs typeface="Open Sans"/>
                        <a:sym typeface="Open Sans"/>
                      </a:endParaRPr>
                    </a:p>
                  </a:txBody>
                  <a:tcPr marT="91425" marB="91425" marR="91425" marL="91425"/>
                </a:tc>
              </a:tr>
              <a:tr h="381000">
                <a:tc>
                  <a:txBody>
                    <a:bodyPr/>
                    <a:lstStyle/>
                    <a:p>
                      <a:pPr indent="0" lvl="0" marL="0" rtl="0" algn="l">
                        <a:spcBef>
                          <a:spcPts val="0"/>
                        </a:spcBef>
                        <a:spcAft>
                          <a:spcPts val="0"/>
                        </a:spcAft>
                        <a:buNone/>
                      </a:pPr>
                      <a:r>
                        <a:rPr lang="en" sz="1000">
                          <a:latin typeface="Open Sans"/>
                          <a:ea typeface="Open Sans"/>
                          <a:cs typeface="Open Sans"/>
                          <a:sym typeface="Open Sans"/>
                        </a:rPr>
                        <a:t>Our TRNG is based on two key observations: 1) activation failures can be induced quickly and 2) repeatedly accessing certain DRAM cells with reduced activation latency results in reading true random data.</a:t>
                      </a:r>
                      <a:endParaRPr sz="10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000">
                          <a:latin typeface="Open Sans"/>
                          <a:ea typeface="Open Sans"/>
                          <a:cs typeface="Open Sans"/>
                          <a:sym typeface="Open Sans"/>
                        </a:rPr>
                        <a:t>Key insights</a:t>
                      </a:r>
                      <a:endParaRPr sz="1000">
                        <a:latin typeface="Open Sans"/>
                        <a:ea typeface="Open Sans"/>
                        <a:cs typeface="Open Sans"/>
                        <a:sym typeface="Open Sans"/>
                      </a:endParaRPr>
                    </a:p>
                  </a:txBody>
                  <a:tcPr marT="91425" marB="91425" marR="91425" marL="91425"/>
                </a:tc>
              </a:tr>
              <a:tr h="381000">
                <a:tc>
                  <a:txBody>
                    <a:bodyPr/>
                    <a:lstStyle/>
                    <a:p>
                      <a:pPr indent="0" lvl="0" marL="0" rtl="0" algn="l">
                        <a:spcBef>
                          <a:spcPts val="0"/>
                        </a:spcBef>
                        <a:spcAft>
                          <a:spcPts val="0"/>
                        </a:spcAft>
                        <a:buNone/>
                      </a:pPr>
                      <a:r>
                        <a:rPr lang="en" sz="1000">
                          <a:latin typeface="Open Sans"/>
                          <a:ea typeface="Open Sans"/>
                          <a:cs typeface="Open Sans"/>
                          <a:sym typeface="Open Sans"/>
                        </a:rPr>
                        <a:t>We validate the quality of our TRNG with the commonly-used NIST statistical test suite for randomness.</a:t>
                      </a:r>
                      <a:endParaRPr sz="10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000">
                          <a:latin typeface="Open Sans"/>
                          <a:ea typeface="Open Sans"/>
                          <a:cs typeface="Open Sans"/>
                          <a:sym typeface="Open Sans"/>
                        </a:rPr>
                        <a:t>How it’s evaluated</a:t>
                      </a:r>
                      <a:endParaRPr sz="1000">
                        <a:latin typeface="Open Sans"/>
                        <a:ea typeface="Open Sans"/>
                        <a:cs typeface="Open Sans"/>
                        <a:sym typeface="Open Sans"/>
                      </a:endParaRPr>
                    </a:p>
                  </a:txBody>
                  <a:tcPr marT="91425" marB="91425" marR="91425" marL="91425"/>
                </a:tc>
              </a:tr>
              <a:tr h="381000">
                <a:tc>
                  <a:txBody>
                    <a:bodyPr/>
                    <a:lstStyle/>
                    <a:p>
                      <a:pPr indent="0" lvl="0" marL="0" rtl="0" algn="l">
                        <a:spcBef>
                          <a:spcPts val="0"/>
                        </a:spcBef>
                        <a:spcAft>
                          <a:spcPts val="0"/>
                        </a:spcAft>
                        <a:buNone/>
                      </a:pPr>
                      <a:r>
                        <a:rPr lang="en" sz="1000">
                          <a:latin typeface="Open Sans"/>
                          <a:ea typeface="Open Sans"/>
                          <a:cs typeface="Open Sans"/>
                          <a:sym typeface="Open Sans"/>
                        </a:rPr>
                        <a:t>Our evaluations show that D-RaNGe significantly outperforms the previous highest-throughput DRAM-based TRNG by up to 211x (128x on average).</a:t>
                      </a:r>
                      <a:endParaRPr sz="10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000">
                          <a:latin typeface="Open Sans"/>
                          <a:ea typeface="Open Sans"/>
                          <a:cs typeface="Open Sans"/>
                          <a:sym typeface="Open Sans"/>
                        </a:rPr>
                        <a:t>Results</a:t>
                      </a:r>
                      <a:endParaRPr sz="1000">
                        <a:latin typeface="Open Sans"/>
                        <a:ea typeface="Open Sans"/>
                        <a:cs typeface="Open Sans"/>
                        <a:sym typeface="Open Sans"/>
                      </a:endParaRPr>
                    </a:p>
                  </a:txBody>
                  <a:tcPr marT="91425" marB="91425" marR="91425" marL="91425"/>
                </a:tc>
              </a:tr>
              <a:tr h="381000">
                <a:tc>
                  <a:txBody>
                    <a:bodyPr/>
                    <a:lstStyle/>
                    <a:p>
                      <a:pPr indent="0" lvl="0" marL="0" rtl="0" algn="l">
                        <a:spcBef>
                          <a:spcPts val="0"/>
                        </a:spcBef>
                        <a:spcAft>
                          <a:spcPts val="0"/>
                        </a:spcAft>
                        <a:buNone/>
                      </a:pPr>
                      <a:r>
                        <a:rPr lang="en" sz="1000">
                          <a:latin typeface="Open Sans"/>
                          <a:ea typeface="Open Sans"/>
                          <a:cs typeface="Open Sans"/>
                          <a:sym typeface="Open Sans"/>
                        </a:rPr>
                        <a:t>We conclude that DRAM row activation failures can be effectively exploited to efficiently generate true random numbers with high throughput on a wide range of devices that use commodity DRAM chips.</a:t>
                      </a:r>
                      <a:endParaRPr sz="1000">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lang="en" sz="1000">
                          <a:latin typeface="Open Sans"/>
                          <a:ea typeface="Open Sans"/>
                          <a:cs typeface="Open Sans"/>
                          <a:sym typeface="Open Sans"/>
                        </a:rPr>
                        <a:t>Conclusion</a:t>
                      </a:r>
                      <a:endParaRPr sz="1000">
                        <a:latin typeface="Open Sans"/>
                        <a:ea typeface="Open Sans"/>
                        <a:cs typeface="Open Sans"/>
                        <a:sym typeface="Open Sans"/>
                      </a:endParaRPr>
                    </a:p>
                  </a:txBody>
                  <a:tcPr marT="91425" marB="91425" marR="91425" marL="914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54"/>
          <p:cNvPicPr preferRelativeResize="0"/>
          <p:nvPr/>
        </p:nvPicPr>
        <p:blipFill>
          <a:blip r:embed="rId3">
            <a:alphaModFix amt="20000"/>
          </a:blip>
          <a:stretch>
            <a:fillRect/>
          </a:stretch>
        </p:blipFill>
        <p:spPr>
          <a:xfrm>
            <a:off x="-360837" y="-1"/>
            <a:ext cx="9865680" cy="5143501"/>
          </a:xfrm>
          <a:prstGeom prst="rect">
            <a:avLst/>
          </a:prstGeom>
          <a:noFill/>
          <a:ln>
            <a:noFill/>
          </a:ln>
        </p:spPr>
      </p:pic>
      <p:sp>
        <p:nvSpPr>
          <p:cNvPr id="405" name="Google Shape;405;p5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Conclusions: How to come to an actual conclusion?</a:t>
            </a:r>
            <a:endParaRPr/>
          </a:p>
        </p:txBody>
      </p:sp>
      <p:sp>
        <p:nvSpPr>
          <p:cNvPr id="406" name="Google Shape;406;p54"/>
          <p:cNvSpPr txBox="1"/>
          <p:nvPr>
            <p:ph idx="1" type="body"/>
          </p:nvPr>
        </p:nvSpPr>
        <p:spPr>
          <a:xfrm>
            <a:off x="311700" y="1225225"/>
            <a:ext cx="41727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must be hard, because only a small minority of the papers actually did.</a:t>
            </a:r>
            <a:endParaRPr/>
          </a:p>
          <a:p>
            <a:pPr indent="0" lvl="0" marL="0" rtl="0" algn="l">
              <a:spcBef>
                <a:spcPts val="1600"/>
              </a:spcBef>
              <a:spcAft>
                <a:spcPts val="0"/>
              </a:spcAft>
              <a:buNone/>
            </a:pPr>
            <a:r>
              <a:rPr lang="en"/>
              <a:t>But remember that uneven u? You want to end at a higher conceptual level than you started.</a:t>
            </a:r>
            <a:endParaRPr/>
          </a:p>
          <a:p>
            <a:pPr indent="0" lvl="0" marL="0" rtl="0" algn="l">
              <a:spcBef>
                <a:spcPts val="1600"/>
              </a:spcBef>
              <a:spcAft>
                <a:spcPts val="0"/>
              </a:spcAft>
              <a:buNone/>
            </a:pPr>
            <a:r>
              <a:rPr lang="en"/>
              <a:t>Some ideas:</a:t>
            </a:r>
            <a:endParaRPr/>
          </a:p>
          <a:p>
            <a:pPr indent="-317500" lvl="0" marL="457200" rtl="0" algn="l">
              <a:spcBef>
                <a:spcPts val="1600"/>
              </a:spcBef>
              <a:spcAft>
                <a:spcPts val="0"/>
              </a:spcAft>
              <a:buSzPts val="1400"/>
              <a:buChar char="●"/>
            </a:pPr>
            <a:r>
              <a:rPr lang="en"/>
              <a:t>What insights did you discover? </a:t>
            </a:r>
            <a:endParaRPr/>
          </a:p>
          <a:p>
            <a:pPr indent="-317500" lvl="0" marL="457200" rtl="0" algn="l">
              <a:spcBef>
                <a:spcPts val="0"/>
              </a:spcBef>
              <a:spcAft>
                <a:spcPts val="0"/>
              </a:spcAft>
              <a:buSzPts val="1400"/>
              <a:buChar char="●"/>
            </a:pPr>
            <a:r>
              <a:rPr lang="en"/>
              <a:t>What lessons have you learned about the problem and/or the type of solution you propose?</a:t>
            </a:r>
            <a:endParaRPr/>
          </a:p>
          <a:p>
            <a:pPr indent="-317500" lvl="0" marL="457200" rtl="0" algn="l">
              <a:spcBef>
                <a:spcPts val="0"/>
              </a:spcBef>
              <a:spcAft>
                <a:spcPts val="0"/>
              </a:spcAft>
              <a:buSzPts val="1400"/>
              <a:buChar char="●"/>
            </a:pPr>
            <a:r>
              <a:rPr lang="en"/>
              <a:t>What is the biggest impact of your solution?</a:t>
            </a:r>
            <a:endParaRPr/>
          </a:p>
          <a:p>
            <a:pPr indent="0" lvl="0" marL="0" rtl="0" algn="l">
              <a:spcBef>
                <a:spcPts val="1600"/>
              </a:spcBef>
              <a:spcAft>
                <a:spcPts val="1600"/>
              </a:spcAft>
              <a:buNone/>
            </a:pPr>
            <a:r>
              <a:t/>
            </a:r>
            <a:endParaRPr/>
          </a:p>
        </p:txBody>
      </p:sp>
      <p:sp>
        <p:nvSpPr>
          <p:cNvPr id="407" name="Google Shape;407;p54"/>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of the conclusions simply end with a list of results. Raw results come in around Level 1 on the uneven u.</a:t>
            </a:r>
            <a:endParaRPr/>
          </a:p>
          <a:p>
            <a:pPr indent="0" lvl="0" marL="0" rtl="0" algn="l">
              <a:spcBef>
                <a:spcPts val="1600"/>
              </a:spcBef>
              <a:spcAft>
                <a:spcPts val="0"/>
              </a:spcAft>
              <a:buNone/>
            </a:pPr>
            <a:r>
              <a:rPr lang="en"/>
              <a:t>Yeah, the results are impressive. But it doesn’t give the reader a sense of satisfaction. Of completeness. Of … </a:t>
            </a:r>
            <a:r>
              <a:rPr i="1" lang="en"/>
              <a:t>conclusion</a:t>
            </a:r>
            <a:r>
              <a:rPr lang="en"/>
              <a:t>.</a:t>
            </a:r>
            <a:endParaRPr/>
          </a:p>
          <a:p>
            <a:pPr indent="0" lvl="0" marL="0" rtl="0" algn="l">
              <a:spcBef>
                <a:spcPts val="1600"/>
              </a:spcBef>
              <a:spcAft>
                <a:spcPts val="0"/>
              </a:spcAft>
              <a:buNone/>
            </a:pPr>
            <a:r>
              <a:rPr lang="en"/>
              <a:t>So go beyond just ending with results. Try something like:</a:t>
            </a:r>
            <a:endParaRPr/>
          </a:p>
          <a:p>
            <a:pPr indent="-317500" lvl="0" marL="457200" rtl="0" algn="l">
              <a:spcBef>
                <a:spcPts val="1600"/>
              </a:spcBef>
              <a:spcAft>
                <a:spcPts val="0"/>
              </a:spcAft>
              <a:buSzPts val="1400"/>
              <a:buChar char="●"/>
            </a:pPr>
            <a:r>
              <a:rPr lang="en"/>
              <a:t>We conclude that…</a:t>
            </a:r>
            <a:endParaRPr/>
          </a:p>
          <a:p>
            <a:pPr indent="-317500" lvl="0" marL="457200" rtl="0" algn="l">
              <a:spcBef>
                <a:spcPts val="0"/>
              </a:spcBef>
              <a:spcAft>
                <a:spcPts val="0"/>
              </a:spcAft>
              <a:buSzPts val="1400"/>
              <a:buChar char="●"/>
            </a:pPr>
            <a:r>
              <a:rPr lang="en"/>
              <a:t>As far as we know, this is the first …</a:t>
            </a:r>
            <a:endParaRPr/>
          </a:p>
          <a:p>
            <a:pPr indent="-317500" lvl="0" marL="457200" rtl="0" algn="l">
              <a:spcBef>
                <a:spcPts val="0"/>
              </a:spcBef>
              <a:spcAft>
                <a:spcPts val="0"/>
              </a:spcAft>
              <a:buSzPts val="1400"/>
              <a:buChar char="●"/>
            </a:pPr>
            <a:r>
              <a:rPr lang="en"/>
              <a:t>This suggests that...</a:t>
            </a:r>
            <a:endParaRPr/>
          </a:p>
        </p:txBody>
      </p:sp>
      <p:sp>
        <p:nvSpPr>
          <p:cNvPr id="408" name="Google Shape;408;p54"/>
          <p:cNvSpPr txBox="1"/>
          <p:nvPr/>
        </p:nvSpPr>
        <p:spPr>
          <a:xfrm>
            <a:off x="-424700" y="4746900"/>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4">
                  <a:extLst>
                    <a:ext uri="{A12FA001-AC4F-418D-AE19-62706E023703}">
                      <ahyp:hlinkClr val="tx"/>
                    </a:ext>
                  </a:extLst>
                </a:hlinkClick>
              </a:rPr>
              <a:t>PIRO4D</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Over to you: Conclusions</a:t>
            </a:r>
            <a:endParaRPr/>
          </a:p>
        </p:txBody>
      </p:sp>
      <p:sp>
        <p:nvSpPr>
          <p:cNvPr id="414" name="Google Shape;414;p5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Read:</a:t>
            </a:r>
            <a:endParaRPr b="1" i="1"/>
          </a:p>
          <a:p>
            <a:pPr indent="0" lvl="0" marL="0" rtl="0" algn="l">
              <a:spcBef>
                <a:spcPts val="1600"/>
              </a:spcBef>
              <a:spcAft>
                <a:spcPts val="0"/>
              </a:spcAft>
              <a:buNone/>
            </a:pPr>
            <a:r>
              <a:rPr lang="en"/>
              <a:t>In the paper you’re currently reading:</a:t>
            </a:r>
            <a:endParaRPr/>
          </a:p>
          <a:p>
            <a:pPr indent="-317500" lvl="0" marL="457200" rtl="0" algn="l">
              <a:spcBef>
                <a:spcPts val="1600"/>
              </a:spcBef>
              <a:spcAft>
                <a:spcPts val="0"/>
              </a:spcAft>
              <a:buSzPts val="1400"/>
              <a:buChar char="●"/>
            </a:pPr>
            <a:r>
              <a:rPr lang="en"/>
              <a:t>Read the conclusion quickly. Is it compelling? Is it bla? Is it somewhere in between?</a:t>
            </a:r>
            <a:endParaRPr/>
          </a:p>
          <a:p>
            <a:pPr indent="-317500" lvl="0" marL="457200" rtl="0" algn="l">
              <a:spcBef>
                <a:spcPts val="0"/>
              </a:spcBef>
              <a:spcAft>
                <a:spcPts val="0"/>
              </a:spcAft>
              <a:buSzPts val="1400"/>
              <a:buChar char="●"/>
            </a:pPr>
            <a:r>
              <a:rPr lang="en"/>
              <a:t>Which of the three structures does it seem to follow? How well does it work?</a:t>
            </a:r>
            <a:endParaRPr/>
          </a:p>
          <a:p>
            <a:pPr indent="-317500" lvl="0" marL="457200" rtl="0" algn="l">
              <a:spcBef>
                <a:spcPts val="0"/>
              </a:spcBef>
              <a:spcAft>
                <a:spcPts val="0"/>
              </a:spcAft>
              <a:buSzPts val="1400"/>
              <a:buChar char="●"/>
            </a:pPr>
            <a:r>
              <a:rPr lang="en"/>
              <a:t>Does it come to a conclusion? How do the authors signal that to the reader?</a:t>
            </a:r>
            <a:endParaRPr/>
          </a:p>
        </p:txBody>
      </p:sp>
      <p:sp>
        <p:nvSpPr>
          <p:cNvPr id="415" name="Google Shape;415;p5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Write:</a:t>
            </a:r>
            <a:endParaRPr b="1" i="1"/>
          </a:p>
          <a:p>
            <a:pPr indent="0" lvl="0" marL="0" rtl="0" algn="l">
              <a:spcBef>
                <a:spcPts val="1600"/>
              </a:spcBef>
              <a:spcAft>
                <a:spcPts val="0"/>
              </a:spcAft>
              <a:buNone/>
            </a:pPr>
            <a:r>
              <a:rPr lang="en"/>
              <a:t>Your conclusion is just one paragraph, so write three of them, using the three structures from above. (If you don’t yet have your results, just use placeholder numbers.)</a:t>
            </a:r>
            <a:endParaRPr/>
          </a:p>
          <a:p>
            <a:pPr indent="-317500" lvl="0" marL="457200" rtl="0" algn="l">
              <a:spcBef>
                <a:spcPts val="1600"/>
              </a:spcBef>
              <a:spcAft>
                <a:spcPts val="0"/>
              </a:spcAft>
              <a:buSzPts val="1400"/>
              <a:buChar char="●"/>
            </a:pPr>
            <a:r>
              <a:rPr lang="en"/>
              <a:t>Which do you find strongest? Why?</a:t>
            </a:r>
            <a:endParaRPr/>
          </a:p>
          <a:p>
            <a:pPr indent="-317500" lvl="0" marL="457200" rtl="0" algn="l">
              <a:spcBef>
                <a:spcPts val="0"/>
              </a:spcBef>
              <a:spcAft>
                <a:spcPts val="0"/>
              </a:spcAft>
              <a:buSzPts val="1400"/>
              <a:buChar char="●"/>
            </a:pPr>
            <a:r>
              <a:rPr lang="en"/>
              <a:t>Which was hardest to write? Why?</a:t>
            </a:r>
            <a:endParaRPr/>
          </a:p>
          <a:p>
            <a:pPr indent="-317500" lvl="0" marL="457200" rtl="0" algn="l">
              <a:spcBef>
                <a:spcPts val="0"/>
              </a:spcBef>
              <a:spcAft>
                <a:spcPts val="0"/>
              </a:spcAft>
              <a:buSzPts val="1400"/>
              <a:buChar char="●"/>
            </a:pPr>
            <a:r>
              <a:rPr lang="en"/>
              <a:t>Get some feedback from peers (or me). Do their impressions match yours?</a:t>
            </a:r>
            <a:endParaRPr/>
          </a:p>
        </p:txBody>
      </p:sp>
      <p:pic>
        <p:nvPicPr>
          <p:cNvPr id="416" name="Google Shape;416;p55"/>
          <p:cNvPicPr preferRelativeResize="0"/>
          <p:nvPr/>
        </p:nvPicPr>
        <p:blipFill>
          <a:blip r:embed="rId3">
            <a:alphaModFix/>
          </a:blip>
          <a:stretch>
            <a:fillRect/>
          </a:stretch>
        </p:blipFill>
        <p:spPr>
          <a:xfrm>
            <a:off x="6683125" y="315925"/>
            <a:ext cx="2149176" cy="14227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p56"/>
          <p:cNvPicPr preferRelativeResize="0"/>
          <p:nvPr/>
        </p:nvPicPr>
        <p:blipFill>
          <a:blip r:embed="rId3">
            <a:alphaModFix amt="21000"/>
          </a:blip>
          <a:stretch>
            <a:fillRect/>
          </a:stretch>
        </p:blipFill>
        <p:spPr>
          <a:xfrm>
            <a:off x="0" y="4763"/>
            <a:ext cx="9144000" cy="5133975"/>
          </a:xfrm>
          <a:prstGeom prst="rect">
            <a:avLst/>
          </a:prstGeom>
          <a:noFill/>
          <a:ln>
            <a:noFill/>
          </a:ln>
        </p:spPr>
      </p:pic>
      <p:sp>
        <p:nvSpPr>
          <p:cNvPr id="422" name="Google Shape;422;p56"/>
          <p:cNvSpPr txBox="1"/>
          <p:nvPr>
            <p:ph type="title"/>
          </p:nvPr>
        </p:nvSpPr>
        <p:spPr>
          <a:xfrm>
            <a:off x="311700" y="555600"/>
            <a:ext cx="6621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Language of Conclusions: Lexical Density</a:t>
            </a:r>
            <a:endParaRPr/>
          </a:p>
        </p:txBody>
      </p:sp>
      <p:sp>
        <p:nvSpPr>
          <p:cNvPr id="423" name="Google Shape;423;p56"/>
          <p:cNvSpPr txBox="1"/>
          <p:nvPr>
            <p:ph idx="1" type="body"/>
          </p:nvPr>
        </p:nvSpPr>
        <p:spPr>
          <a:xfrm>
            <a:off x="311700" y="1399400"/>
            <a:ext cx="4847400" cy="278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When we use several modifiers to describe a noun, our language is lexically dense.</a:t>
            </a:r>
            <a:endParaRPr sz="1600"/>
          </a:p>
          <a:p>
            <a:pPr indent="0" lvl="0" marL="0" rtl="0" algn="l">
              <a:spcBef>
                <a:spcPts val="1600"/>
              </a:spcBef>
              <a:spcAft>
                <a:spcPts val="0"/>
              </a:spcAft>
              <a:buNone/>
            </a:pPr>
            <a:r>
              <a:rPr lang="en" sz="1600"/>
              <a:t>Normally, this makes your writing harder to read and parse.</a:t>
            </a:r>
            <a:endParaRPr sz="1600"/>
          </a:p>
          <a:p>
            <a:pPr indent="0" lvl="0" marL="0" rtl="0" algn="l">
              <a:spcBef>
                <a:spcPts val="1600"/>
              </a:spcBef>
              <a:spcAft>
                <a:spcPts val="1600"/>
              </a:spcAft>
              <a:buNone/>
            </a:pPr>
            <a:r>
              <a:rPr lang="en" sz="1600"/>
              <a:t>Since you’ve already explained the problem and your solution - and since your conclusion is so short compared to the rest of your paper - you can now write more densely and your reader should be able to follow.</a:t>
            </a:r>
            <a:endParaRPr sz="16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57"/>
          <p:cNvPicPr preferRelativeResize="0"/>
          <p:nvPr/>
        </p:nvPicPr>
        <p:blipFill>
          <a:blip r:embed="rId3">
            <a:alphaModFix amt="20000"/>
          </a:blip>
          <a:stretch>
            <a:fillRect/>
          </a:stretch>
        </p:blipFill>
        <p:spPr>
          <a:xfrm>
            <a:off x="-1743712" y="-56605"/>
            <a:ext cx="10982424" cy="5256705"/>
          </a:xfrm>
          <a:prstGeom prst="rect">
            <a:avLst/>
          </a:prstGeom>
          <a:noFill/>
          <a:ln>
            <a:noFill/>
          </a:ln>
        </p:spPr>
      </p:pic>
      <p:sp>
        <p:nvSpPr>
          <p:cNvPr id="429" name="Google Shape;429;p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High Lexical Density</a:t>
            </a:r>
            <a:endParaRPr/>
          </a:p>
        </p:txBody>
      </p:sp>
      <p:sp>
        <p:nvSpPr>
          <p:cNvPr id="430" name="Google Shape;430;p57"/>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first sentence of the conclusion of </a:t>
            </a:r>
            <a:r>
              <a:rPr lang="en"/>
              <a:t>D-RaNGe:</a:t>
            </a:r>
            <a:endParaRPr/>
          </a:p>
          <a:p>
            <a:pPr indent="0" lvl="0" marL="0" rtl="0" algn="l">
              <a:spcBef>
                <a:spcPts val="1600"/>
              </a:spcBef>
              <a:spcAft>
                <a:spcPts val="0"/>
              </a:spcAft>
              <a:buClr>
                <a:schemeClr val="dk1"/>
              </a:buClr>
              <a:buSzPts val="1100"/>
              <a:buFont typeface="Arial"/>
              <a:buNone/>
            </a:pPr>
            <a:r>
              <a:rPr lang="en" sz="1700"/>
              <a:t>“We propose D-RaNGe, </a:t>
            </a:r>
            <a:r>
              <a:rPr i="1" lang="en" sz="1700"/>
              <a:t>a mechanism for extracting true random numbers with high throughput from unmodified commodity DRAM devices on any system that allows manipulation of DRAM timing parameters in the memory controller.</a:t>
            </a:r>
            <a:r>
              <a:rPr lang="en" sz="1700"/>
              <a:t>”</a:t>
            </a:r>
            <a:endParaRPr sz="1700"/>
          </a:p>
          <a:p>
            <a:pPr indent="0" lvl="0" marL="0" rtl="0" algn="l">
              <a:spcBef>
                <a:spcPts val="1600"/>
              </a:spcBef>
              <a:spcAft>
                <a:spcPts val="1600"/>
              </a:spcAft>
              <a:buClr>
                <a:schemeClr val="dk1"/>
              </a:buClr>
              <a:buSzPts val="1100"/>
              <a:buFont typeface="Arial"/>
              <a:buNone/>
            </a:pPr>
            <a:r>
              <a:t/>
            </a:r>
            <a:endParaRPr/>
          </a:p>
        </p:txBody>
      </p:sp>
      <p:sp>
        <p:nvSpPr>
          <p:cNvPr id="431" name="Google Shape;431;p57"/>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is a simple sentence, with a subject-verb-object, followed by a relative clause (in italics). </a:t>
            </a:r>
            <a:endParaRPr/>
          </a:p>
          <a:p>
            <a:pPr indent="0" lvl="0" marL="0" rtl="0" algn="l">
              <a:spcBef>
                <a:spcPts val="1600"/>
              </a:spcBef>
              <a:spcAft>
                <a:spcPts val="0"/>
              </a:spcAft>
              <a:buNone/>
            </a:pPr>
            <a:r>
              <a:rPr lang="en"/>
              <a:t>But that relative clause is all one big modified noun group.</a:t>
            </a:r>
            <a:endParaRPr/>
          </a:p>
          <a:p>
            <a:pPr indent="0" lvl="0" marL="0" rtl="0" algn="l">
              <a:spcBef>
                <a:spcPts val="1600"/>
              </a:spcBef>
              <a:spcAft>
                <a:spcPts val="0"/>
              </a:spcAft>
              <a:buClr>
                <a:schemeClr val="dk1"/>
              </a:buClr>
              <a:buSzPts val="1100"/>
              <a:buFont typeface="Arial"/>
              <a:buNone/>
            </a:pPr>
            <a:r>
              <a:rPr lang="en"/>
              <a:t>If you read that at the beginning of the paper, you’d give up on the rest of the work. But now that you’ve read the paper, even a layperson such as myself can understand that sentence.</a:t>
            </a:r>
            <a:endParaRPr/>
          </a:p>
          <a:p>
            <a:pPr indent="0" lvl="0" marL="0" rtl="0" algn="l">
              <a:spcBef>
                <a:spcPts val="1600"/>
              </a:spcBef>
              <a:spcAft>
                <a:spcPts val="1600"/>
              </a:spcAft>
              <a:buNone/>
            </a:pPr>
            <a:r>
              <a:t/>
            </a:r>
            <a:endParaRPr/>
          </a:p>
        </p:txBody>
      </p:sp>
      <p:sp>
        <p:nvSpPr>
          <p:cNvPr id="432" name="Google Shape;432;p57"/>
          <p:cNvSpPr txBox="1"/>
          <p:nvPr/>
        </p:nvSpPr>
        <p:spPr>
          <a:xfrm>
            <a:off x="149900" y="4646950"/>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4">
                  <a:extLst>
                    <a:ext uri="{A12FA001-AC4F-418D-AE19-62706E023703}">
                      <ahyp:hlinkClr val="tx"/>
                    </a:ext>
                  </a:extLst>
                </a:hlinkClick>
              </a:rPr>
              <a:t>Jeon Sang-O</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58"/>
          <p:cNvPicPr preferRelativeResize="0"/>
          <p:nvPr/>
        </p:nvPicPr>
        <p:blipFill>
          <a:blip r:embed="rId3">
            <a:alphaModFix amt="23000"/>
          </a:blip>
          <a:stretch>
            <a:fillRect/>
          </a:stretch>
        </p:blipFill>
        <p:spPr>
          <a:xfrm>
            <a:off x="0" y="2276463"/>
            <a:ext cx="9144000" cy="2867025"/>
          </a:xfrm>
          <a:prstGeom prst="rect">
            <a:avLst/>
          </a:prstGeom>
          <a:noFill/>
          <a:ln>
            <a:noFill/>
          </a:ln>
        </p:spPr>
      </p:pic>
      <p:sp>
        <p:nvSpPr>
          <p:cNvPr id="438" name="Google Shape;438;p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Lexical Density: Caution!</a:t>
            </a:r>
            <a:endParaRPr/>
          </a:p>
        </p:txBody>
      </p:sp>
      <p:sp>
        <p:nvSpPr>
          <p:cNvPr id="439" name="Google Shape;439;p58"/>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Readers cannot read very many dense sentences without getting fatigued. </a:t>
            </a:r>
            <a:endParaRPr sz="1600"/>
          </a:p>
        </p:txBody>
      </p:sp>
      <p:sp>
        <p:nvSpPr>
          <p:cNvPr id="440" name="Google Shape;440;p58"/>
          <p:cNvSpPr txBox="1"/>
          <p:nvPr>
            <p:ph idx="2" type="body"/>
          </p:nvPr>
        </p:nvSpPr>
        <p:spPr>
          <a:xfrm>
            <a:off x="4746875" y="1225225"/>
            <a:ext cx="4085400" cy="3354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Use them sparingly. </a:t>
            </a:r>
            <a:endParaRPr sz="1600"/>
          </a:p>
          <a:p>
            <a:pPr indent="-330200" lvl="0" marL="457200" rtl="0" algn="l">
              <a:spcBef>
                <a:spcPts val="0"/>
              </a:spcBef>
              <a:spcAft>
                <a:spcPts val="0"/>
              </a:spcAft>
              <a:buSzPts val="1600"/>
              <a:buChar char="●"/>
            </a:pPr>
            <a:r>
              <a:rPr lang="en" sz="1600"/>
              <a:t>And revise them repeatedly to make sure they communicate effectively.</a:t>
            </a:r>
            <a:endParaRPr sz="1600"/>
          </a:p>
          <a:p>
            <a:pPr indent="0" lvl="0" marL="0" rtl="0" algn="l">
              <a:spcBef>
                <a:spcPts val="1600"/>
              </a:spcBef>
              <a:spcAft>
                <a:spcPts val="16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pic>
        <p:nvPicPr>
          <p:cNvPr id="445" name="Google Shape;445;p59"/>
          <p:cNvPicPr preferRelativeResize="0"/>
          <p:nvPr/>
        </p:nvPicPr>
        <p:blipFill>
          <a:blip r:embed="rId3">
            <a:alphaModFix amt="20000"/>
          </a:blip>
          <a:stretch>
            <a:fillRect/>
          </a:stretch>
        </p:blipFill>
        <p:spPr>
          <a:xfrm>
            <a:off x="-136774" y="-643637"/>
            <a:ext cx="9417552" cy="6278374"/>
          </a:xfrm>
          <a:prstGeom prst="rect">
            <a:avLst/>
          </a:prstGeom>
          <a:noFill/>
          <a:ln>
            <a:noFill/>
          </a:ln>
        </p:spPr>
      </p:pic>
      <p:sp>
        <p:nvSpPr>
          <p:cNvPr id="446" name="Google Shape;446;p59"/>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Summary</a:t>
            </a:r>
            <a:endParaRPr/>
          </a:p>
        </p:txBody>
      </p:sp>
      <p:sp>
        <p:nvSpPr>
          <p:cNvPr id="447" name="Google Shape;447;p59"/>
          <p:cNvSpPr txBox="1"/>
          <p:nvPr/>
        </p:nvSpPr>
        <p:spPr>
          <a:xfrm>
            <a:off x="0" y="4732875"/>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4">
                  <a:extLst>
                    <a:ext uri="{A12FA001-AC4F-418D-AE19-62706E023703}">
                      <ahyp:hlinkClr val="tx"/>
                    </a:ext>
                  </a:extLst>
                </a:hlinkClick>
              </a:rPr>
              <a:t>_Alicja_</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p60"/>
          <p:cNvPicPr preferRelativeResize="0"/>
          <p:nvPr/>
        </p:nvPicPr>
        <p:blipFill>
          <a:blip r:embed="rId3">
            <a:alphaModFix amt="34000"/>
          </a:blip>
          <a:stretch>
            <a:fillRect/>
          </a:stretch>
        </p:blipFill>
        <p:spPr>
          <a:xfrm>
            <a:off x="-74937" y="-526212"/>
            <a:ext cx="9293875" cy="6195926"/>
          </a:xfrm>
          <a:prstGeom prst="rect">
            <a:avLst/>
          </a:prstGeom>
          <a:noFill/>
          <a:ln>
            <a:noFill/>
          </a:ln>
        </p:spPr>
      </p:pic>
      <p:sp>
        <p:nvSpPr>
          <p:cNvPr id="453" name="Google Shape;453;p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Recap</a:t>
            </a:r>
            <a:endParaRPr/>
          </a:p>
        </p:txBody>
      </p:sp>
      <p:sp>
        <p:nvSpPr>
          <p:cNvPr id="454" name="Google Shape;454;p60"/>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Introductions:</a:t>
            </a:r>
            <a:endParaRPr b="1"/>
          </a:p>
          <a:p>
            <a:pPr indent="-317500" lvl="0" marL="457200" rtl="0" algn="l">
              <a:spcBef>
                <a:spcPts val="1600"/>
              </a:spcBef>
              <a:spcAft>
                <a:spcPts val="0"/>
              </a:spcAft>
              <a:buSzPts val="1400"/>
              <a:buChar char="●"/>
            </a:pPr>
            <a:r>
              <a:rPr lang="en"/>
              <a:t>Set out your argument.</a:t>
            </a:r>
            <a:endParaRPr/>
          </a:p>
          <a:p>
            <a:pPr indent="-317500" lvl="0" marL="457200" rtl="0" algn="l">
              <a:spcBef>
                <a:spcPts val="0"/>
              </a:spcBef>
              <a:spcAft>
                <a:spcPts val="0"/>
              </a:spcAft>
              <a:buSzPts val="1400"/>
              <a:buChar char="●"/>
            </a:pPr>
            <a:r>
              <a:rPr lang="en"/>
              <a:t>Use an uneven u. Or don’t.</a:t>
            </a:r>
            <a:endParaRPr/>
          </a:p>
          <a:p>
            <a:pPr indent="-317500" lvl="0" marL="457200" rtl="0" algn="l">
              <a:spcBef>
                <a:spcPts val="0"/>
              </a:spcBef>
              <a:spcAft>
                <a:spcPts val="0"/>
              </a:spcAft>
              <a:buSzPts val="1400"/>
              <a:buChar char="●"/>
            </a:pPr>
            <a:r>
              <a:rPr lang="en"/>
              <a:t>Introduce us to the problem (and its scope), your solution (and how it’s different from prior work), and your main contributions (with insights and results).</a:t>
            </a:r>
            <a:endParaRPr/>
          </a:p>
        </p:txBody>
      </p:sp>
      <p:sp>
        <p:nvSpPr>
          <p:cNvPr id="455" name="Google Shape;455;p60"/>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Related Works:</a:t>
            </a:r>
            <a:endParaRPr b="1"/>
          </a:p>
          <a:p>
            <a:pPr indent="-317500" lvl="0" marL="457200" rtl="0" algn="l">
              <a:spcBef>
                <a:spcPts val="1600"/>
              </a:spcBef>
              <a:spcAft>
                <a:spcPts val="0"/>
              </a:spcAft>
              <a:buSzPts val="1400"/>
              <a:buChar char="●"/>
            </a:pPr>
            <a:r>
              <a:rPr lang="en"/>
              <a:t>Group the work according to an organization system you previously introduced (for example, in </a:t>
            </a:r>
            <a:r>
              <a:rPr lang="en"/>
              <a:t>the</a:t>
            </a:r>
            <a:r>
              <a:rPr lang="en"/>
              <a:t> intro)</a:t>
            </a:r>
            <a:endParaRPr/>
          </a:p>
          <a:p>
            <a:pPr indent="-317500" lvl="0" marL="457200" rtl="0" algn="l">
              <a:spcBef>
                <a:spcPts val="0"/>
              </a:spcBef>
              <a:spcAft>
                <a:spcPts val="0"/>
              </a:spcAft>
              <a:buSzPts val="1400"/>
              <a:buChar char="●"/>
            </a:pPr>
            <a:r>
              <a:rPr lang="en"/>
              <a:t>Provide an overview of the approach, then immediately point out the limitations. “However” and “unfortunately” are key words for you.</a:t>
            </a:r>
            <a:endParaRPr/>
          </a:p>
          <a:p>
            <a:pPr indent="0" lvl="0" marL="0" rtl="0" algn="l">
              <a:spcBef>
                <a:spcPts val="1600"/>
              </a:spcBef>
              <a:spcAft>
                <a:spcPts val="0"/>
              </a:spcAft>
              <a:buNone/>
            </a:pPr>
            <a:r>
              <a:rPr b="1" lang="en"/>
              <a:t>Conclusions:</a:t>
            </a:r>
            <a:endParaRPr b="1"/>
          </a:p>
          <a:p>
            <a:pPr indent="-317500" lvl="0" marL="457200" rtl="0" algn="l">
              <a:spcBef>
                <a:spcPts val="1600"/>
              </a:spcBef>
              <a:spcAft>
                <a:spcPts val="0"/>
              </a:spcAft>
              <a:buSzPts val="1400"/>
              <a:buChar char="●"/>
            </a:pPr>
            <a:r>
              <a:rPr lang="en"/>
              <a:t>Short, sweet, dense</a:t>
            </a:r>
            <a:endParaRPr/>
          </a:p>
          <a:p>
            <a:pPr indent="-317500" lvl="0" marL="457200" rtl="0" algn="l">
              <a:spcBef>
                <a:spcPts val="0"/>
              </a:spcBef>
              <a:spcAft>
                <a:spcPts val="0"/>
              </a:spcAft>
              <a:buSzPts val="1400"/>
              <a:buChar char="●"/>
            </a:pPr>
            <a:r>
              <a:rPr lang="en"/>
              <a:t>Please: End with a conclusion, not just a statement of your results.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61"/>
          <p:cNvPicPr preferRelativeResize="0"/>
          <p:nvPr/>
        </p:nvPicPr>
        <p:blipFill>
          <a:blip r:embed="rId3">
            <a:alphaModFix amt="20000"/>
          </a:blip>
          <a:stretch>
            <a:fillRect/>
          </a:stretch>
        </p:blipFill>
        <p:spPr>
          <a:xfrm>
            <a:off x="-136774" y="-643637"/>
            <a:ext cx="9417552" cy="6278374"/>
          </a:xfrm>
          <a:prstGeom prst="rect">
            <a:avLst/>
          </a:prstGeom>
          <a:noFill/>
          <a:ln>
            <a:noFill/>
          </a:ln>
        </p:spPr>
      </p:pic>
      <p:sp>
        <p:nvSpPr>
          <p:cNvPr id="461" name="Google Shape;461;p61"/>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Language Use</a:t>
            </a:r>
            <a:endParaRPr/>
          </a:p>
        </p:txBody>
      </p:sp>
      <p:sp>
        <p:nvSpPr>
          <p:cNvPr id="462" name="Google Shape;462;p61"/>
          <p:cNvSpPr txBox="1"/>
          <p:nvPr/>
        </p:nvSpPr>
        <p:spPr>
          <a:xfrm>
            <a:off x="0" y="4732875"/>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4">
                  <a:extLst>
                    <a:ext uri="{A12FA001-AC4F-418D-AE19-62706E023703}">
                      <ahyp:hlinkClr val="tx"/>
                    </a:ext>
                  </a:extLst>
                </a:hlinkClick>
              </a:rPr>
              <a:t>_Alicja_</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5">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pic>
        <p:nvPicPr>
          <p:cNvPr id="467" name="Google Shape;467;p62"/>
          <p:cNvPicPr preferRelativeResize="0"/>
          <p:nvPr/>
        </p:nvPicPr>
        <p:blipFill>
          <a:blip r:embed="rId3">
            <a:alphaModFix amt="30000"/>
          </a:blip>
          <a:stretch>
            <a:fillRect/>
          </a:stretch>
        </p:blipFill>
        <p:spPr>
          <a:xfrm>
            <a:off x="-134587" y="-619900"/>
            <a:ext cx="9413174" cy="6383299"/>
          </a:xfrm>
          <a:prstGeom prst="rect">
            <a:avLst/>
          </a:prstGeom>
          <a:noFill/>
          <a:ln>
            <a:noFill/>
          </a:ln>
        </p:spPr>
      </p:pic>
      <p:sp>
        <p:nvSpPr>
          <p:cNvPr id="468" name="Google Shape;468;p6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Simple Language Is Best</a:t>
            </a:r>
            <a:endParaRPr/>
          </a:p>
        </p:txBody>
      </p:sp>
      <p:sp>
        <p:nvSpPr>
          <p:cNvPr id="469" name="Google Shape;469;p6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Simple sentences are better than complex sentences. Clarity is key. If you’re getting lost in the parallelism of your sentences or are confused as to which are dependent and independent clauses, your readers probably are, too. Simplify. </a:t>
            </a:r>
            <a:endParaRPr/>
          </a:p>
          <a:p>
            <a:pPr indent="0" lvl="0" marL="0" rtl="0" algn="l">
              <a:spcBef>
                <a:spcPts val="1600"/>
              </a:spcBef>
              <a:spcAft>
                <a:spcPts val="0"/>
              </a:spcAft>
              <a:buNone/>
            </a:pPr>
            <a:r>
              <a:rPr lang="en"/>
              <a:t>Relatedly, check that you’ve explained key processes and acronyms the first time you mention them. This is especially important in </a:t>
            </a:r>
            <a:r>
              <a:rPr lang="en"/>
              <a:t>the</a:t>
            </a:r>
            <a:r>
              <a:rPr lang="en"/>
              <a:t> introduction which is often read by non-experts.</a:t>
            </a:r>
            <a:endParaRPr/>
          </a:p>
          <a:p>
            <a:pPr indent="0" lvl="0" marL="0" rtl="0" algn="l">
              <a:spcBef>
                <a:spcPts val="1600"/>
              </a:spcBef>
              <a:spcAft>
                <a:spcPts val="0"/>
              </a:spcAft>
              <a:buNone/>
            </a:pPr>
            <a:r>
              <a:rPr lang="en"/>
              <a:t>And use </a:t>
            </a:r>
            <a:r>
              <a:rPr lang="en" u="sng">
                <a:solidFill>
                  <a:schemeClr val="hlink"/>
                </a:solidFill>
                <a:hlinkClick r:id="rId4"/>
              </a:rPr>
              <a:t>active voice</a:t>
            </a:r>
            <a:r>
              <a:rPr lang="en"/>
              <a:t> the majority of the time. Authors use active voice because it is clear and helps keep the focus on your research. The use of passive voice is to be avoided.</a:t>
            </a:r>
            <a:endParaRPr/>
          </a:p>
          <a:p>
            <a:pPr indent="0" lvl="0" marL="457200" marR="0" rtl="0" algn="l">
              <a:lnSpc>
                <a:spcPct val="115000"/>
              </a:lnSpc>
              <a:spcBef>
                <a:spcPts val="1600"/>
              </a:spcBef>
              <a:spcAft>
                <a:spcPts val="160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Attention-grabbers</a:t>
            </a:r>
            <a:endParaRPr/>
          </a:p>
        </p:txBody>
      </p:sp>
      <p:sp>
        <p:nvSpPr>
          <p:cNvPr id="475" name="Google Shape;475;p63"/>
          <p:cNvSpPr txBox="1"/>
          <p:nvPr>
            <p:ph idx="1" type="body"/>
          </p:nvPr>
        </p:nvSpPr>
        <p:spPr>
          <a:xfrm>
            <a:off x="311700" y="1225225"/>
            <a:ext cx="59592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Bold and italics can help with clarity. Be glad, because many academic disciplines ban them. </a:t>
            </a:r>
            <a:endParaRPr/>
          </a:p>
          <a:p>
            <a:pPr indent="-317500" lvl="1" marL="914400" rtl="0" algn="l">
              <a:spcBef>
                <a:spcPts val="1600"/>
              </a:spcBef>
              <a:spcAft>
                <a:spcPts val="0"/>
              </a:spcAft>
              <a:buSzPts val="1400"/>
              <a:buAutoNum type="alphaLcPeriod"/>
            </a:pPr>
            <a:r>
              <a:rPr b="1" lang="en"/>
              <a:t>Boldface</a:t>
            </a:r>
            <a:r>
              <a:rPr lang="en"/>
              <a:t> helps make your organization clear. Used mainly to create mini-headings or unofficial sub-sections.</a:t>
            </a:r>
            <a:endParaRPr/>
          </a:p>
          <a:p>
            <a:pPr indent="-317500" lvl="1" marL="914400" rtl="0" algn="l">
              <a:spcBef>
                <a:spcPts val="0"/>
              </a:spcBef>
              <a:spcAft>
                <a:spcPts val="0"/>
              </a:spcAft>
              <a:buSzPts val="1400"/>
              <a:buAutoNum type="alphaLcPeriod"/>
            </a:pPr>
            <a:r>
              <a:rPr i="1" lang="en"/>
              <a:t>Italics</a:t>
            </a:r>
            <a:r>
              <a:rPr lang="en"/>
              <a:t> draw attention to a key detail or fundamental difference. Many papers italicize “not”. Or they italicize opposites (e.g., “</a:t>
            </a:r>
            <a:r>
              <a:rPr i="1" lang="en"/>
              <a:t>all</a:t>
            </a:r>
            <a:r>
              <a:rPr lang="en"/>
              <a:t> power supplies… </a:t>
            </a:r>
            <a:r>
              <a:rPr i="1" lang="en"/>
              <a:t>individual</a:t>
            </a:r>
            <a:r>
              <a:rPr lang="en"/>
              <a:t> power supplies”).</a:t>
            </a:r>
            <a:endParaRPr/>
          </a:p>
          <a:p>
            <a:pPr indent="-317500" lvl="1" marL="914400" rtl="0" algn="l">
              <a:spcBef>
                <a:spcPts val="0"/>
              </a:spcBef>
              <a:spcAft>
                <a:spcPts val="0"/>
              </a:spcAft>
              <a:buSzPts val="1400"/>
              <a:buAutoNum type="alphaLcPeriod"/>
            </a:pPr>
            <a:r>
              <a:rPr lang="en"/>
              <a:t>Confusingly, sometimes these same papers use </a:t>
            </a:r>
            <a:r>
              <a:rPr i="1" lang="en"/>
              <a:t>italics</a:t>
            </a:r>
            <a:r>
              <a:rPr lang="en"/>
              <a:t> for key terms. It seems needlessly ambiguous to me, but appears to be acceptable within the community.</a:t>
            </a:r>
            <a:endParaRPr/>
          </a:p>
          <a:p>
            <a:pPr indent="0" lvl="0" marL="0" rtl="0" algn="l">
              <a:spcBef>
                <a:spcPts val="1600"/>
              </a:spcBef>
              <a:spcAft>
                <a:spcPts val="1600"/>
              </a:spcAft>
              <a:buNone/>
            </a:pPr>
            <a:r>
              <a:t/>
            </a:r>
            <a:endParaRPr/>
          </a:p>
        </p:txBody>
      </p:sp>
      <p:pic>
        <p:nvPicPr>
          <p:cNvPr id="476" name="Google Shape;476;p63"/>
          <p:cNvPicPr preferRelativeResize="0"/>
          <p:nvPr/>
        </p:nvPicPr>
        <p:blipFill>
          <a:blip r:embed="rId3">
            <a:alphaModFix/>
          </a:blip>
          <a:stretch>
            <a:fillRect/>
          </a:stretch>
        </p:blipFill>
        <p:spPr>
          <a:xfrm>
            <a:off x="6371325" y="1056488"/>
            <a:ext cx="2460986" cy="3691478"/>
          </a:xfrm>
          <a:prstGeom prst="rect">
            <a:avLst/>
          </a:prstGeom>
          <a:noFill/>
          <a:ln>
            <a:noFill/>
          </a:ln>
        </p:spPr>
      </p:pic>
      <p:sp>
        <p:nvSpPr>
          <p:cNvPr id="477" name="Google Shape;477;p63"/>
          <p:cNvSpPr txBox="1"/>
          <p:nvPr/>
        </p:nvSpPr>
        <p:spPr>
          <a:xfrm>
            <a:off x="6371325" y="4747975"/>
            <a:ext cx="24609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highlight>
                  <a:srgbClr val="FFFFFF"/>
                </a:highlight>
                <a:latin typeface="Helvetica"/>
                <a:ea typeface="Helvetica"/>
                <a:cs typeface="Helvetica"/>
                <a:sym typeface="Helvetica"/>
              </a:rPr>
              <a:t>Image by </a:t>
            </a:r>
            <a:r>
              <a:rPr lang="en" sz="1100" u="sng">
                <a:solidFill>
                  <a:srgbClr val="333333"/>
                </a:solidFill>
                <a:highlight>
                  <a:srgbClr val="FFFFFF"/>
                </a:highlight>
                <a:latin typeface="Helvetica"/>
                <a:ea typeface="Helvetica"/>
                <a:cs typeface="Helvetica"/>
                <a:sym typeface="Helvetica"/>
                <a:hlinkClick r:id="rId4">
                  <a:extLst>
                    <a:ext uri="{A12FA001-AC4F-418D-AE19-62706E023703}">
                      <ahyp:hlinkClr val="tx"/>
                    </a:ext>
                  </a:extLst>
                </a:hlinkClick>
              </a:rPr>
              <a:t>Thomas B.</a:t>
            </a:r>
            <a:r>
              <a:rPr lang="en" sz="1100">
                <a:solidFill>
                  <a:srgbClr val="333333"/>
                </a:solidFill>
                <a:highlight>
                  <a:srgbClr val="FFFFFF"/>
                </a:highlight>
                <a:latin typeface="Helvetica"/>
                <a:ea typeface="Helvetica"/>
                <a:cs typeface="Helvetica"/>
                <a:sym typeface="Helvetica"/>
              </a:rPr>
              <a:t> from </a:t>
            </a:r>
            <a:r>
              <a:rPr lang="en" sz="1100" u="sng">
                <a:solidFill>
                  <a:srgbClr val="333333"/>
                </a:solidFill>
                <a:highlight>
                  <a:srgbClr val="FFFFFF"/>
                </a:highlight>
                <a:latin typeface="Helvetica"/>
                <a:ea typeface="Helvetica"/>
                <a:cs typeface="Helvetica"/>
                <a:sym typeface="Helvetica"/>
                <a:hlinkClick r:id="rId5">
                  <a:extLst>
                    <a:ext uri="{A12FA001-AC4F-418D-AE19-62706E023703}">
                      <ahyp:hlinkClr val="tx"/>
                    </a:ext>
                  </a:extLst>
                </a:hlinkClick>
              </a:rPr>
              <a:t>Pixabay</a:t>
            </a:r>
            <a:endParaRPr>
              <a:latin typeface="Open Sans"/>
              <a:ea typeface="Open Sans"/>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id="482" name="Google Shape;482;p64"/>
          <p:cNvPicPr preferRelativeResize="0"/>
          <p:nvPr/>
        </p:nvPicPr>
        <p:blipFill>
          <a:blip r:embed="rId3">
            <a:alphaModFix amt="30000"/>
          </a:blip>
          <a:stretch>
            <a:fillRect/>
          </a:stretch>
        </p:blipFill>
        <p:spPr>
          <a:xfrm>
            <a:off x="-2" y="-473862"/>
            <a:ext cx="9144000" cy="6091225"/>
          </a:xfrm>
          <a:prstGeom prst="rect">
            <a:avLst/>
          </a:prstGeom>
          <a:noFill/>
          <a:ln>
            <a:noFill/>
          </a:ln>
        </p:spPr>
      </p:pic>
      <p:sp>
        <p:nvSpPr>
          <p:cNvPr id="483" name="Google Shape;483;p6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Your work is awesome</a:t>
            </a:r>
            <a:endParaRPr/>
          </a:p>
        </p:txBody>
      </p:sp>
      <p:sp>
        <p:nvSpPr>
          <p:cNvPr id="484" name="Google Shape;484;p64"/>
          <p:cNvSpPr txBox="1"/>
          <p:nvPr>
            <p:ph idx="1" type="body"/>
          </p:nvPr>
        </p:nvSpPr>
        <p:spPr>
          <a:xfrm>
            <a:off x="311700" y="1019050"/>
            <a:ext cx="8520600" cy="35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Your solution is awesome. Make sure we know that. Don’t just imply how awesome it is. Tell us.*</a:t>
            </a:r>
            <a:endParaRPr sz="1600"/>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1600"/>
              </a:spcAft>
              <a:buNone/>
            </a:pPr>
            <a:r>
              <a:rPr lang="en" sz="1100"/>
              <a:t>* Just make sure you’re not lying. If your work isn’t that awesome, claiming it is will backfire.</a:t>
            </a:r>
            <a:endParaRPr sz="1100"/>
          </a:p>
        </p:txBody>
      </p:sp>
      <p:graphicFrame>
        <p:nvGraphicFramePr>
          <p:cNvPr id="485" name="Google Shape;485;p64"/>
          <p:cNvGraphicFramePr/>
          <p:nvPr/>
        </p:nvGraphicFramePr>
        <p:xfrm>
          <a:off x="952500" y="1633650"/>
          <a:ext cx="3000000" cy="3000000"/>
        </p:xfrm>
        <a:graphic>
          <a:graphicData uri="http://schemas.openxmlformats.org/drawingml/2006/table">
            <a:tbl>
              <a:tblPr>
                <a:noFill/>
                <a:tableStyleId>{A1FEDFCD-BC42-4225-886D-6D3858ECF4EA}</a:tableStyleId>
              </a:tblPr>
              <a:tblGrid>
                <a:gridCol w="2570200"/>
                <a:gridCol w="4668800"/>
              </a:tblGrid>
              <a:tr h="381000">
                <a:tc>
                  <a:txBody>
                    <a:bodyPr/>
                    <a:lstStyle/>
                    <a:p>
                      <a:pPr indent="0" lvl="0" marL="0" rtl="0" algn="l">
                        <a:spcBef>
                          <a:spcPts val="0"/>
                        </a:spcBef>
                        <a:spcAft>
                          <a:spcPts val="0"/>
                        </a:spcAft>
                        <a:buNone/>
                      </a:pPr>
                      <a:r>
                        <a:rPr b="1" lang="en">
                          <a:latin typeface="Open Sans"/>
                          <a:ea typeface="Open Sans"/>
                          <a:cs typeface="Open Sans"/>
                          <a:sym typeface="Open Sans"/>
                        </a:rPr>
                        <a:t>What makes you awesome</a:t>
                      </a:r>
                      <a:endParaRPr b="1">
                        <a:latin typeface="Open Sans"/>
                        <a:ea typeface="Open Sans"/>
                        <a:cs typeface="Open Sans"/>
                        <a:sym typeface="Open Sans"/>
                      </a:endParaRPr>
                    </a:p>
                  </a:txBody>
                  <a:tcPr marT="91425" marB="91425" marR="91425" marL="91425"/>
                </a:tc>
                <a:tc>
                  <a:txBody>
                    <a:bodyPr/>
                    <a:lstStyle/>
                    <a:p>
                      <a:pPr indent="0" lvl="0" marL="0" rtl="0" algn="l">
                        <a:spcBef>
                          <a:spcPts val="0"/>
                        </a:spcBef>
                        <a:spcAft>
                          <a:spcPts val="0"/>
                        </a:spcAft>
                        <a:buNone/>
                      </a:pPr>
                      <a:r>
                        <a:rPr b="1" lang="en">
                          <a:latin typeface="Open Sans"/>
                          <a:ea typeface="Open Sans"/>
                          <a:cs typeface="Open Sans"/>
                          <a:sym typeface="Open Sans"/>
                        </a:rPr>
                        <a:t>Ways to describe it</a:t>
                      </a:r>
                      <a:endParaRPr b="1">
                        <a:latin typeface="Open Sans"/>
                        <a:ea typeface="Open Sans"/>
                        <a:cs typeface="Open Sans"/>
                        <a:sym typeface="Open Sans"/>
                      </a:endParaRPr>
                    </a:p>
                  </a:txBody>
                  <a:tcPr marT="91425" marB="91425" marR="91425" marL="91425"/>
                </a:tc>
              </a:tr>
              <a:tr h="381000">
                <a:tc>
                  <a:txBody>
                    <a:bodyPr/>
                    <a:lstStyle/>
                    <a:p>
                      <a:pPr indent="0" lvl="0" marL="0" rtl="0" algn="l">
                        <a:spcBef>
                          <a:spcPts val="0"/>
                        </a:spcBef>
                        <a:spcAft>
                          <a:spcPts val="0"/>
                        </a:spcAft>
                        <a:buNone/>
                      </a:pPr>
                      <a:r>
                        <a:rPr lang="en" sz="1300">
                          <a:latin typeface="Open Sans"/>
                          <a:ea typeface="Open Sans"/>
                          <a:cs typeface="Open Sans"/>
                          <a:sym typeface="Open Sans"/>
                        </a:rPr>
                        <a:t>Novelty</a:t>
                      </a:r>
                      <a:endParaRPr sz="1300">
                        <a:latin typeface="Open Sans"/>
                        <a:ea typeface="Open Sans"/>
                        <a:cs typeface="Open Sans"/>
                        <a:sym typeface="Open Sans"/>
                      </a:endParaRPr>
                    </a:p>
                  </a:txBody>
                  <a:tcPr marT="91425" marB="91425" marR="91425" marL="91425"/>
                </a:tc>
                <a:tc>
                  <a:txBody>
                    <a:bodyPr/>
                    <a:lstStyle/>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a:t>
                      </a:r>
                      <a:r>
                        <a:rPr lang="en" sz="1300">
                          <a:latin typeface="Open Sans"/>
                          <a:ea typeface="Open Sans"/>
                          <a:cs typeface="Open Sans"/>
                          <a:sym typeface="Open Sans"/>
                        </a:rPr>
                        <a:t>As far as we know, this is the first solution for…”</a:t>
                      </a:r>
                      <a:endParaRPr sz="1300">
                        <a:latin typeface="Open Sans"/>
                        <a:ea typeface="Open Sans"/>
                        <a:cs typeface="Open Sans"/>
                        <a:sym typeface="Open Sans"/>
                      </a:endParaRPr>
                    </a:p>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“A new methodology for…”</a:t>
                      </a:r>
                      <a:endParaRPr sz="1300">
                        <a:latin typeface="Open Sans"/>
                        <a:ea typeface="Open Sans"/>
                        <a:cs typeface="Open Sans"/>
                        <a:sym typeface="Open Sans"/>
                      </a:endParaRPr>
                    </a:p>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“A novel approach…”</a:t>
                      </a:r>
                      <a:endParaRPr sz="1300">
                        <a:latin typeface="Open Sans"/>
                        <a:ea typeface="Open Sans"/>
                        <a:cs typeface="Open Sans"/>
                        <a:sym typeface="Open Sans"/>
                      </a:endParaRPr>
                    </a:p>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“A new perspective on…”</a:t>
                      </a:r>
                      <a:endParaRPr sz="1300">
                        <a:latin typeface="Open Sans"/>
                        <a:ea typeface="Open Sans"/>
                        <a:cs typeface="Open Sans"/>
                        <a:sym typeface="Open Sans"/>
                      </a:endParaRPr>
                    </a:p>
                  </a:txBody>
                  <a:tcPr marT="91425" marB="91425" marR="91425" marL="91425"/>
                </a:tc>
              </a:tr>
              <a:tr h="381000">
                <a:tc>
                  <a:txBody>
                    <a:bodyPr/>
                    <a:lstStyle/>
                    <a:p>
                      <a:pPr indent="0" lvl="0" marL="0" rtl="0" algn="l">
                        <a:spcBef>
                          <a:spcPts val="0"/>
                        </a:spcBef>
                        <a:spcAft>
                          <a:spcPts val="0"/>
                        </a:spcAft>
                        <a:buNone/>
                      </a:pPr>
                      <a:r>
                        <a:rPr lang="en" sz="1300">
                          <a:latin typeface="Open Sans"/>
                          <a:ea typeface="Open Sans"/>
                          <a:cs typeface="Open Sans"/>
                          <a:sym typeface="Open Sans"/>
                        </a:rPr>
                        <a:t>Thorough evaluation</a:t>
                      </a:r>
                      <a:endParaRPr sz="1300">
                        <a:latin typeface="Open Sans"/>
                        <a:ea typeface="Open Sans"/>
                        <a:cs typeface="Open Sans"/>
                        <a:sym typeface="Open Sans"/>
                      </a:endParaRPr>
                    </a:p>
                  </a:txBody>
                  <a:tcPr marT="91425" marB="91425" marR="91425" marL="91425"/>
                </a:tc>
                <a:tc>
                  <a:txBody>
                    <a:bodyPr/>
                    <a:lstStyle/>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“We perform a rigorous [evaluation]...”</a:t>
                      </a:r>
                      <a:endParaRPr sz="1300">
                        <a:latin typeface="Open Sans"/>
                        <a:ea typeface="Open Sans"/>
                        <a:cs typeface="Open Sans"/>
                        <a:sym typeface="Open Sans"/>
                      </a:endParaRPr>
                    </a:p>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“In-depth examination of…”</a:t>
                      </a:r>
                      <a:endParaRPr sz="1300">
                        <a:latin typeface="Open Sans"/>
                        <a:ea typeface="Open Sans"/>
                        <a:cs typeface="Open Sans"/>
                        <a:sym typeface="Open Sans"/>
                      </a:endParaRPr>
                    </a:p>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“A rigorous characterization of…”</a:t>
                      </a:r>
                      <a:endParaRPr sz="1300">
                        <a:latin typeface="Open Sans"/>
                        <a:ea typeface="Open Sans"/>
                        <a:cs typeface="Open Sans"/>
                        <a:sym typeface="Open Sans"/>
                      </a:endParaRPr>
                    </a:p>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“We evaluate [solution] on real cloud servers…”</a:t>
                      </a:r>
                      <a:endParaRPr sz="1300">
                        <a:latin typeface="Open Sans"/>
                        <a:ea typeface="Open Sans"/>
                        <a:cs typeface="Open Sans"/>
                        <a:sym typeface="Open Sans"/>
                      </a:endParaRPr>
                    </a:p>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“A comprehensive comparison…”</a:t>
                      </a:r>
                      <a:endParaRPr sz="1300">
                        <a:latin typeface="Open Sans"/>
                        <a:ea typeface="Open Sans"/>
                        <a:cs typeface="Open Sans"/>
                        <a:sym typeface="Open Sans"/>
                      </a:endParaRPr>
                    </a:p>
                  </a:txBody>
                  <a:tcPr marT="91425" marB="91425" marR="91425" marL="91425"/>
                </a:tc>
              </a:tr>
              <a:tr h="381000">
                <a:tc>
                  <a:txBody>
                    <a:bodyPr/>
                    <a:lstStyle/>
                    <a:p>
                      <a:pPr indent="0" lvl="0" marL="0" rtl="0" algn="l">
                        <a:spcBef>
                          <a:spcPts val="0"/>
                        </a:spcBef>
                        <a:spcAft>
                          <a:spcPts val="0"/>
                        </a:spcAft>
                        <a:buNone/>
                      </a:pPr>
                      <a:r>
                        <a:rPr lang="en" sz="1300">
                          <a:latin typeface="Open Sans"/>
                          <a:ea typeface="Open Sans"/>
                          <a:cs typeface="Open Sans"/>
                          <a:sym typeface="Open Sans"/>
                        </a:rPr>
                        <a:t>Increasing the knowledge base</a:t>
                      </a:r>
                      <a:endParaRPr sz="1300">
                        <a:latin typeface="Open Sans"/>
                        <a:ea typeface="Open Sans"/>
                        <a:cs typeface="Open Sans"/>
                        <a:sym typeface="Open Sans"/>
                      </a:endParaRPr>
                    </a:p>
                  </a:txBody>
                  <a:tcPr marT="91425" marB="91425" marR="91425" marL="91425"/>
                </a:tc>
                <a:tc>
                  <a:txBody>
                    <a:bodyPr/>
                    <a:lstStyle/>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“The key insight is…”</a:t>
                      </a:r>
                      <a:endParaRPr sz="1300">
                        <a:latin typeface="Open Sans"/>
                        <a:ea typeface="Open Sans"/>
                        <a:cs typeface="Open Sans"/>
                        <a:sym typeface="Open Sans"/>
                      </a:endParaRPr>
                    </a:p>
                    <a:p>
                      <a:pPr indent="-311150" lvl="0" marL="457200" rtl="0" algn="l">
                        <a:spcBef>
                          <a:spcPts val="0"/>
                        </a:spcBef>
                        <a:spcAft>
                          <a:spcPts val="0"/>
                        </a:spcAft>
                        <a:buSzPts val="1300"/>
                        <a:buFont typeface="Open Sans"/>
                        <a:buChar char="●"/>
                      </a:pPr>
                      <a:r>
                        <a:rPr lang="en" sz="1300">
                          <a:latin typeface="Open Sans"/>
                          <a:ea typeface="Open Sans"/>
                          <a:cs typeface="Open Sans"/>
                          <a:sym typeface="Open Sans"/>
                        </a:rPr>
                        <a:t>“We discover that…”</a:t>
                      </a:r>
                      <a:endParaRPr sz="1300">
                        <a:latin typeface="Open Sans"/>
                        <a:ea typeface="Open Sans"/>
                        <a:cs typeface="Open Sans"/>
                        <a:sym typeface="Open Sans"/>
                      </a:endParaRPr>
                    </a:p>
                  </a:txBody>
                  <a:tcPr marT="91425" marB="91425" marR="91425" marL="91425"/>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p65"/>
          <p:cNvPicPr preferRelativeResize="0"/>
          <p:nvPr/>
        </p:nvPicPr>
        <p:blipFill>
          <a:blip r:embed="rId3">
            <a:alphaModFix amt="10000"/>
          </a:blip>
          <a:stretch>
            <a:fillRect/>
          </a:stretch>
        </p:blipFill>
        <p:spPr>
          <a:xfrm>
            <a:off x="0" y="-476237"/>
            <a:ext cx="9144000" cy="6095965"/>
          </a:xfrm>
          <a:prstGeom prst="rect">
            <a:avLst/>
          </a:prstGeom>
          <a:noFill/>
          <a:ln>
            <a:noFill/>
          </a:ln>
        </p:spPr>
      </p:pic>
      <p:sp>
        <p:nvSpPr>
          <p:cNvPr id="491" name="Google Shape;491;p6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Pro-Tips: Coherence Language Hacks </a:t>
            </a:r>
            <a:endParaRPr/>
          </a:p>
        </p:txBody>
      </p:sp>
      <p:sp>
        <p:nvSpPr>
          <p:cNvPr id="492" name="Google Shape;492;p6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 coherent argument is a strong argument. You should make your argument coherent by the logic with which you present information and ideas. But you can also increase coherence with language hacks.</a:t>
            </a:r>
            <a:endParaRPr sz="1600"/>
          </a:p>
          <a:p>
            <a:pPr indent="-330200" lvl="0" marL="457200" rtl="0" algn="l">
              <a:spcBef>
                <a:spcPts val="1600"/>
              </a:spcBef>
              <a:spcAft>
                <a:spcPts val="0"/>
              </a:spcAft>
              <a:buSzPts val="1600"/>
              <a:buChar char="●"/>
            </a:pPr>
            <a:r>
              <a:rPr lang="en" sz="1600"/>
              <a:t>Section titles. There are no prescribed section titles in this kind of publication. So up your coherence by using key terms, synonyms of key terms, idiomatic expressions that relate to those key terms.</a:t>
            </a:r>
            <a:endParaRPr sz="1600"/>
          </a:p>
          <a:p>
            <a:pPr indent="-317500" lvl="1" marL="914400" rtl="0" algn="l">
              <a:spcBef>
                <a:spcPts val="0"/>
              </a:spcBef>
              <a:spcAft>
                <a:spcPts val="0"/>
              </a:spcAft>
              <a:buSzPts val="1400"/>
              <a:buChar char="○"/>
            </a:pPr>
            <a:r>
              <a:rPr lang="en"/>
              <a:t>See </a:t>
            </a:r>
            <a:r>
              <a:rPr lang="en" u="sng">
                <a:solidFill>
                  <a:schemeClr val="hlink"/>
                </a:solidFill>
                <a:hlinkClick r:id="rId4"/>
              </a:rPr>
              <a:t>CapMaestro</a:t>
            </a:r>
            <a:r>
              <a:rPr lang="en"/>
              <a:t> for an example of repeated subsection organization. </a:t>
            </a:r>
            <a:endParaRPr/>
          </a:p>
          <a:p>
            <a:pPr indent="-317500" lvl="2" marL="1371600" rtl="0" algn="l">
              <a:spcBef>
                <a:spcPts val="0"/>
              </a:spcBef>
              <a:spcAft>
                <a:spcPts val="0"/>
              </a:spcAft>
              <a:buSzPts val="1400"/>
              <a:buChar char="■"/>
            </a:pPr>
            <a:r>
              <a:rPr lang="en"/>
              <a:t>Three design goals become the repeated subsection titles</a:t>
            </a:r>
            <a:endParaRPr/>
          </a:p>
          <a:p>
            <a:pPr indent="-317500" lvl="1" marL="914400" rtl="0" algn="l">
              <a:spcBef>
                <a:spcPts val="0"/>
              </a:spcBef>
              <a:spcAft>
                <a:spcPts val="0"/>
              </a:spcAft>
              <a:buSzPts val="1400"/>
              <a:buChar char="○"/>
            </a:pPr>
            <a:r>
              <a:rPr lang="en"/>
              <a:t>See </a:t>
            </a:r>
            <a:r>
              <a:rPr lang="en" u="sng">
                <a:solidFill>
                  <a:schemeClr val="hlink"/>
                </a:solidFill>
                <a:hlinkClick r:id="rId5"/>
              </a:rPr>
              <a:t>TSO</a:t>
            </a:r>
            <a:r>
              <a:rPr lang="en"/>
              <a:t> for an example of headings referring to ‘seeing’ and violent ‘violations’</a:t>
            </a:r>
            <a:endParaRPr/>
          </a:p>
          <a:p>
            <a:pPr indent="-317500" lvl="2" marL="1371600" rtl="0" algn="l">
              <a:spcBef>
                <a:spcPts val="0"/>
              </a:spcBef>
              <a:spcAft>
                <a:spcPts val="0"/>
              </a:spcAft>
              <a:buSzPts val="1400"/>
              <a:buChar char="■"/>
            </a:pPr>
            <a:r>
              <a:rPr lang="en"/>
              <a:t>“Seeing”: “Now you see me, now you don’t”  </a:t>
            </a:r>
            <a:endParaRPr/>
          </a:p>
          <a:p>
            <a:pPr indent="-317500" lvl="2" marL="1371600" rtl="0" algn="l">
              <a:spcBef>
                <a:spcPts val="0"/>
              </a:spcBef>
              <a:spcAft>
                <a:spcPts val="0"/>
              </a:spcAft>
              <a:buSzPts val="1400"/>
              <a:buChar char="■"/>
            </a:pPr>
            <a:r>
              <a:rPr lang="en"/>
              <a:t>Violent violations: “Lockdowns and writersblock,” “Safe passage,” “Evictions,” “Violate”</a:t>
            </a:r>
            <a:endParaRPr/>
          </a:p>
          <a:p>
            <a:pPr indent="0" lvl="0" marL="0" marR="0" rtl="0" algn="l">
              <a:lnSpc>
                <a:spcPct val="115000"/>
              </a:lnSpc>
              <a:spcBef>
                <a:spcPts val="1600"/>
              </a:spcBef>
              <a:spcAft>
                <a:spcPts val="1600"/>
              </a:spcAft>
              <a:buNone/>
            </a:pPr>
            <a:r>
              <a:t/>
            </a:r>
            <a:endParaRPr/>
          </a:p>
        </p:txBody>
      </p:sp>
      <p:sp>
        <p:nvSpPr>
          <p:cNvPr id="493" name="Google Shape;493;p65"/>
          <p:cNvSpPr txBox="1"/>
          <p:nvPr/>
        </p:nvSpPr>
        <p:spPr>
          <a:xfrm>
            <a:off x="311700" y="4717850"/>
            <a:ext cx="71952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333333"/>
                </a:solidFill>
                <a:latin typeface="Helvetica"/>
                <a:ea typeface="Helvetica"/>
                <a:cs typeface="Helvetica"/>
                <a:sym typeface="Helvetica"/>
              </a:rPr>
              <a:t>Image by </a:t>
            </a:r>
            <a:r>
              <a:rPr lang="en" sz="1100" u="sng">
                <a:solidFill>
                  <a:srgbClr val="333333"/>
                </a:solidFill>
                <a:latin typeface="Helvetica"/>
                <a:ea typeface="Helvetica"/>
                <a:cs typeface="Helvetica"/>
                <a:sym typeface="Helvetica"/>
                <a:hlinkClick r:id="rId6">
                  <a:extLst>
                    <a:ext uri="{A12FA001-AC4F-418D-AE19-62706E023703}">
                      <ahyp:hlinkClr val="tx"/>
                    </a:ext>
                  </a:extLst>
                </a:hlinkClick>
              </a:rPr>
              <a:t>Gerd Altmann</a:t>
            </a:r>
            <a:r>
              <a:rPr lang="en" sz="1100">
                <a:solidFill>
                  <a:srgbClr val="333333"/>
                </a:solidFill>
                <a:latin typeface="Helvetica"/>
                <a:ea typeface="Helvetica"/>
                <a:cs typeface="Helvetica"/>
                <a:sym typeface="Helvetica"/>
              </a:rPr>
              <a:t> from </a:t>
            </a:r>
            <a:r>
              <a:rPr lang="en" sz="1100" u="sng">
                <a:solidFill>
                  <a:srgbClr val="333333"/>
                </a:solidFill>
                <a:latin typeface="Helvetica"/>
                <a:ea typeface="Helvetica"/>
                <a:cs typeface="Helvetica"/>
                <a:sym typeface="Helvetica"/>
                <a:hlinkClick r:id="rId7">
                  <a:extLst>
                    <a:ext uri="{A12FA001-AC4F-418D-AE19-62706E023703}">
                      <ahyp:hlinkClr val="tx"/>
                    </a:ext>
                  </a:extLst>
                </a:hlinkClick>
              </a:rPr>
              <a:t>Pixabay</a:t>
            </a:r>
            <a:r>
              <a:rPr lang="en" sz="1100">
                <a:solidFill>
                  <a:srgbClr val="333333"/>
                </a:solidFill>
                <a:highlight>
                  <a:srgbClr val="FFFFFF"/>
                </a:highlight>
                <a:latin typeface="Helvetica"/>
                <a:ea typeface="Helvetica"/>
                <a:cs typeface="Helvetica"/>
                <a:sym typeface="Helvetica"/>
              </a:rPr>
              <a:t> </a:t>
            </a:r>
            <a:endParaRPr>
              <a:latin typeface="Open Sans"/>
              <a:ea typeface="Open Sans"/>
              <a:cs typeface="Open Sans"/>
              <a:sym typeface="Open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Coherence through Lexical Chains</a:t>
            </a:r>
            <a:endParaRPr/>
          </a:p>
        </p:txBody>
      </p:sp>
      <p:sp>
        <p:nvSpPr>
          <p:cNvPr id="499" name="Google Shape;499;p6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Lexical chains are when you use related terms consistently throughout your writing to ‘chain’ together your ideas.</a:t>
            </a:r>
            <a:endParaRPr sz="1400"/>
          </a:p>
          <a:p>
            <a:pPr indent="0" lvl="0" marL="0" rtl="0" algn="l">
              <a:spcBef>
                <a:spcPts val="1600"/>
              </a:spcBef>
              <a:spcAft>
                <a:spcPts val="0"/>
              </a:spcAft>
              <a:buNone/>
            </a:pPr>
            <a:r>
              <a:rPr lang="en" sz="1400"/>
              <a:t>Refer to your point using synonyms, high-level descriptions, related concepts, and technical jargon. This varies your prose but reinforces your point. </a:t>
            </a:r>
            <a:endParaRPr sz="1400"/>
          </a:p>
          <a:p>
            <a:pPr indent="0" lvl="0" marL="0" rtl="0" algn="l">
              <a:spcBef>
                <a:spcPts val="1600"/>
              </a:spcBef>
              <a:spcAft>
                <a:spcPts val="0"/>
              </a:spcAft>
              <a:buNone/>
            </a:pPr>
            <a:r>
              <a:rPr lang="en" sz="1400"/>
              <a:t>See the intro of </a:t>
            </a:r>
            <a:r>
              <a:rPr lang="en" sz="1400" u="sng">
                <a:solidFill>
                  <a:schemeClr val="accent5"/>
                </a:solidFill>
                <a:hlinkClick r:id="rId3">
                  <a:extLst>
                    <a:ext uri="{A12FA001-AC4F-418D-AE19-62706E023703}">
                      <ahyp:hlinkClr val="tx"/>
                    </a:ext>
                  </a:extLst>
                </a:hlinkClick>
              </a:rPr>
              <a:t>D-RaNGe</a:t>
            </a:r>
            <a:r>
              <a:rPr lang="en" sz="1400"/>
              <a:t>, which is about quickly creating random numbers and has two clear lexical chains. </a:t>
            </a:r>
            <a:endParaRPr sz="1400"/>
          </a:p>
          <a:p>
            <a:pPr indent="0" lvl="0" marL="457200" rtl="0" algn="l">
              <a:spcBef>
                <a:spcPts val="1600"/>
              </a:spcBef>
              <a:spcAft>
                <a:spcPts val="0"/>
              </a:spcAft>
              <a:buNone/>
            </a:pPr>
            <a:r>
              <a:t/>
            </a:r>
            <a:endParaRPr sz="1400"/>
          </a:p>
          <a:p>
            <a:pPr indent="0" lvl="0" marL="457200" rtl="0" algn="l">
              <a:spcBef>
                <a:spcPts val="1600"/>
              </a:spcBef>
              <a:spcAft>
                <a:spcPts val="0"/>
              </a:spcAft>
              <a:buNone/>
            </a:pPr>
            <a:r>
              <a:t/>
            </a:r>
            <a:endParaRPr sz="1400"/>
          </a:p>
          <a:p>
            <a:pPr indent="0" lvl="0" marL="0" rtl="0" algn="l">
              <a:spcBef>
                <a:spcPts val="1600"/>
              </a:spcBef>
              <a:spcAft>
                <a:spcPts val="0"/>
              </a:spcAft>
              <a:buNone/>
            </a:pPr>
            <a:r>
              <a:rPr lang="en" sz="1400"/>
              <a:t> </a:t>
            </a:r>
            <a:endParaRPr sz="1400"/>
          </a:p>
          <a:p>
            <a:pPr indent="0" lvl="0" marL="0" rtl="0" algn="l">
              <a:spcBef>
                <a:spcPts val="1600"/>
              </a:spcBef>
              <a:spcAft>
                <a:spcPts val="1600"/>
              </a:spcAft>
              <a:buNone/>
            </a:pPr>
            <a:r>
              <a:t/>
            </a:r>
            <a:endParaRPr/>
          </a:p>
        </p:txBody>
      </p:sp>
      <p:graphicFrame>
        <p:nvGraphicFramePr>
          <p:cNvPr id="500" name="Google Shape;500;p66"/>
          <p:cNvGraphicFramePr/>
          <p:nvPr/>
        </p:nvGraphicFramePr>
        <p:xfrm>
          <a:off x="311700" y="3303500"/>
          <a:ext cx="3000000" cy="3000000"/>
        </p:xfrm>
        <a:graphic>
          <a:graphicData uri="http://schemas.openxmlformats.org/drawingml/2006/table">
            <a:tbl>
              <a:tblPr>
                <a:noFill/>
                <a:tableStyleId>{A1FEDFCD-BC42-4225-886D-6D3858ECF4EA}</a:tableStyleId>
              </a:tblPr>
              <a:tblGrid>
                <a:gridCol w="382850"/>
                <a:gridCol w="8137750"/>
              </a:tblGrid>
              <a:tr h="590225">
                <a:tc>
                  <a:txBody>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1.</a:t>
                      </a:r>
                      <a:endParaRPr>
                        <a:solidFill>
                          <a:schemeClr val="dk1"/>
                        </a:solidFill>
                        <a:latin typeface="Open Sans"/>
                        <a:ea typeface="Open Sans"/>
                        <a:cs typeface="Open Sans"/>
                        <a:sym typeface="Open Sans"/>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‘Random’, ‘true random’, ‘unpredictable’, ‘non-deterministic’, ‘non-determinism’, ‘entropy’, ‘high entropy’, ‘randomness’, ‘RNG’, ‘TRNG’, ‘DRAM’</a:t>
                      </a:r>
                      <a:endParaRPr/>
                    </a:p>
                  </a:txBody>
                  <a:tcPr marT="91425" marB="91425" marR="91425" marL="91425"/>
                </a:tc>
              </a:tr>
              <a:tr h="590225">
                <a:tc>
                  <a:txBody>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2.</a:t>
                      </a:r>
                      <a:endParaRPr>
                        <a:solidFill>
                          <a:schemeClr val="dk1"/>
                        </a:solidFill>
                        <a:latin typeface="Open Sans"/>
                        <a:ea typeface="Open Sans"/>
                        <a:cs typeface="Open Sans"/>
                        <a:sym typeface="Open Sans"/>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‘Rapidly’, ‘fast’, ‘high throughput’, ‘access timing’, ‘continuously’, ‘continuous’, ‘too slow’, ‘decreasing latency’, ‘very quickly’, ‘two orders of magnitude higher’, </a:t>
                      </a:r>
                      <a:endParaRPr>
                        <a:solidFill>
                          <a:schemeClr val="dk1"/>
                        </a:solidFill>
                        <a:latin typeface="Open Sans"/>
                        <a:ea typeface="Open Sans"/>
                        <a:cs typeface="Open Sans"/>
                        <a:sym typeface="Open Sans"/>
                      </a:endParaRPr>
                    </a:p>
                  </a:txBody>
                  <a:tcPr marT="91425" marB="91425" marR="91425" marL="91425"/>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pic>
        <p:nvPicPr>
          <p:cNvPr id="505" name="Google Shape;505;p67"/>
          <p:cNvPicPr preferRelativeResize="0"/>
          <p:nvPr/>
        </p:nvPicPr>
        <p:blipFill>
          <a:blip r:embed="rId3">
            <a:alphaModFix amt="20000"/>
          </a:blip>
          <a:stretch>
            <a:fillRect/>
          </a:stretch>
        </p:blipFill>
        <p:spPr>
          <a:xfrm>
            <a:off x="265500" y="1722525"/>
            <a:ext cx="4045200" cy="2696781"/>
          </a:xfrm>
          <a:prstGeom prst="rect">
            <a:avLst/>
          </a:prstGeom>
          <a:noFill/>
          <a:ln>
            <a:noFill/>
          </a:ln>
        </p:spPr>
      </p:pic>
      <p:sp>
        <p:nvSpPr>
          <p:cNvPr id="506" name="Google Shape;506;p67"/>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solidFill>
                  <a:srgbClr val="7F6000"/>
                </a:solidFill>
              </a:rPr>
              <a:t>Best of luck!</a:t>
            </a:r>
            <a:endParaRPr b="1">
              <a:solidFill>
                <a:srgbClr val="7F6000"/>
              </a:solidFill>
            </a:endParaRPr>
          </a:p>
        </p:txBody>
      </p:sp>
      <p:sp>
        <p:nvSpPr>
          <p:cNvPr id="507" name="Google Shape;507;p67"/>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Write. Rewrite. Get feedback. Read. Re-read. Write some more. Get more feedback.</a:t>
            </a:r>
            <a:endParaRPr/>
          </a:p>
          <a:p>
            <a:pPr indent="0" lvl="0" marL="0" rtl="0" algn="l">
              <a:spcBef>
                <a:spcPts val="1600"/>
              </a:spcBef>
              <a:spcAft>
                <a:spcPts val="1600"/>
              </a:spcAft>
              <a:buNone/>
            </a:pPr>
            <a:r>
              <a:rPr lang="en"/>
              <a:t>Use these tools. Practice. Develop your own style. And have fun.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Bonus: Grammar Topics</a:t>
            </a:r>
            <a:endParaRPr/>
          </a:p>
        </p:txBody>
      </p:sp>
      <p:sp>
        <p:nvSpPr>
          <p:cNvPr id="513" name="Google Shape;513;p6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Active Voice vs Passive Voice</a:t>
            </a:r>
            <a:endParaRPr/>
          </a:p>
          <a:p>
            <a:pPr indent="0" lvl="0" marL="0" rtl="0" algn="l">
              <a:spcBef>
                <a:spcPts val="1600"/>
              </a:spcBef>
              <a:spcAft>
                <a:spcPts val="0"/>
              </a:spcAft>
              <a:buNone/>
            </a:pPr>
            <a:r>
              <a:rPr lang="en" u="sng">
                <a:solidFill>
                  <a:schemeClr val="hlink"/>
                </a:solidFill>
                <a:hlinkClick r:id="rId4"/>
              </a:rPr>
              <a:t>Semicolons</a:t>
            </a:r>
            <a:endParaRPr/>
          </a:p>
          <a:p>
            <a:pPr indent="0" lvl="0" marL="0" rtl="0" algn="l">
              <a:spcBef>
                <a:spcPts val="1600"/>
              </a:spcBef>
              <a:spcAft>
                <a:spcPts val="0"/>
              </a:spcAft>
              <a:buNone/>
            </a:pPr>
            <a:r>
              <a:rPr lang="en" u="sng">
                <a:solidFill>
                  <a:schemeClr val="hlink"/>
                </a:solidFill>
                <a:hlinkClick r:id="rId5"/>
              </a:rPr>
              <a:t>Its vs It’s</a:t>
            </a:r>
            <a:endParaRPr/>
          </a:p>
          <a:p>
            <a:pPr indent="0" lvl="0" marL="0" rtl="0" algn="l">
              <a:spcBef>
                <a:spcPts val="1600"/>
              </a:spcBef>
              <a:spcAft>
                <a:spcPts val="16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References: Papers</a:t>
            </a:r>
            <a:endParaRPr/>
          </a:p>
        </p:txBody>
      </p:sp>
      <p:sp>
        <p:nvSpPr>
          <p:cNvPr id="519" name="Google Shape;519;p69"/>
          <p:cNvSpPr txBox="1"/>
          <p:nvPr>
            <p:ph idx="1" type="body"/>
          </p:nvPr>
        </p:nvSpPr>
        <p:spPr>
          <a:xfrm>
            <a:off x="311700" y="1031550"/>
            <a:ext cx="8520600" cy="354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000000"/>
                </a:solidFill>
              </a:rPr>
              <a:t>Akram, Shoaib, Jennifer Sartor, Kathryn McKinley, and Lieven Eeckhout. "Crystal Gazer: Profile-driven write-rationing garbage collection for hybrid memories." Proceedings of the ACM on Measurement and Analysis of Computing Systems 3, no. 1 (2019): 9. </a:t>
            </a:r>
            <a:r>
              <a:rPr lang="en" sz="800" u="sng">
                <a:solidFill>
                  <a:srgbClr val="000000"/>
                </a:solidFill>
                <a:hlinkClick r:id="rId3">
                  <a:extLst>
                    <a:ext uri="{A12FA001-AC4F-418D-AE19-62706E023703}">
                      <ahyp:hlinkClr val="tx"/>
                    </a:ext>
                  </a:extLst>
                </a:hlinkClick>
              </a:rPr>
              <a:t>LINK</a:t>
            </a:r>
            <a:endParaRPr sz="800">
              <a:solidFill>
                <a:srgbClr val="000000"/>
              </a:solidFill>
            </a:endParaRPr>
          </a:p>
          <a:p>
            <a:pPr indent="0" lvl="0" marL="0" rtl="0" algn="l">
              <a:spcBef>
                <a:spcPts val="0"/>
              </a:spcBef>
              <a:spcAft>
                <a:spcPts val="0"/>
              </a:spcAft>
              <a:buNone/>
            </a:pPr>
            <a:r>
              <a:t/>
            </a:r>
            <a:endParaRPr sz="600">
              <a:solidFill>
                <a:srgbClr val="000000"/>
              </a:solidFill>
            </a:endParaRPr>
          </a:p>
          <a:p>
            <a:pPr indent="0" lvl="0" marL="0" rtl="0" algn="l">
              <a:spcBef>
                <a:spcPts val="0"/>
              </a:spcBef>
              <a:spcAft>
                <a:spcPts val="0"/>
              </a:spcAft>
              <a:buClr>
                <a:schemeClr val="dk1"/>
              </a:buClr>
              <a:buSzPts val="1100"/>
              <a:buFont typeface="Arial"/>
              <a:buNone/>
            </a:pPr>
            <a:r>
              <a:rPr lang="en" sz="800">
                <a:solidFill>
                  <a:srgbClr val="000000"/>
                </a:solidFill>
              </a:rPr>
              <a:t>Ayers, Grant, Nayana Prasad Nagendra, David I. August, Hyoun Kyu Cho, Svilen Kanev, Christos Kozyrakis, Trivikram Krishnamurthy, Heiner Litz, Tipp Moseley, and Parthasarathy Ranganathan. "AsmDB: understanding and mitigating front-end stalls in warehouse-scale computers." In Proceedings of the 46th International Symposium on Computer Architecture, pp. 462-473. ACM, 2019. </a:t>
            </a:r>
            <a:r>
              <a:rPr lang="en" sz="800" u="sng">
                <a:solidFill>
                  <a:srgbClr val="000000"/>
                </a:solidFill>
                <a:hlinkClick r:id="rId4">
                  <a:extLst>
                    <a:ext uri="{A12FA001-AC4F-418D-AE19-62706E023703}">
                      <ahyp:hlinkClr val="tx"/>
                    </a:ext>
                  </a:extLst>
                </a:hlinkClick>
              </a:rPr>
              <a:t>LINK</a:t>
            </a:r>
            <a:endParaRPr sz="800">
              <a:solidFill>
                <a:srgbClr val="000000"/>
              </a:solidFill>
            </a:endParaRPr>
          </a:p>
          <a:p>
            <a:pPr indent="0" lvl="0" marL="0" rtl="0" algn="l">
              <a:spcBef>
                <a:spcPts val="0"/>
              </a:spcBef>
              <a:spcAft>
                <a:spcPts val="0"/>
              </a:spcAft>
              <a:buNone/>
            </a:pPr>
            <a:r>
              <a:t/>
            </a:r>
            <a:endParaRPr sz="600">
              <a:solidFill>
                <a:srgbClr val="000000"/>
              </a:solidFill>
            </a:endParaRPr>
          </a:p>
          <a:p>
            <a:pPr indent="0" lvl="0" marL="0" rtl="0" algn="l">
              <a:spcBef>
                <a:spcPts val="0"/>
              </a:spcBef>
              <a:spcAft>
                <a:spcPts val="0"/>
              </a:spcAft>
              <a:buClr>
                <a:schemeClr val="dk1"/>
              </a:buClr>
              <a:buSzPts val="1100"/>
              <a:buFont typeface="Arial"/>
              <a:buNone/>
            </a:pPr>
            <a:r>
              <a:rPr lang="en" sz="800">
                <a:solidFill>
                  <a:srgbClr val="000000"/>
                </a:solidFill>
              </a:rPr>
              <a:t>Carlson, Trevor E., Wim Heirman, Osman Allam, Stefanos Kaxiras, and Lieven Eeckhout. "The load slice core microarchitecture." In 2015 ACM/IEEE 42nd Annual International Symposium on Computer Architecture (ISCA), pp. 272-284. IEEE, 2015. </a:t>
            </a:r>
            <a:r>
              <a:rPr lang="en" sz="800" u="sng">
                <a:solidFill>
                  <a:srgbClr val="000000"/>
                </a:solidFill>
                <a:hlinkClick r:id="rId5">
                  <a:extLst>
                    <a:ext uri="{A12FA001-AC4F-418D-AE19-62706E023703}">
                      <ahyp:hlinkClr val="tx"/>
                    </a:ext>
                  </a:extLst>
                </a:hlinkClick>
              </a:rPr>
              <a:t>LINK</a:t>
            </a:r>
            <a:endParaRPr sz="800">
              <a:solidFill>
                <a:srgbClr val="000000"/>
              </a:solidFill>
            </a:endParaRPr>
          </a:p>
          <a:p>
            <a:pPr indent="0" lvl="0" marL="0" rtl="0" algn="l">
              <a:spcBef>
                <a:spcPts val="0"/>
              </a:spcBef>
              <a:spcAft>
                <a:spcPts val="0"/>
              </a:spcAft>
              <a:buNone/>
            </a:pPr>
            <a:r>
              <a:t/>
            </a:r>
            <a:endParaRPr sz="600">
              <a:solidFill>
                <a:srgbClr val="000000"/>
              </a:solidFill>
            </a:endParaRPr>
          </a:p>
          <a:p>
            <a:pPr indent="0" lvl="0" marL="0" rtl="0" algn="l">
              <a:spcBef>
                <a:spcPts val="0"/>
              </a:spcBef>
              <a:spcAft>
                <a:spcPts val="0"/>
              </a:spcAft>
              <a:buClr>
                <a:schemeClr val="dk1"/>
              </a:buClr>
              <a:buSzPts val="1100"/>
              <a:buFont typeface="Arial"/>
              <a:buNone/>
            </a:pPr>
            <a:r>
              <a:rPr lang="en" sz="800">
                <a:solidFill>
                  <a:srgbClr val="000000"/>
                </a:solidFill>
              </a:rPr>
              <a:t>Carlson, Trevor E., Kim-Anh Tran, Alexandra Jimborean, Konstantinos Koukos, Magnus Själander, and Stefanos Kaxiras. "Transcending Hardware Limits with Software Out-of-Order Processing." IEEE Computer Architecture Letters 16, no. 2 (2017): 162-1 </a:t>
            </a:r>
            <a:r>
              <a:rPr lang="en" sz="800" u="sng">
                <a:solidFill>
                  <a:srgbClr val="000000"/>
                </a:solidFill>
                <a:hlinkClick r:id="rId6">
                  <a:extLst>
                    <a:ext uri="{A12FA001-AC4F-418D-AE19-62706E023703}">
                      <ahyp:hlinkClr val="tx"/>
                    </a:ext>
                  </a:extLst>
                </a:hlinkClick>
              </a:rPr>
              <a:t>LINK</a:t>
            </a:r>
            <a:endParaRPr sz="800">
              <a:solidFill>
                <a:srgbClr val="000000"/>
              </a:solidFill>
            </a:endParaRPr>
          </a:p>
          <a:p>
            <a:pPr indent="0" lvl="0" marL="0" rtl="0" algn="l">
              <a:spcBef>
                <a:spcPts val="0"/>
              </a:spcBef>
              <a:spcAft>
                <a:spcPts val="0"/>
              </a:spcAft>
              <a:buNone/>
            </a:pPr>
            <a:r>
              <a:t/>
            </a:r>
            <a:endParaRPr sz="600">
              <a:solidFill>
                <a:srgbClr val="000000"/>
              </a:solidFill>
            </a:endParaRPr>
          </a:p>
          <a:p>
            <a:pPr indent="0" lvl="0" marL="0" rtl="0" algn="l">
              <a:lnSpc>
                <a:spcPct val="100000"/>
              </a:lnSpc>
              <a:spcBef>
                <a:spcPts val="0"/>
              </a:spcBef>
              <a:spcAft>
                <a:spcPts val="0"/>
              </a:spcAft>
              <a:buNone/>
            </a:pPr>
            <a:r>
              <a:rPr lang="en" sz="800">
                <a:solidFill>
                  <a:srgbClr val="000000"/>
                </a:solidFill>
              </a:rPr>
              <a:t>Hsu, Chang-Hong, Qingyuan Deng, Jason Mars, and Lingjia Tang. "SmoothOperator: reducing power fragmentation and improving power utilization in large-scale datacenters." In</a:t>
            </a:r>
            <a:r>
              <a:rPr lang="en" sz="800"/>
              <a:t> ACM SIGPLAN Notices, vol. 53, no. 2, pp. 535-548. ACM, 2018. </a:t>
            </a:r>
            <a:r>
              <a:rPr lang="en" sz="800" u="sng">
                <a:solidFill>
                  <a:schemeClr val="hlink"/>
                </a:solidFill>
                <a:hlinkClick r:id="rId7"/>
              </a:rPr>
              <a:t>LINK</a:t>
            </a:r>
            <a:endParaRPr sz="800"/>
          </a:p>
          <a:p>
            <a:pPr indent="0" lvl="0" marL="0" rtl="0" algn="l">
              <a:lnSpc>
                <a:spcPct val="100000"/>
              </a:lnSpc>
              <a:spcBef>
                <a:spcPts val="0"/>
              </a:spcBef>
              <a:spcAft>
                <a:spcPts val="0"/>
              </a:spcAft>
              <a:buClr>
                <a:schemeClr val="dk1"/>
              </a:buClr>
              <a:buSzPts val="1100"/>
              <a:buFont typeface="Arial"/>
              <a:buNone/>
            </a:pPr>
            <a:r>
              <a:t/>
            </a:r>
            <a:endParaRPr sz="600"/>
          </a:p>
          <a:p>
            <a:pPr indent="0" lvl="0" marL="0" rtl="0" algn="l">
              <a:lnSpc>
                <a:spcPct val="100000"/>
              </a:lnSpc>
              <a:spcBef>
                <a:spcPts val="0"/>
              </a:spcBef>
              <a:spcAft>
                <a:spcPts val="0"/>
              </a:spcAft>
              <a:buNone/>
            </a:pPr>
            <a:r>
              <a:rPr lang="en" sz="800"/>
              <a:t>Kang, Yiping, Johann Hauswald, Cao Gao, Austin Rovinski, Trevor Mudge, Jason Mars, and Lingjia Tang. "Neurosurgeon: Collaborative intelligence between the cloud and mobile edge." In ACM SIGARCH Computer Architecture News, vol. 45, no. 1, pp. 615-629. ACM, 2017. </a:t>
            </a:r>
            <a:r>
              <a:rPr lang="en" sz="800" u="sng">
                <a:solidFill>
                  <a:schemeClr val="hlink"/>
                </a:solidFill>
                <a:hlinkClick r:id="rId8"/>
              </a:rPr>
              <a:t>LINK</a:t>
            </a:r>
            <a:endParaRPr sz="800"/>
          </a:p>
          <a:p>
            <a:pPr indent="0" lvl="0" marL="0" rtl="0" algn="l">
              <a:lnSpc>
                <a:spcPct val="100000"/>
              </a:lnSpc>
              <a:spcBef>
                <a:spcPts val="0"/>
              </a:spcBef>
              <a:spcAft>
                <a:spcPts val="0"/>
              </a:spcAft>
              <a:buNone/>
            </a:pPr>
            <a:r>
              <a:t/>
            </a:r>
            <a:endParaRPr sz="600"/>
          </a:p>
          <a:p>
            <a:pPr indent="0" lvl="0" marL="0" rtl="0" algn="l">
              <a:lnSpc>
                <a:spcPct val="100000"/>
              </a:lnSpc>
              <a:spcBef>
                <a:spcPts val="0"/>
              </a:spcBef>
              <a:spcAft>
                <a:spcPts val="0"/>
              </a:spcAft>
              <a:buNone/>
            </a:pPr>
            <a:r>
              <a:rPr lang="en" sz="800"/>
              <a:t>Kim, Jeremie S., Minesh Patel, Hasan Hassan, Lois Orosa, and Onur Mutlu. "D-RaNGe: using commodity DRAM devices to generate true random numbers with low latency and high throughput." In 2019 IEEE International Symposium on High Performance Computer Architecture (HPCA), pp. 582-595. IEEE, 2019. </a:t>
            </a:r>
            <a:r>
              <a:rPr lang="en" sz="800" u="sng">
                <a:solidFill>
                  <a:schemeClr val="hlink"/>
                </a:solidFill>
                <a:hlinkClick r:id="rId9"/>
              </a:rPr>
              <a:t>LINK</a:t>
            </a:r>
            <a:endParaRPr sz="800"/>
          </a:p>
          <a:p>
            <a:pPr indent="0" lvl="0" marL="0" rtl="0" algn="l">
              <a:lnSpc>
                <a:spcPct val="100000"/>
              </a:lnSpc>
              <a:spcBef>
                <a:spcPts val="0"/>
              </a:spcBef>
              <a:spcAft>
                <a:spcPts val="0"/>
              </a:spcAft>
              <a:buNone/>
            </a:pPr>
            <a:r>
              <a:t/>
            </a:r>
            <a:endParaRPr sz="600"/>
          </a:p>
          <a:p>
            <a:pPr indent="0" lvl="0" marL="0" rtl="0" algn="l">
              <a:lnSpc>
                <a:spcPct val="100000"/>
              </a:lnSpc>
              <a:spcBef>
                <a:spcPts val="0"/>
              </a:spcBef>
              <a:spcAft>
                <a:spcPts val="0"/>
              </a:spcAft>
              <a:buNone/>
            </a:pPr>
            <a:r>
              <a:rPr lang="en" sz="800"/>
              <a:t>Li, Yang, Charles R. Lefurgy, Karthick Rajamani, Malcolm S. Allen-Ware, Guillermo J. Silva, Daniel D. Heimsoth, Saugata Ghose, and Onur Mutlu. "A Scalable Priority-Aware Approach to Mana</a:t>
            </a:r>
            <a:r>
              <a:rPr lang="en" sz="800">
                <a:solidFill>
                  <a:srgbClr val="000000"/>
                </a:solidFill>
              </a:rPr>
              <a:t>ging Data Center Server Power." In 2019 IEEE International Symposium on High Performance Computer Architecture (HPCA), pp. 701-714. IEEE, 2019. </a:t>
            </a:r>
            <a:r>
              <a:rPr lang="en" sz="800" u="sng">
                <a:solidFill>
                  <a:srgbClr val="000000"/>
                </a:solidFill>
                <a:hlinkClick r:id="rId10">
                  <a:extLst>
                    <a:ext uri="{A12FA001-AC4F-418D-AE19-62706E023703}">
                      <ahyp:hlinkClr val="tx"/>
                    </a:ext>
                  </a:extLst>
                </a:hlinkClick>
              </a:rPr>
              <a:t>LINK</a:t>
            </a:r>
            <a:endParaRPr sz="800">
              <a:solidFill>
                <a:srgbClr val="000000"/>
              </a:solidFill>
            </a:endParaRPr>
          </a:p>
          <a:p>
            <a:pPr indent="0" lvl="0" marL="0" rtl="0" algn="l">
              <a:spcBef>
                <a:spcPts val="0"/>
              </a:spcBef>
              <a:spcAft>
                <a:spcPts val="0"/>
              </a:spcAft>
              <a:buNone/>
            </a:pPr>
            <a:r>
              <a:t/>
            </a:r>
            <a:endParaRPr sz="600">
              <a:solidFill>
                <a:srgbClr val="000000"/>
              </a:solidFill>
            </a:endParaRPr>
          </a:p>
          <a:p>
            <a:pPr indent="0" lvl="0" marL="0" rtl="0" algn="l">
              <a:spcBef>
                <a:spcPts val="0"/>
              </a:spcBef>
              <a:spcAft>
                <a:spcPts val="0"/>
              </a:spcAft>
              <a:buNone/>
            </a:pPr>
            <a:r>
              <a:rPr lang="en" sz="800">
                <a:solidFill>
                  <a:srgbClr val="000000"/>
                </a:solidFill>
              </a:rPr>
              <a:t>Ros, Alberto, Trevor E. Carlson, Mehdi Alipour, and Stefanos Kaxiras. "Non-speculative load-load reordering in TSO." In ACM SIGARCH Computer Architecture News, vol. 45, no. 2, pp. 187-200. ACM, 2017. </a:t>
            </a:r>
            <a:r>
              <a:rPr lang="en" sz="800" u="sng">
                <a:solidFill>
                  <a:srgbClr val="000000"/>
                </a:solidFill>
                <a:hlinkClick r:id="rId11">
                  <a:extLst>
                    <a:ext uri="{A12FA001-AC4F-418D-AE19-62706E023703}">
                      <ahyp:hlinkClr val="tx"/>
                    </a:ext>
                  </a:extLst>
                </a:hlinkClick>
              </a:rPr>
              <a:t>LINK</a:t>
            </a:r>
            <a:endParaRPr sz="800">
              <a:solidFill>
                <a:srgbClr val="00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References: Analysis</a:t>
            </a:r>
            <a:endParaRPr/>
          </a:p>
        </p:txBody>
      </p:sp>
      <p:sp>
        <p:nvSpPr>
          <p:cNvPr id="525" name="Google Shape;525;p7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222222"/>
                </a:solidFill>
                <a:highlight>
                  <a:srgbClr val="FFFFFF"/>
                </a:highlight>
                <a:latin typeface="Arial"/>
                <a:ea typeface="Arial"/>
                <a:cs typeface="Arial"/>
                <a:sym typeface="Arial"/>
              </a:rPr>
              <a:t>Hayot, Eric. </a:t>
            </a:r>
            <a:r>
              <a:rPr i="1" lang="en" sz="1000">
                <a:solidFill>
                  <a:srgbClr val="222222"/>
                </a:solidFill>
                <a:highlight>
                  <a:srgbClr val="FFFFFF"/>
                </a:highlight>
                <a:latin typeface="Arial"/>
                <a:ea typeface="Arial"/>
                <a:cs typeface="Arial"/>
                <a:sym typeface="Arial"/>
              </a:rPr>
              <a:t>The elements of academic style: Writing for the humanities</a:t>
            </a:r>
            <a:r>
              <a:rPr lang="en" sz="1000">
                <a:solidFill>
                  <a:srgbClr val="222222"/>
                </a:solidFill>
                <a:highlight>
                  <a:srgbClr val="FFFFFF"/>
                </a:highlight>
                <a:latin typeface="Arial"/>
                <a:ea typeface="Arial"/>
                <a:cs typeface="Arial"/>
                <a:sym typeface="Arial"/>
              </a:rPr>
              <a:t>. Columbia University Press, 2014.</a:t>
            </a:r>
            <a:endParaRPr/>
          </a:p>
          <a:p>
            <a:pPr indent="0" lvl="0" marL="0" rtl="0" algn="l">
              <a:spcBef>
                <a:spcPts val="1600"/>
              </a:spcBef>
              <a:spcAft>
                <a:spcPts val="0"/>
              </a:spcAft>
              <a:buNone/>
            </a:pPr>
            <a:r>
              <a:rPr lang="en"/>
              <a:t>How Language Works</a:t>
            </a:r>
            <a:endParaRPr/>
          </a:p>
          <a:p>
            <a:pPr indent="0" lvl="0" marL="0" rtl="0" algn="l">
              <a:spcBef>
                <a:spcPts val="1600"/>
              </a:spcBef>
              <a:spcAft>
                <a:spcPts val="1600"/>
              </a:spcAft>
              <a:buNone/>
            </a:pPr>
            <a:r>
              <a:rPr lang="en"/>
              <a:t>Thesis Whisperer x2</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Acknowledgements</a:t>
            </a:r>
            <a:endParaRPr/>
          </a:p>
        </p:txBody>
      </p:sp>
      <p:sp>
        <p:nvSpPr>
          <p:cNvPr id="531" name="Google Shape;531;p7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 to:</a:t>
            </a:r>
            <a:endParaRPr/>
          </a:p>
          <a:p>
            <a:pPr indent="0" lvl="0" marL="0" rtl="0" algn="l">
              <a:spcBef>
                <a:spcPts val="1600"/>
              </a:spcBef>
              <a:spcAft>
                <a:spcPts val="0"/>
              </a:spcAft>
              <a:buNone/>
            </a:pPr>
            <a:r>
              <a:rPr lang="en"/>
              <a:t>Prof. Lieven Eeckhout</a:t>
            </a:r>
            <a:endParaRPr/>
          </a:p>
          <a:p>
            <a:pPr indent="0" lvl="0" marL="0" rtl="0" algn="l">
              <a:spcBef>
                <a:spcPts val="1600"/>
              </a:spcBef>
              <a:spcAft>
                <a:spcPts val="0"/>
              </a:spcAft>
              <a:buNone/>
            </a:pPr>
            <a:r>
              <a:rPr lang="en"/>
              <a:t>Prof. Li </a:t>
            </a:r>
            <a:r>
              <a:rPr lang="en"/>
              <a:t>Shiuan</a:t>
            </a:r>
            <a:r>
              <a:rPr lang="en"/>
              <a:t> Peh</a:t>
            </a:r>
            <a:endParaRPr/>
          </a:p>
          <a:p>
            <a:pPr indent="0" lvl="0" marL="0" rtl="0" algn="l">
              <a:spcBef>
                <a:spcPts val="1600"/>
              </a:spcBef>
              <a:spcAft>
                <a:spcPts val="0"/>
              </a:spcAft>
              <a:buNone/>
            </a:pPr>
            <a:r>
              <a:rPr lang="en"/>
              <a:t>Prof. Stefanos Kaxiras</a:t>
            </a:r>
            <a:endParaRPr/>
          </a:p>
          <a:p>
            <a:pPr indent="0" lvl="0" marL="0" rtl="0" algn="l">
              <a:spcBef>
                <a:spcPts val="1600"/>
              </a:spcBef>
              <a:spcAft>
                <a:spcPts val="1600"/>
              </a:spcAft>
              <a:buNone/>
            </a:pPr>
            <a:r>
              <a:rPr lang="en"/>
              <a:t>Dr. Wim Hiermann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
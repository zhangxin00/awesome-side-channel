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2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005493"/>
    <a:srgbClr val="FFD1D2"/>
    <a:srgbClr val="941651"/>
    <a:srgbClr val="FE7B76"/>
    <a:srgbClr val="00C9A9"/>
    <a:srgbClr val="F1D8E9"/>
    <a:srgbClr val="929000"/>
    <a:srgbClr val="D5FBEF"/>
    <a:srgbClr val="ACE5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48"/>
    <p:restoredTop sz="94741"/>
  </p:normalViewPr>
  <p:slideViewPr>
    <p:cSldViewPr snapToGrid="0" snapToObjects="1">
      <p:cViewPr varScale="1">
        <p:scale>
          <a:sx n="105" d="100"/>
          <a:sy n="105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FE62E-65A6-2B43-A99E-AD29AF741D99}" type="datetimeFigureOut">
              <a:rPr lang="en-US" smtClean="0"/>
              <a:t>5/3/22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FFC1A-88CA-1E41-8B96-DA28FE82E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1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41BF-7264-034D-8ACB-A5371C0E8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2AA1D-3F54-424E-AE4F-D23E6FAF8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A8825-C94A-D940-A77E-0F6A339A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F2D5B-7032-9345-8367-FA4D5F50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0A14E-1C6B-2445-9362-01175BD0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00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3BBB6E-AC0E-204F-BB4F-1A8E321B4307}"/>
              </a:ext>
            </a:extLst>
          </p:cNvPr>
          <p:cNvSpPr/>
          <p:nvPr userDrawn="1"/>
        </p:nvSpPr>
        <p:spPr>
          <a:xfrm>
            <a:off x="723900" y="6266181"/>
            <a:ext cx="10744200" cy="4571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46E986-BC67-C345-B08A-97D106F9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974" y="437322"/>
            <a:ext cx="10369826" cy="1253366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02E6C-65FE-6848-8AE6-FC8FA6E71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  <a:cs typeface="Times New Roman" panose="02020603050405020304" pitchFamily="18" charset="0"/>
              </a:defRPr>
            </a:lvl1pPr>
            <a:lvl2pPr>
              <a:defRPr>
                <a:latin typeface="+mn-lt"/>
                <a:cs typeface="Times New Roman" panose="02020603050405020304" pitchFamily="18" charset="0"/>
              </a:defRPr>
            </a:lvl2pPr>
            <a:lvl3pPr>
              <a:defRPr>
                <a:latin typeface="+mn-lt"/>
                <a:cs typeface="Times New Roman" panose="02020603050405020304" pitchFamily="18" charset="0"/>
              </a:defRPr>
            </a:lvl3pPr>
            <a:lvl4pPr>
              <a:defRPr>
                <a:latin typeface="+mn-lt"/>
                <a:cs typeface="Times New Roman" panose="02020603050405020304" pitchFamily="18" charset="0"/>
              </a:defRPr>
            </a:lvl4pPr>
            <a:lvl5pPr>
              <a:defRPr>
                <a:latin typeface="+mn-lt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7FC81-65E8-DB4F-8495-97D93944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6290" y="6356350"/>
            <a:ext cx="626752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EF87B-52C9-9C42-BDA7-3C8F3DE9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31016" y="6356350"/>
            <a:ext cx="1722783" cy="365125"/>
          </a:xfrm>
        </p:spPr>
        <p:txBody>
          <a:bodyPr/>
          <a:lstStyle>
            <a:lvl1pPr>
              <a:defRPr sz="1600" b="1">
                <a:solidFill>
                  <a:schemeClr val="accent2">
                    <a:lumMod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2BA92C74-B216-B14B-BC2B-4739D91BB4D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6B72FB3D-9B7C-DD45-B7C6-05C0636007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4846" y="6385130"/>
            <a:ext cx="736108" cy="33931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2F6AB5B-8598-044A-A561-076835EB3B7F}"/>
              </a:ext>
            </a:extLst>
          </p:cNvPr>
          <p:cNvSpPr/>
          <p:nvPr userDrawn="1"/>
        </p:nvSpPr>
        <p:spPr>
          <a:xfrm>
            <a:off x="723901" y="755374"/>
            <a:ext cx="114300" cy="9353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046C77-4869-3C44-9C5E-430C85C3878B}"/>
              </a:ext>
            </a:extLst>
          </p:cNvPr>
          <p:cNvSpPr/>
          <p:nvPr userDrawn="1"/>
        </p:nvSpPr>
        <p:spPr>
          <a:xfrm>
            <a:off x="723900" y="437322"/>
            <a:ext cx="114300" cy="31805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71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9A0F8-2E8B-A449-92C3-D9F084045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26316-3186-4143-8152-5175FDC83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929BF-DD5F-834E-95BC-C28A7314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0EE90-A107-4A42-8056-65D50A01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BC7C4-332E-A143-85D9-4C0C9558A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0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A3D1-7144-5142-8A8D-72868D2C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7130C-D97B-F940-9997-B6A3ACA1B2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4B523-EC72-6E40-A9D0-A6C32E5C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DB191-89D9-AF4D-86A6-95676B1C5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C1D1B-03D4-3B4F-A3C3-423AEE15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4BB52-EF77-E94F-A0FF-49BC5531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46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B5A1-C788-BD4B-8331-252D801E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E923F-E057-0A4C-871C-FC52B89E9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85ABA-7915-9040-B9E4-60BBCB877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33AE7-F8AB-3244-B02A-67238B78B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68A67-1991-D444-B852-30DB7C80A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710E14-4EF2-D44B-9FA9-0DFC297C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38F17-3619-DE44-B5A3-5D92A8D2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D76A-F0E2-2748-AFC2-180C1247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4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833B8-A207-6C4A-9478-4AB7973F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DB73F2-07DE-4641-8446-FCB332E3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7B4A9-6223-D142-B0F9-C9252B998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C5F4C-66C6-D24B-AB96-3E6168C7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32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D0E5EAB-AE12-F527-26F0-BE9E6258B0C4}"/>
              </a:ext>
            </a:extLst>
          </p:cNvPr>
          <p:cNvSpPr/>
          <p:nvPr userDrawn="1"/>
        </p:nvSpPr>
        <p:spPr>
          <a:xfrm>
            <a:off x="723900" y="6266181"/>
            <a:ext cx="10744200" cy="4571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25E226B-51EF-1554-F64D-65AF23F15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6290" y="6356350"/>
            <a:ext cx="626752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49EB9CE-0739-D7E1-9498-9AEE40F5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31016" y="6356350"/>
            <a:ext cx="1722783" cy="365125"/>
          </a:xfrm>
        </p:spPr>
        <p:txBody>
          <a:bodyPr/>
          <a:lstStyle>
            <a:lvl1pPr>
              <a:defRPr sz="1600" b="1">
                <a:solidFill>
                  <a:schemeClr val="accent2">
                    <a:lumMod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2BA92C74-B216-B14B-BC2B-4739D91BB4D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BE6AD62-5E7E-92FA-79EA-71EA0E634D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4846" y="6385130"/>
            <a:ext cx="736108" cy="33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7D96-A92C-F743-BD4F-BDAD4533B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2A07-8288-4247-8D86-D116EEFA8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5CDEA-3D49-1A4C-947A-1FF542C36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B282A-C33A-E44E-86AA-46B92E8C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D63A0-166C-E342-8653-F8B11678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DDDFE-0083-A44A-A306-C5C219F6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A11E2-6413-D74A-AA62-B3A2723C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B1D59-5001-4449-B9DA-A739EE0B2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B8CBE-AD56-D841-A9D8-C3A87EA9D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509E1-E6D2-2F4B-A281-F42B8E9A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E2D7A-B656-9944-9E3F-D3CF2400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14026-19B1-1545-8082-14D03CC0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4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0A6F-CBDD-FC4A-86B9-BD3BC369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C25E0-00AF-654B-BA35-381238116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4A61F-87E7-0A40-92B8-71B45EB1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9F9F0-2140-C642-B0D0-BB18DA5F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3E5F1-9340-1444-89E2-FD2F7E23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5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D707B2-EBC6-8E48-ABD5-40E451E7C2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41D31-0AAF-884B-A289-FDD74713A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71BAD-ADCD-D744-86CA-38907957A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841C5-A37B-AC47-82A7-9FD0D6AE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297BE-31E4-8D4A-9901-1F2A8E8A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87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0D573D-5F5E-BF4A-93F9-43647862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1A36E-F729-3F46-8355-BCD5DA574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A9CC8-978D-5548-BCEC-71DCE9CA7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68A19-767B-7944-A081-594F0039F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0627-6A45-704A-AE98-A13364342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92C74-B216-B14B-BC2B-4739D91B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8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4D3D850-2041-4B7C-AED9-54DA385B1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38684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9F1A7E4-819D-4D21-8E8B-32671A9F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563919" y="753376"/>
            <a:ext cx="5353835" cy="5353835"/>
          </a:xfrm>
          <a:custGeom>
            <a:avLst/>
            <a:gdLst>
              <a:gd name="connsiteX0" fmla="*/ 690507 w 5353835"/>
              <a:gd name="connsiteY0" fmla="*/ 5273742 h 5353835"/>
              <a:gd name="connsiteX1" fmla="*/ 4938299 w 5353835"/>
              <a:gd name="connsiteY1" fmla="*/ 5273742 h 5353835"/>
              <a:gd name="connsiteX2" fmla="*/ 4858206 w 5353835"/>
              <a:gd name="connsiteY2" fmla="*/ 5353835 h 5353835"/>
              <a:gd name="connsiteX3" fmla="*/ 770600 w 5353835"/>
              <a:gd name="connsiteY3" fmla="*/ 5353835 h 5353835"/>
              <a:gd name="connsiteX4" fmla="*/ 433255 w 5353835"/>
              <a:gd name="connsiteY4" fmla="*/ 80093 h 5353835"/>
              <a:gd name="connsiteX5" fmla="*/ 51334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58206 h 5353835"/>
              <a:gd name="connsiteX8" fmla="*/ 5273742 w 5353835"/>
              <a:gd name="connsiteY8" fmla="*/ 4938299 h 5353835"/>
              <a:gd name="connsiteX9" fmla="*/ 5273742 w 5353835"/>
              <a:gd name="connsiteY9" fmla="*/ 80093 h 5353835"/>
              <a:gd name="connsiteX10" fmla="*/ 0 w 5353835"/>
              <a:gd name="connsiteY10" fmla="*/ 513348 h 5353835"/>
              <a:gd name="connsiteX11" fmla="*/ 80093 w 5353835"/>
              <a:gd name="connsiteY11" fmla="*/ 433255 h 5353835"/>
              <a:gd name="connsiteX12" fmla="*/ 80093 w 5353835"/>
              <a:gd name="connsiteY12" fmla="*/ 4663328 h 5353835"/>
              <a:gd name="connsiteX13" fmla="*/ 0 w 5353835"/>
              <a:gd name="connsiteY13" fmla="*/ 4583235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7" y="5273742"/>
                </a:moveTo>
                <a:lnTo>
                  <a:pt x="4938299" y="5273742"/>
                </a:lnTo>
                <a:lnTo>
                  <a:pt x="4858206" y="5353835"/>
                </a:lnTo>
                <a:lnTo>
                  <a:pt x="770600" y="5353835"/>
                </a:lnTo>
                <a:close/>
                <a:moveTo>
                  <a:pt x="433255" y="80093"/>
                </a:moveTo>
                <a:lnTo>
                  <a:pt x="513348" y="0"/>
                </a:lnTo>
                <a:lnTo>
                  <a:pt x="5353835" y="0"/>
                </a:lnTo>
                <a:lnTo>
                  <a:pt x="5353835" y="4858206"/>
                </a:lnTo>
                <a:lnTo>
                  <a:pt x="5273742" y="4938299"/>
                </a:lnTo>
                <a:lnTo>
                  <a:pt x="5273742" y="80093"/>
                </a:lnTo>
                <a:close/>
                <a:moveTo>
                  <a:pt x="0" y="513348"/>
                </a:moveTo>
                <a:lnTo>
                  <a:pt x="80093" y="433255"/>
                </a:lnTo>
                <a:lnTo>
                  <a:pt x="80093" y="4663328"/>
                </a:lnTo>
                <a:lnTo>
                  <a:pt x="0" y="45832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6ECD9-C333-B148-8DDB-7146BF305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657" y="2027846"/>
            <a:ext cx="5570457" cy="2957713"/>
          </a:xfrm>
          <a:noFill/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080808"/>
                </a:solidFill>
                <a:latin typeface="Garamond" panose="02020404030301010803" pitchFamily="18" charset="0"/>
              </a:rPr>
              <a:t>SpecDivergence:</a:t>
            </a:r>
            <a:br>
              <a:rPr lang="en-US" sz="4000" b="1" dirty="0">
                <a:solidFill>
                  <a:srgbClr val="080808"/>
                </a:solidFill>
                <a:latin typeface="Garamond" panose="02020404030301010803" pitchFamily="18" charset="0"/>
              </a:rPr>
            </a:br>
            <a:r>
              <a:rPr lang="en-US" sz="2400" b="1" dirty="0">
                <a:solidFill>
                  <a:srgbClr val="080808"/>
                </a:solidFill>
                <a:latin typeface="Garamond" panose="02020404030301010803" pitchFamily="18" charset="0"/>
              </a:rPr>
              <a:t>Mitigating Speculative Execution Attacks through Compiler-Driven Execution Divergence</a:t>
            </a:r>
            <a:endParaRPr lang="en-US" sz="4000" dirty="0">
              <a:solidFill>
                <a:srgbClr val="080808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41281-FDBA-B74B-89F6-B80205A76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3630" y="2634279"/>
            <a:ext cx="6445012" cy="442498"/>
          </a:xfrm>
          <a:noFill/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 Hajiabadi</a:t>
            </a:r>
            <a:r>
              <a:rPr 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</a:t>
            </a:r>
            <a:r>
              <a:rPr 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Agarwal, Trevor E. Carlson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CB64814D-A361-44E1-8D97-B83E41C8B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0" y="-2"/>
            <a:ext cx="1248189" cy="1248189"/>
          </a:xfrm>
          <a:prstGeom prst="triangle">
            <a:avLst>
              <a:gd name="adj" fmla="val 10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2A6879-032A-4946-9CCA-44D38BED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296832" y="246646"/>
            <a:ext cx="577231" cy="57723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AB08D7-F0FB-4965-B730-8B874214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93049" y="367194"/>
            <a:ext cx="999162" cy="99916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8D9297-49FA-43ED-AC6B-E2F153B3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9187" y="946949"/>
            <a:ext cx="352820" cy="35282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93B4105-989A-4A79-A881-75F3602AE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51528" y="4483510"/>
            <a:ext cx="4748979" cy="2374490"/>
            <a:chOff x="4857523" y="4483510"/>
            <a:chExt cx="4748979" cy="2374490"/>
          </a:xfrm>
        </p:grpSpPr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D89F965B-7F23-48AC-830E-2272A40CD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57523" y="4483510"/>
              <a:ext cx="4748979" cy="2374490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57518E5-4332-4F59-9B89-B658B6BFD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7735188" y="4982817"/>
              <a:ext cx="1009255" cy="100925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CD80B49C-E07D-7A47-8F99-4BCD7037D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356" y="3638753"/>
            <a:ext cx="1599559" cy="7397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F7437B-637C-E44E-83A9-DA621651EFF9}"/>
              </a:ext>
            </a:extLst>
          </p:cNvPr>
          <p:cNvSpPr txBox="1"/>
          <p:nvPr/>
        </p:nvSpPr>
        <p:spPr>
          <a:xfrm>
            <a:off x="7433526" y="2962373"/>
            <a:ext cx="392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Singapore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12FD7-B2F8-C44E-9D6F-CB8F32C3E01A}"/>
              </a:ext>
            </a:extLst>
          </p:cNvPr>
          <p:cNvSpPr txBox="1"/>
          <p:nvPr/>
        </p:nvSpPr>
        <p:spPr>
          <a:xfrm>
            <a:off x="6011280" y="5584896"/>
            <a:ext cx="272417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aramond" panose="02020404030301010803" pitchFamily="18" charset="0"/>
              </a:rPr>
              <a:t>NUS-</a:t>
            </a:r>
            <a:r>
              <a:rPr lang="en-US" sz="2400" dirty="0" err="1">
                <a:latin typeface="Garamond" panose="02020404030301010803" pitchFamily="18" charset="0"/>
              </a:rPr>
              <a:t>CompArch</a:t>
            </a:r>
            <a:r>
              <a:rPr lang="en-US" sz="2400" dirty="0">
                <a:latin typeface="Garamond" panose="02020404030301010803" pitchFamily="18" charset="0"/>
              </a:rPr>
              <a:t> Group Meeting</a:t>
            </a:r>
          </a:p>
          <a:p>
            <a:pPr algn="ctr"/>
            <a:r>
              <a:rPr lang="en-US" sz="2000" dirty="0">
                <a:latin typeface="Garamond" panose="02020404030301010803" pitchFamily="18" charset="0"/>
              </a:rPr>
              <a:t>29</a:t>
            </a:r>
            <a:r>
              <a:rPr lang="en-US" sz="2000" baseline="30000" dirty="0">
                <a:latin typeface="Garamond" panose="02020404030301010803" pitchFamily="18" charset="0"/>
              </a:rPr>
              <a:t>th</a:t>
            </a:r>
            <a:r>
              <a:rPr lang="en-US" sz="2000" dirty="0">
                <a:latin typeface="Garamond" panose="02020404030301010803" pitchFamily="18" charset="0"/>
              </a:rPr>
              <a:t> April 2022</a:t>
            </a:r>
          </a:p>
        </p:txBody>
      </p:sp>
    </p:spTree>
    <p:extLst>
      <p:ext uri="{BB962C8B-B14F-4D97-AF65-F5344CB8AC3E}">
        <p14:creationId xmlns:p14="http://schemas.microsoft.com/office/powerpoint/2010/main" val="404944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27F3-C07C-8411-47A3-C1DB828A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7E492-8354-80DD-99B6-3C1A6AB20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Speculative Execution Attacks</a:t>
            </a:r>
          </a:p>
          <a:p>
            <a:pPr lvl="1"/>
            <a:r>
              <a:rPr lang="en-US" dirty="0"/>
              <a:t>Visual Example</a:t>
            </a:r>
          </a:p>
          <a:p>
            <a:r>
              <a:rPr lang="en-US" dirty="0"/>
              <a:t>Mitigations</a:t>
            </a:r>
          </a:p>
          <a:p>
            <a:pPr lvl="1"/>
            <a:r>
              <a:rPr lang="en-US" dirty="0"/>
              <a:t>Securing the Side-Channel</a:t>
            </a:r>
          </a:p>
          <a:p>
            <a:pPr lvl="1"/>
            <a:r>
              <a:rPr lang="en-US" dirty="0"/>
              <a:t>Side-Channel-Agnostic Mitigation</a:t>
            </a:r>
          </a:p>
          <a:p>
            <a:pPr lvl="1"/>
            <a:r>
              <a:rPr lang="en-US" dirty="0"/>
              <a:t>Compiler-Assisted Side-Channel-Agnostic Mitigation</a:t>
            </a:r>
          </a:p>
          <a:p>
            <a:pPr lvl="1"/>
            <a:r>
              <a:rPr lang="en-US" dirty="0"/>
              <a:t>Speculation Divergence (SpecDivergence) – our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5F8A7-22D3-FF50-8FB6-57D12F250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774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83B55-8608-9FF8-9BA8-5BE241A3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974" y="437322"/>
            <a:ext cx="5323511" cy="1253366"/>
          </a:xfrm>
        </p:spPr>
        <p:txBody>
          <a:bodyPr>
            <a:normAutofit fontScale="90000"/>
          </a:bodyPr>
          <a:lstStyle/>
          <a:p>
            <a:r>
              <a:rPr lang="en-US" dirty="0"/>
              <a:t>Speculative Execution Attack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B189C-B3F9-B83B-6475-6E38BC8C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A8F39-A2DA-780D-3877-199A1BB1F1FA}"/>
              </a:ext>
            </a:extLst>
          </p:cNvPr>
          <p:cNvSpPr txBox="1"/>
          <p:nvPr/>
        </p:nvSpPr>
        <p:spPr>
          <a:xfrm>
            <a:off x="6307485" y="1021309"/>
            <a:ext cx="4687502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Monaco" pitchFamily="2" charset="77"/>
              </a:rPr>
              <a:t>unit8 A[10];</a:t>
            </a:r>
          </a:p>
          <a:p>
            <a:r>
              <a:rPr lang="en-US" sz="1100" dirty="0">
                <a:latin typeface="Monaco" pitchFamily="2" charset="77"/>
              </a:rPr>
              <a:t>uint8 B[256]; </a:t>
            </a:r>
            <a:r>
              <a:rPr lang="en-US" sz="1100" dirty="0">
                <a:solidFill>
                  <a:srgbClr val="C00000"/>
                </a:solidFill>
                <a:latin typeface="Monaco" pitchFamily="2" charset="77"/>
              </a:rPr>
              <a:t>//side-channel (SC)</a:t>
            </a:r>
          </a:p>
          <a:p>
            <a:endParaRPr lang="en-US" sz="1100" dirty="0">
              <a:solidFill>
                <a:schemeClr val="accent1"/>
              </a:solidFill>
              <a:latin typeface="Monaco" pitchFamily="2" charset="77"/>
            </a:endParaRPr>
          </a:p>
          <a:p>
            <a:r>
              <a:rPr lang="en-US" sz="1100" dirty="0">
                <a:solidFill>
                  <a:schemeClr val="accent1"/>
                </a:solidFill>
                <a:latin typeface="Monaco" pitchFamily="2" charset="77"/>
              </a:rPr>
              <a:t>void</a:t>
            </a:r>
            <a:r>
              <a:rPr lang="en-US" sz="1100" dirty="0">
                <a:latin typeface="Monaco" pitchFamily="2" charset="77"/>
              </a:rPr>
              <a:t> victim(</a:t>
            </a:r>
            <a:r>
              <a:rPr lang="en-US" sz="1100" dirty="0" err="1">
                <a:latin typeface="Monaco" pitchFamily="2" charset="77"/>
              </a:rPr>
              <a:t>size_t</a:t>
            </a:r>
            <a:r>
              <a:rPr lang="en-US" sz="1100" dirty="0">
                <a:latin typeface="Monaco" pitchFamily="2" charset="77"/>
              </a:rPr>
              <a:t> </a:t>
            </a:r>
            <a:r>
              <a:rPr lang="en-US" sz="1100" dirty="0" err="1">
                <a:latin typeface="Monaco" pitchFamily="2" charset="77"/>
              </a:rPr>
              <a:t>addr</a:t>
            </a:r>
            <a:r>
              <a:rPr lang="en-US" sz="1100" dirty="0">
                <a:latin typeface="Monaco" pitchFamily="2" charset="77"/>
              </a:rPr>
              <a:t>){</a:t>
            </a:r>
          </a:p>
          <a:p>
            <a:r>
              <a:rPr lang="en-US" sz="1100" dirty="0">
                <a:latin typeface="Monaco" pitchFamily="2" charset="77"/>
              </a:rPr>
              <a:t>    </a:t>
            </a:r>
            <a:r>
              <a:rPr lang="en-US" sz="1100" dirty="0">
                <a:solidFill>
                  <a:schemeClr val="accent1"/>
                </a:solidFill>
                <a:latin typeface="Monaco" pitchFamily="2" charset="77"/>
              </a:rPr>
              <a:t>if</a:t>
            </a:r>
            <a:r>
              <a:rPr lang="en-US" sz="1100" dirty="0">
                <a:latin typeface="Monaco" pitchFamily="2" charset="77"/>
              </a:rPr>
              <a:t> (</a:t>
            </a:r>
            <a:r>
              <a:rPr lang="en-US" sz="1100" dirty="0" err="1">
                <a:latin typeface="Monaco" pitchFamily="2" charset="77"/>
              </a:rPr>
              <a:t>addr</a:t>
            </a:r>
            <a:r>
              <a:rPr lang="en-US" sz="1100" dirty="0">
                <a:latin typeface="Monaco" pitchFamily="2" charset="77"/>
              </a:rPr>
              <a:t> &lt; 10){ </a:t>
            </a:r>
            <a:r>
              <a:rPr lang="en-US" sz="1100" dirty="0">
                <a:solidFill>
                  <a:srgbClr val="C00000"/>
                </a:solidFill>
                <a:latin typeface="Monaco" pitchFamily="2" charset="77"/>
              </a:rPr>
              <a:t>//safety check - </a:t>
            </a:r>
            <a:r>
              <a:rPr lang="en-US" sz="1100" dirty="0" err="1">
                <a:solidFill>
                  <a:srgbClr val="C00000"/>
                </a:solidFill>
                <a:latin typeface="Monaco" pitchFamily="2" charset="77"/>
              </a:rPr>
              <a:t>mispredicts</a:t>
            </a:r>
            <a:endParaRPr lang="en-US" sz="1100" dirty="0">
              <a:solidFill>
                <a:srgbClr val="C00000"/>
              </a:solidFill>
              <a:latin typeface="Monaco" pitchFamily="2" charset="77"/>
            </a:endParaRPr>
          </a:p>
          <a:p>
            <a:r>
              <a:rPr lang="en-US" sz="1100" dirty="0">
                <a:latin typeface="Monaco" pitchFamily="2" charset="77"/>
              </a:rPr>
              <a:t>        uint8 </a:t>
            </a:r>
            <a:r>
              <a:rPr lang="en-US" sz="1100" dirty="0" err="1">
                <a:latin typeface="Monaco" pitchFamily="2" charset="77"/>
              </a:rPr>
              <a:t>val</a:t>
            </a:r>
            <a:r>
              <a:rPr lang="en-US" sz="1100" dirty="0">
                <a:latin typeface="Monaco" pitchFamily="2" charset="77"/>
              </a:rPr>
              <a:t> = A[</a:t>
            </a:r>
            <a:r>
              <a:rPr lang="en-US" sz="1100" dirty="0" err="1">
                <a:latin typeface="Monaco" pitchFamily="2" charset="77"/>
              </a:rPr>
              <a:t>addr</a:t>
            </a:r>
            <a:r>
              <a:rPr lang="en-US" sz="1100" dirty="0">
                <a:latin typeface="Monaco" pitchFamily="2" charset="77"/>
              </a:rPr>
              <a:t>]; </a:t>
            </a:r>
            <a:r>
              <a:rPr lang="en-US" sz="1100" dirty="0">
                <a:solidFill>
                  <a:srgbClr val="C00000"/>
                </a:solidFill>
                <a:latin typeface="Monaco" pitchFamily="2" charset="77"/>
              </a:rPr>
              <a:t>//accessing secret</a:t>
            </a:r>
          </a:p>
          <a:p>
            <a:r>
              <a:rPr lang="en-US" sz="1100" dirty="0">
                <a:latin typeface="Monaco" pitchFamily="2" charset="77"/>
              </a:rPr>
              <a:t>        uint8 x = B[</a:t>
            </a:r>
            <a:r>
              <a:rPr lang="en-US" sz="1100" dirty="0" err="1">
                <a:latin typeface="Monaco" pitchFamily="2" charset="77"/>
              </a:rPr>
              <a:t>val</a:t>
            </a:r>
            <a:r>
              <a:rPr lang="en-US" sz="1100" dirty="0">
                <a:latin typeface="Monaco" pitchFamily="2" charset="77"/>
              </a:rPr>
              <a:t>]; </a:t>
            </a:r>
            <a:r>
              <a:rPr lang="en-US" sz="1100" dirty="0">
                <a:solidFill>
                  <a:srgbClr val="C00000"/>
                </a:solidFill>
                <a:latin typeface="Monaco" pitchFamily="2" charset="77"/>
              </a:rPr>
              <a:t>//transmitting secret to SC</a:t>
            </a:r>
          </a:p>
          <a:p>
            <a:r>
              <a:rPr lang="en-US" sz="1100" dirty="0">
                <a:latin typeface="Monaco" pitchFamily="2" charset="77"/>
              </a:rPr>
              <a:t>    }</a:t>
            </a:r>
          </a:p>
          <a:p>
            <a:r>
              <a:rPr lang="en-US" sz="1100" dirty="0">
                <a:latin typeface="Monaco" pitchFamily="2" charset="77"/>
              </a:rPr>
              <a:t>}</a:t>
            </a:r>
          </a:p>
          <a:p>
            <a:endParaRPr lang="en-US" sz="1100" dirty="0">
              <a:latin typeface="Monaco" pitchFamily="2" charset="77"/>
            </a:endParaRPr>
          </a:p>
          <a:p>
            <a:r>
              <a:rPr lang="en-US" sz="1100" dirty="0">
                <a:latin typeface="Monaco" pitchFamily="2" charset="77"/>
              </a:rPr>
              <a:t>void attack(){</a:t>
            </a:r>
          </a:p>
          <a:p>
            <a:r>
              <a:rPr lang="en-US" sz="1100" dirty="0">
                <a:latin typeface="Monaco" pitchFamily="2" charset="77"/>
              </a:rPr>
              <a:t>    </a:t>
            </a:r>
            <a:r>
              <a:rPr lang="en-US" sz="1100" b="1" dirty="0">
                <a:solidFill>
                  <a:srgbClr val="0070C0"/>
                </a:solidFill>
                <a:latin typeface="Monaco" pitchFamily="2" charset="77"/>
              </a:rPr>
              <a:t>//Phase 1: initializing the side-channel</a:t>
            </a:r>
          </a:p>
          <a:p>
            <a:r>
              <a:rPr lang="en-US" sz="1100" dirty="0">
                <a:latin typeface="Monaco" pitchFamily="2" charset="77"/>
              </a:rPr>
              <a:t>    for (</a:t>
            </a:r>
            <a:r>
              <a:rPr lang="en-US" sz="1100" dirty="0" err="1">
                <a:latin typeface="Monaco" pitchFamily="2" charset="77"/>
              </a:rPr>
              <a:t>i</a:t>
            </a:r>
            <a:r>
              <a:rPr lang="en-US" sz="1100" dirty="0">
                <a:latin typeface="Monaco" pitchFamily="2" charset="77"/>
              </a:rPr>
              <a:t> = 0; </a:t>
            </a:r>
            <a:r>
              <a:rPr lang="en-US" sz="1100" dirty="0" err="1">
                <a:latin typeface="Monaco" pitchFamily="2" charset="77"/>
              </a:rPr>
              <a:t>i</a:t>
            </a:r>
            <a:r>
              <a:rPr lang="en-US" sz="1100" dirty="0">
                <a:latin typeface="Monaco" pitchFamily="2" charset="77"/>
              </a:rPr>
              <a:t> &lt; 256; </a:t>
            </a:r>
            <a:r>
              <a:rPr lang="en-US" sz="1100" dirty="0" err="1">
                <a:latin typeface="Monaco" pitchFamily="2" charset="77"/>
              </a:rPr>
              <a:t>i</a:t>
            </a:r>
            <a:r>
              <a:rPr lang="en-US" sz="1100" dirty="0">
                <a:latin typeface="Monaco" pitchFamily="2" charset="77"/>
              </a:rPr>
              <a:t>++)</a:t>
            </a:r>
          </a:p>
          <a:p>
            <a:r>
              <a:rPr lang="en-US" sz="1100" dirty="0">
                <a:latin typeface="Monaco" pitchFamily="2" charset="77"/>
              </a:rPr>
              <a:t>        </a:t>
            </a:r>
            <a:r>
              <a:rPr lang="en-US" sz="1100" dirty="0" err="1">
                <a:latin typeface="Monaco" pitchFamily="2" charset="77"/>
              </a:rPr>
              <a:t>clflush</a:t>
            </a:r>
            <a:r>
              <a:rPr lang="en-US" sz="1100" dirty="0">
                <a:latin typeface="Monaco" pitchFamily="2" charset="77"/>
              </a:rPr>
              <a:t>(B[</a:t>
            </a:r>
            <a:r>
              <a:rPr lang="en-US" sz="1100" dirty="0" err="1">
                <a:latin typeface="Monaco" pitchFamily="2" charset="77"/>
              </a:rPr>
              <a:t>i</a:t>
            </a:r>
            <a:r>
              <a:rPr lang="en-US" sz="1100" dirty="0">
                <a:latin typeface="Monaco" pitchFamily="2" charset="77"/>
              </a:rPr>
              <a:t>]);</a:t>
            </a:r>
          </a:p>
          <a:p>
            <a:endParaRPr lang="en-US" sz="1100" dirty="0">
              <a:latin typeface="Monaco" pitchFamily="2" charset="77"/>
            </a:endParaRPr>
          </a:p>
          <a:p>
            <a:r>
              <a:rPr lang="en-US" sz="1100" dirty="0">
                <a:latin typeface="Monaco" pitchFamily="2" charset="77"/>
              </a:rPr>
              <a:t>    </a:t>
            </a:r>
            <a:r>
              <a:rPr lang="en-US" sz="1100" b="1" dirty="0">
                <a:solidFill>
                  <a:srgbClr val="0070C0"/>
                </a:solidFill>
                <a:latin typeface="Monaco" pitchFamily="2" charset="77"/>
              </a:rPr>
              <a:t>//Phase 2: running the victim</a:t>
            </a:r>
          </a:p>
          <a:p>
            <a:r>
              <a:rPr lang="en-US" sz="1100" dirty="0">
                <a:latin typeface="Monaco" pitchFamily="2" charset="77"/>
              </a:rPr>
              <a:t>    </a:t>
            </a:r>
            <a:r>
              <a:rPr lang="en-US" sz="1100" dirty="0" err="1">
                <a:latin typeface="Monaco" pitchFamily="2" charset="77"/>
              </a:rPr>
              <a:t>size_t</a:t>
            </a:r>
            <a:r>
              <a:rPr lang="en-US" sz="1100" dirty="0">
                <a:latin typeface="Monaco" pitchFamily="2" charset="77"/>
              </a:rPr>
              <a:t> </a:t>
            </a:r>
            <a:r>
              <a:rPr lang="en-US" sz="1100" dirty="0" err="1">
                <a:latin typeface="Monaco" pitchFamily="2" charset="77"/>
              </a:rPr>
              <a:t>secret_offset</a:t>
            </a:r>
            <a:r>
              <a:rPr lang="en-US" sz="1100" dirty="0">
                <a:latin typeface="Monaco" pitchFamily="2" charset="77"/>
              </a:rPr>
              <a:t> = </a:t>
            </a:r>
            <a:r>
              <a:rPr lang="en-US" sz="1100" dirty="0" err="1">
                <a:latin typeface="Monaco" pitchFamily="2" charset="77"/>
              </a:rPr>
              <a:t>secret_address</a:t>
            </a:r>
            <a:r>
              <a:rPr lang="en-US" sz="1100" dirty="0">
                <a:latin typeface="Monaco" pitchFamily="2" charset="77"/>
              </a:rPr>
              <a:t> - A;</a:t>
            </a:r>
          </a:p>
          <a:p>
            <a:r>
              <a:rPr lang="en-US" sz="1100" dirty="0">
                <a:latin typeface="Monaco" pitchFamily="2" charset="77"/>
              </a:rPr>
              <a:t>    victim(</a:t>
            </a:r>
            <a:r>
              <a:rPr lang="en-US" sz="1100" dirty="0" err="1">
                <a:latin typeface="Monaco" pitchFamily="2" charset="77"/>
              </a:rPr>
              <a:t>secret_offset</a:t>
            </a:r>
            <a:r>
              <a:rPr lang="en-US" sz="1100" dirty="0">
                <a:latin typeface="Monaco" pitchFamily="2" charset="77"/>
              </a:rPr>
              <a:t>);</a:t>
            </a:r>
          </a:p>
          <a:p>
            <a:endParaRPr lang="en-US" sz="1100" dirty="0">
              <a:latin typeface="Monaco" pitchFamily="2" charset="77"/>
            </a:endParaRPr>
          </a:p>
          <a:p>
            <a:r>
              <a:rPr lang="en-US" sz="1100" dirty="0">
                <a:latin typeface="Monaco" pitchFamily="2" charset="77"/>
              </a:rPr>
              <a:t>    </a:t>
            </a:r>
            <a:r>
              <a:rPr lang="en-US" sz="1100" b="1" dirty="0">
                <a:solidFill>
                  <a:srgbClr val="0070C0"/>
                </a:solidFill>
                <a:latin typeface="Monaco" pitchFamily="2" charset="77"/>
              </a:rPr>
              <a:t>//Phase 3: recovering the secret</a:t>
            </a:r>
          </a:p>
          <a:p>
            <a:r>
              <a:rPr lang="en-US" sz="1100" dirty="0">
                <a:latin typeface="Monaco" pitchFamily="2" charset="77"/>
              </a:rPr>
              <a:t>    for (guess = 0; guess &lt; 256; guess++){</a:t>
            </a:r>
          </a:p>
          <a:p>
            <a:r>
              <a:rPr lang="en-US" sz="1100" dirty="0">
                <a:latin typeface="Monaco" pitchFamily="2" charset="77"/>
              </a:rPr>
              <a:t>        t1 = </a:t>
            </a:r>
            <a:r>
              <a:rPr lang="en-US" sz="1100" dirty="0" err="1">
                <a:latin typeface="Monaco" pitchFamily="2" charset="77"/>
              </a:rPr>
              <a:t>rdtscp</a:t>
            </a:r>
            <a:r>
              <a:rPr lang="en-US" sz="1100" dirty="0">
                <a:latin typeface="Monaco" pitchFamily="2" charset="77"/>
              </a:rPr>
              <a:t>(); </a:t>
            </a:r>
            <a:r>
              <a:rPr lang="en-US" sz="1100" dirty="0">
                <a:solidFill>
                  <a:srgbClr val="C00000"/>
                </a:solidFill>
                <a:latin typeface="Monaco" pitchFamily="2" charset="77"/>
              </a:rPr>
              <a:t>//read timer</a:t>
            </a:r>
          </a:p>
          <a:p>
            <a:r>
              <a:rPr lang="en-US" sz="1100" dirty="0">
                <a:latin typeface="Monaco" pitchFamily="2" charset="77"/>
              </a:rPr>
              <a:t>        temp = B[guess]; </a:t>
            </a:r>
            <a:r>
              <a:rPr lang="en-US" sz="1100" dirty="0">
                <a:solidFill>
                  <a:srgbClr val="C00000"/>
                </a:solidFill>
                <a:latin typeface="Monaco" pitchFamily="2" charset="77"/>
              </a:rPr>
              <a:t>//accessing the guess</a:t>
            </a:r>
          </a:p>
          <a:p>
            <a:r>
              <a:rPr lang="en-US" sz="1100" dirty="0">
                <a:latin typeface="Monaco" pitchFamily="2" charset="77"/>
              </a:rPr>
              <a:t>        t2 = </a:t>
            </a:r>
            <a:r>
              <a:rPr lang="en-US" sz="1100" dirty="0" err="1">
                <a:latin typeface="Monaco" pitchFamily="2" charset="77"/>
              </a:rPr>
              <a:t>rdtscp</a:t>
            </a:r>
            <a:r>
              <a:rPr lang="en-US" sz="1100" dirty="0">
                <a:latin typeface="Monaco" pitchFamily="2" charset="77"/>
              </a:rPr>
              <a:t>(); </a:t>
            </a:r>
            <a:r>
              <a:rPr lang="en-US" sz="1100" dirty="0">
                <a:solidFill>
                  <a:srgbClr val="C00000"/>
                </a:solidFill>
                <a:latin typeface="Monaco" pitchFamily="2" charset="77"/>
              </a:rPr>
              <a:t>//read timer</a:t>
            </a:r>
          </a:p>
          <a:p>
            <a:r>
              <a:rPr lang="en-US" sz="1100" dirty="0">
                <a:latin typeface="Monaco" pitchFamily="2" charset="77"/>
              </a:rPr>
              <a:t>        if (t2-t1 &lt;= CACHE_HIT_THRESHOLD)</a:t>
            </a:r>
          </a:p>
          <a:p>
            <a:r>
              <a:rPr lang="en-US" sz="1100" dirty="0">
                <a:latin typeface="Monaco" pitchFamily="2" charset="77"/>
              </a:rPr>
              <a:t>            results[guess] += 1; </a:t>
            </a:r>
            <a:r>
              <a:rPr lang="en-US" sz="1100" dirty="0">
                <a:solidFill>
                  <a:srgbClr val="C00000"/>
                </a:solidFill>
                <a:latin typeface="Monaco" pitchFamily="2" charset="77"/>
              </a:rPr>
              <a:t>//potential secret</a:t>
            </a:r>
          </a:p>
          <a:p>
            <a:r>
              <a:rPr lang="en-US" sz="1100" dirty="0">
                <a:latin typeface="Monaco" pitchFamily="2" charset="77"/>
              </a:rPr>
              <a:t>    }</a:t>
            </a:r>
          </a:p>
          <a:p>
            <a:r>
              <a:rPr lang="en-US" sz="1100" dirty="0">
                <a:latin typeface="Monaco" pitchFamily="2" charset="77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4C4D1-B3DD-ACB4-A761-A21973A635F7}"/>
              </a:ext>
            </a:extLst>
          </p:cNvPr>
          <p:cNvSpPr txBox="1"/>
          <p:nvPr/>
        </p:nvSpPr>
        <p:spPr>
          <a:xfrm>
            <a:off x="6858982" y="5830516"/>
            <a:ext cx="3584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Spectre V1 using cache side-channel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BEE134-5146-D86C-B428-9E1E61952D8D}"/>
              </a:ext>
            </a:extLst>
          </p:cNvPr>
          <p:cNvSpPr/>
          <p:nvPr/>
        </p:nvSpPr>
        <p:spPr>
          <a:xfrm>
            <a:off x="1414914" y="2175309"/>
            <a:ext cx="4225490" cy="9432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rgbClr val="929000"/>
                </a:solidFill>
              </a:rPr>
              <a:t>Setup Phase: Initializing the Side-Channel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The attacker initializes the side-channel to a known state (e.g., all cache lines flushed)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A2BC09-9B24-A147-00CE-CEB4CDEF816B}"/>
              </a:ext>
            </a:extLst>
          </p:cNvPr>
          <p:cNvSpPr txBox="1"/>
          <p:nvPr/>
        </p:nvSpPr>
        <p:spPr>
          <a:xfrm>
            <a:off x="1330032" y="1775199"/>
            <a:ext cx="1074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Attacker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3E120B-2AAB-0829-215D-34EBC76F3248}"/>
              </a:ext>
            </a:extLst>
          </p:cNvPr>
          <p:cNvSpPr/>
          <p:nvPr/>
        </p:nvSpPr>
        <p:spPr>
          <a:xfrm>
            <a:off x="1414914" y="3680861"/>
            <a:ext cx="4225490" cy="9432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rgbClr val="929000"/>
                </a:solidFill>
              </a:rPr>
              <a:t>Access &amp; Transmit Phase: Running Victim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Victim speculatively accesses the secret and transmits the secret to the side-channel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739935-BDAA-054A-C49C-26C13AA46115}"/>
              </a:ext>
            </a:extLst>
          </p:cNvPr>
          <p:cNvSpPr txBox="1"/>
          <p:nvPr/>
        </p:nvSpPr>
        <p:spPr>
          <a:xfrm>
            <a:off x="1330032" y="3280751"/>
            <a:ext cx="865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9193"/>
                </a:solidFill>
              </a:rPr>
              <a:t>Victim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2848A9-130A-61D0-8589-0511F052D44D}"/>
              </a:ext>
            </a:extLst>
          </p:cNvPr>
          <p:cNvSpPr/>
          <p:nvPr/>
        </p:nvSpPr>
        <p:spPr>
          <a:xfrm>
            <a:off x="1414914" y="5157536"/>
            <a:ext cx="4225490" cy="9432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rgbClr val="929000"/>
                </a:solidFill>
              </a:rPr>
              <a:t>Recovery Phase: Probing the Side-Channel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The attacker probes the side-channel to detect the changes done by victim and recover the secret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0E3D44-19B0-3573-FA52-B9033B3DF905}"/>
              </a:ext>
            </a:extLst>
          </p:cNvPr>
          <p:cNvSpPr txBox="1"/>
          <p:nvPr/>
        </p:nvSpPr>
        <p:spPr>
          <a:xfrm>
            <a:off x="1330032" y="4757426"/>
            <a:ext cx="1074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Attacker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94A5D90-E4E1-DFA7-073F-BDF92C524F61}"/>
              </a:ext>
            </a:extLst>
          </p:cNvPr>
          <p:cNvSpPr/>
          <p:nvPr/>
        </p:nvSpPr>
        <p:spPr>
          <a:xfrm>
            <a:off x="922834" y="2464067"/>
            <a:ext cx="385010" cy="365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964878-A524-251C-E716-B88E4CDF754C}"/>
              </a:ext>
            </a:extLst>
          </p:cNvPr>
          <p:cNvSpPr/>
          <p:nvPr/>
        </p:nvSpPr>
        <p:spPr>
          <a:xfrm>
            <a:off x="927517" y="3974362"/>
            <a:ext cx="385010" cy="365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96153F6-E04E-DF8C-B720-142727AD86A0}"/>
              </a:ext>
            </a:extLst>
          </p:cNvPr>
          <p:cNvSpPr/>
          <p:nvPr/>
        </p:nvSpPr>
        <p:spPr>
          <a:xfrm>
            <a:off x="922834" y="5446294"/>
            <a:ext cx="385010" cy="365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B5DB8906-4C9F-0912-3D9C-BAA7FEFA540E}"/>
              </a:ext>
            </a:extLst>
          </p:cNvPr>
          <p:cNvSpPr/>
          <p:nvPr/>
        </p:nvSpPr>
        <p:spPr>
          <a:xfrm>
            <a:off x="3359216" y="3244987"/>
            <a:ext cx="336885" cy="30947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0869EC07-CC00-0400-B499-95FA13AE47D8}"/>
              </a:ext>
            </a:extLst>
          </p:cNvPr>
          <p:cNvSpPr/>
          <p:nvPr/>
        </p:nvSpPr>
        <p:spPr>
          <a:xfrm>
            <a:off x="3357471" y="4745656"/>
            <a:ext cx="336885" cy="30947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24B2E3-2CF7-03E4-4E86-1715FE00E921}"/>
              </a:ext>
            </a:extLst>
          </p:cNvPr>
          <p:cNvSpPr/>
          <p:nvPr/>
        </p:nvSpPr>
        <p:spPr>
          <a:xfrm>
            <a:off x="6602931" y="2881633"/>
            <a:ext cx="3705727" cy="599173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A25C6A-6995-0CC6-895A-E0FEED46578C}"/>
              </a:ext>
            </a:extLst>
          </p:cNvPr>
          <p:cNvSpPr/>
          <p:nvPr/>
        </p:nvSpPr>
        <p:spPr>
          <a:xfrm>
            <a:off x="6636038" y="4215865"/>
            <a:ext cx="4067255" cy="1458149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1917EB-E220-1C18-8695-445E4D594295}"/>
              </a:ext>
            </a:extLst>
          </p:cNvPr>
          <p:cNvSpPr/>
          <p:nvPr/>
        </p:nvSpPr>
        <p:spPr>
          <a:xfrm>
            <a:off x="6602930" y="3553326"/>
            <a:ext cx="3705727" cy="599173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A01893-B566-DA79-157B-057A23B9032E}"/>
              </a:ext>
            </a:extLst>
          </p:cNvPr>
          <p:cNvSpPr/>
          <p:nvPr/>
        </p:nvSpPr>
        <p:spPr>
          <a:xfrm>
            <a:off x="6386707" y="1552837"/>
            <a:ext cx="4577208" cy="1089298"/>
          </a:xfrm>
          <a:prstGeom prst="rect">
            <a:avLst/>
          </a:prstGeom>
          <a:noFill/>
          <a:ln w="19050">
            <a:solidFill>
              <a:srgbClr val="00919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5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2" grpId="1" animBg="1"/>
      <p:bldP spid="23" grpId="0" animBg="1"/>
      <p:bldP spid="24" grpId="0" animBg="1"/>
      <p:bldP spid="24" grpId="1" animBg="1"/>
      <p:bldP spid="25" grpId="0" animBg="1"/>
      <p:bldP spid="2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Example: Spectre on </a:t>
            </a:r>
            <a:r>
              <a:rPr lang="en-US" dirty="0" err="1"/>
              <a:t>OoO</a:t>
            </a:r>
            <a:r>
              <a:rPr lang="en-US" dirty="0"/>
              <a:t>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C6ED1-F2AE-C8E7-3896-E51BCAD41917}"/>
              </a:ext>
            </a:extLst>
          </p:cNvPr>
          <p:cNvSpPr txBox="1"/>
          <p:nvPr/>
        </p:nvSpPr>
        <p:spPr>
          <a:xfrm>
            <a:off x="838201" y="4343971"/>
            <a:ext cx="3728906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aco" pitchFamily="2" charset="77"/>
              </a:rPr>
              <a:t>uint8 B[256]; </a:t>
            </a:r>
            <a:r>
              <a:rPr lang="en-US" sz="1400" dirty="0">
                <a:solidFill>
                  <a:srgbClr val="C00000"/>
                </a:solidFill>
                <a:latin typeface="Monaco" pitchFamily="2" charset="77"/>
              </a:rPr>
              <a:t>//side-channel (SC)</a:t>
            </a:r>
          </a:p>
          <a:p>
            <a:endParaRPr lang="en-US" sz="1400" dirty="0">
              <a:solidFill>
                <a:srgbClr val="0070C0"/>
              </a:solidFill>
              <a:latin typeface="Monaco" pitchFamily="2" charset="77"/>
            </a:endParaRPr>
          </a:p>
          <a:p>
            <a:r>
              <a:rPr lang="en-US" sz="1400" dirty="0">
                <a:latin typeface="Monaco" pitchFamily="2" charset="77"/>
              </a:rPr>
              <a:t>for (</a:t>
            </a:r>
            <a:r>
              <a:rPr lang="en-US" sz="1400" dirty="0" err="1">
                <a:latin typeface="Monaco" pitchFamily="2" charset="77"/>
              </a:rPr>
              <a:t>i</a:t>
            </a:r>
            <a:r>
              <a:rPr lang="en-US" sz="1400" dirty="0">
                <a:latin typeface="Monaco" pitchFamily="2" charset="77"/>
              </a:rPr>
              <a:t> = 0; </a:t>
            </a:r>
            <a:r>
              <a:rPr lang="en-US" sz="1400" dirty="0" err="1">
                <a:latin typeface="Monaco" pitchFamily="2" charset="77"/>
              </a:rPr>
              <a:t>i</a:t>
            </a:r>
            <a:r>
              <a:rPr lang="en-US" sz="1400" dirty="0">
                <a:latin typeface="Monaco" pitchFamily="2" charset="77"/>
              </a:rPr>
              <a:t> &lt; 256; </a:t>
            </a:r>
            <a:r>
              <a:rPr lang="en-US" sz="1400" dirty="0" err="1">
                <a:latin typeface="Monaco" pitchFamily="2" charset="77"/>
              </a:rPr>
              <a:t>i</a:t>
            </a:r>
            <a:r>
              <a:rPr lang="en-US" sz="1400" dirty="0">
                <a:latin typeface="Monaco" pitchFamily="2" charset="77"/>
              </a:rPr>
              <a:t>++)</a:t>
            </a:r>
          </a:p>
          <a:p>
            <a:r>
              <a:rPr lang="en-US" sz="1400" dirty="0">
                <a:latin typeface="Monaco" pitchFamily="2" charset="77"/>
              </a:rPr>
              <a:t>    </a:t>
            </a:r>
            <a:r>
              <a:rPr lang="en-US" sz="1400" dirty="0" err="1">
                <a:latin typeface="Monaco" pitchFamily="2" charset="77"/>
              </a:rPr>
              <a:t>clflush</a:t>
            </a:r>
            <a:r>
              <a:rPr lang="en-US" sz="1400" dirty="0">
                <a:latin typeface="Monaco" pitchFamily="2" charset="77"/>
              </a:rPr>
              <a:t>(B[</a:t>
            </a:r>
            <a:r>
              <a:rPr lang="en-US" sz="1400" dirty="0" err="1">
                <a:latin typeface="Monaco" pitchFamily="2" charset="77"/>
              </a:rPr>
              <a:t>i</a:t>
            </a:r>
            <a:r>
              <a:rPr lang="en-US" sz="1400" dirty="0">
                <a:latin typeface="Monaco" pitchFamily="2" charset="77"/>
              </a:rPr>
              <a:t>]);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46" idx="1"/>
          </p:cNvCxnSpPr>
          <p:nvPr/>
        </p:nvCxnSpPr>
        <p:spPr>
          <a:xfrm rot="16200000" flipH="1">
            <a:off x="6133849" y="3765747"/>
            <a:ext cx="775733" cy="75737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46" idx="3"/>
            <a:endCxn id="9" idx="2"/>
          </p:cNvCxnSpPr>
          <p:nvPr/>
        </p:nvCxnSpPr>
        <p:spPr>
          <a:xfrm flipV="1">
            <a:off x="7718950" y="3756567"/>
            <a:ext cx="899996" cy="77573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500709"/>
              </p:ext>
            </p:extLst>
          </p:nvPr>
        </p:nvGraphicFramePr>
        <p:xfrm>
          <a:off x="8146686" y="2214699"/>
          <a:ext cx="944518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0462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374056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083702" y="1911279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graphicFrame>
        <p:nvGraphicFramePr>
          <p:cNvPr id="35" name="Table 35">
            <a:extLst>
              <a:ext uri="{FF2B5EF4-FFF2-40B4-BE49-F238E27FC236}">
                <a16:creationId xmlns:a16="http://schemas.microsoft.com/office/drawing/2014/main" id="{48453691-D322-A0A9-4EEB-79145CC4D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194502"/>
              </p:ext>
            </p:extLst>
          </p:nvPr>
        </p:nvGraphicFramePr>
        <p:xfrm>
          <a:off x="9518395" y="2979293"/>
          <a:ext cx="1414706" cy="1706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824B3A42-7788-2F65-D4EF-8D9AFEDBD6C5}"/>
              </a:ext>
            </a:extLst>
          </p:cNvPr>
          <p:cNvSpPr txBox="1"/>
          <p:nvPr/>
        </p:nvSpPr>
        <p:spPr>
          <a:xfrm>
            <a:off x="9881743" y="2665913"/>
            <a:ext cx="6880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  <a:r>
              <a:rPr lang="en-US" sz="1400" baseline="30000" dirty="0"/>
              <a:t>1</a:t>
            </a:r>
            <a:endParaRPr lang="en-US" sz="1400" dirty="0"/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32007" y="2119299"/>
            <a:ext cx="4684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41651"/>
                </a:solidFill>
              </a:rPr>
              <a:t>Phase 1: Side-Channel Setup</a:t>
            </a:r>
            <a:endParaRPr lang="en-US" sz="1600" dirty="0">
              <a:solidFill>
                <a:srgbClr val="941651"/>
              </a:solidFill>
            </a:endParaRPr>
          </a:p>
          <a:p>
            <a:pPr algn="ctr"/>
            <a:r>
              <a:rPr lang="en-US" sz="1600" dirty="0"/>
              <a:t>Flushing all the cache lines of the side-channel (cache)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C17FB0-8148-1A03-3641-43B811EAEF8C}"/>
              </a:ext>
            </a:extLst>
          </p:cNvPr>
          <p:cNvSpPr txBox="1"/>
          <p:nvPr/>
        </p:nvSpPr>
        <p:spPr>
          <a:xfrm>
            <a:off x="2056227" y="5305421"/>
            <a:ext cx="1292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Code Snippet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050EF1B4-A004-5279-FF3B-C6FF2BD66803}"/>
              </a:ext>
            </a:extLst>
          </p:cNvPr>
          <p:cNvSpPr/>
          <p:nvPr/>
        </p:nvSpPr>
        <p:spPr>
          <a:xfrm>
            <a:off x="11023740" y="3220539"/>
            <a:ext cx="182880" cy="979470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8D8C6D-2242-3916-F277-5E9418028272}"/>
              </a:ext>
            </a:extLst>
          </p:cNvPr>
          <p:cNvSpPr txBox="1"/>
          <p:nvPr/>
        </p:nvSpPr>
        <p:spPr>
          <a:xfrm>
            <a:off x="11206620" y="3524956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B7FD6FA-B76B-3C03-5E17-25021AD0ED9C}"/>
              </a:ext>
            </a:extLst>
          </p:cNvPr>
          <p:cNvSpPr/>
          <p:nvPr/>
        </p:nvSpPr>
        <p:spPr>
          <a:xfrm>
            <a:off x="6900401" y="4074609"/>
            <a:ext cx="818549" cy="91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Reorder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50" name="Footer Placeholder 49">
            <a:extLst>
              <a:ext uri="{FF2B5EF4-FFF2-40B4-BE49-F238E27FC236}">
                <a16:creationId xmlns:a16="http://schemas.microsoft.com/office/drawing/2014/main" id="{04FB3CF9-1B82-38D6-C2E2-BEDC9D2E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cache has 512 lines and size of each line is 256.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19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Example: Spectre on </a:t>
            </a:r>
            <a:r>
              <a:rPr lang="en-US" dirty="0" err="1"/>
              <a:t>OoO</a:t>
            </a:r>
            <a:r>
              <a:rPr lang="en-US" dirty="0"/>
              <a:t>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C6ED1-F2AE-C8E7-3896-E51BCAD41917}"/>
              </a:ext>
            </a:extLst>
          </p:cNvPr>
          <p:cNvSpPr txBox="1"/>
          <p:nvPr/>
        </p:nvSpPr>
        <p:spPr>
          <a:xfrm>
            <a:off x="785476" y="4058951"/>
            <a:ext cx="511229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aco" pitchFamily="2" charset="77"/>
              </a:rPr>
              <a:t>unit8 A[10];</a:t>
            </a:r>
          </a:p>
          <a:p>
            <a:r>
              <a:rPr lang="en-US" sz="1200" dirty="0">
                <a:latin typeface="Monaco" pitchFamily="2" charset="77"/>
              </a:rPr>
              <a:t>uint8 B[256];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//side-channel (SC)</a:t>
            </a:r>
          </a:p>
          <a:p>
            <a:endParaRPr lang="en-US" sz="1200" dirty="0">
              <a:solidFill>
                <a:schemeClr val="accent1"/>
              </a:solidFill>
              <a:latin typeface="Monaco" pitchFamily="2" charset="77"/>
            </a:endParaRPr>
          </a:p>
          <a:p>
            <a:r>
              <a:rPr lang="en-US" sz="1200" dirty="0">
                <a:solidFill>
                  <a:schemeClr val="accent1"/>
                </a:solidFill>
                <a:latin typeface="Monaco" pitchFamily="2" charset="77"/>
              </a:rPr>
              <a:t>void</a:t>
            </a:r>
            <a:r>
              <a:rPr lang="en-US" sz="1200" dirty="0">
                <a:latin typeface="Monaco" pitchFamily="2" charset="77"/>
              </a:rPr>
              <a:t> victim(</a:t>
            </a:r>
            <a:r>
              <a:rPr lang="en-US" sz="1200" dirty="0" err="1">
                <a:latin typeface="Monaco" pitchFamily="2" charset="77"/>
              </a:rPr>
              <a:t>size_t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en-US" sz="1200" dirty="0" err="1">
                <a:latin typeface="Monaco" pitchFamily="2" charset="77"/>
              </a:rPr>
              <a:t>addr</a:t>
            </a:r>
            <a:r>
              <a:rPr lang="en-US" sz="1200" dirty="0">
                <a:latin typeface="Monaco" pitchFamily="2" charset="77"/>
              </a:rPr>
              <a:t>){</a:t>
            </a:r>
          </a:p>
          <a:p>
            <a:r>
              <a:rPr lang="en-US" sz="1200" dirty="0">
                <a:latin typeface="Monaco" pitchFamily="2" charset="77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Monaco" pitchFamily="2" charset="77"/>
              </a:rPr>
              <a:t>if</a:t>
            </a:r>
            <a:r>
              <a:rPr lang="en-US" sz="1200" dirty="0">
                <a:latin typeface="Monaco" pitchFamily="2" charset="77"/>
              </a:rPr>
              <a:t> (</a:t>
            </a:r>
            <a:r>
              <a:rPr lang="en-US" sz="1200" dirty="0" err="1">
                <a:latin typeface="Monaco" pitchFamily="2" charset="77"/>
              </a:rPr>
              <a:t>addr</a:t>
            </a:r>
            <a:r>
              <a:rPr lang="en-US" sz="1200" dirty="0">
                <a:latin typeface="Monaco" pitchFamily="2" charset="77"/>
              </a:rPr>
              <a:t> &lt; 10){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//safety check - </a:t>
            </a:r>
            <a:r>
              <a:rPr lang="en-US" sz="1200" dirty="0" err="1">
                <a:solidFill>
                  <a:srgbClr val="C00000"/>
                </a:solidFill>
                <a:latin typeface="Monaco" pitchFamily="2" charset="77"/>
              </a:rPr>
              <a:t>mispredicts</a:t>
            </a:r>
            <a:endParaRPr lang="en-US" sz="1200" dirty="0">
              <a:solidFill>
                <a:srgbClr val="C00000"/>
              </a:solidFill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   uint8 </a:t>
            </a:r>
            <a:r>
              <a:rPr lang="en-US" sz="1200" dirty="0" err="1">
                <a:latin typeface="Monaco" pitchFamily="2" charset="77"/>
              </a:rPr>
              <a:t>val</a:t>
            </a:r>
            <a:r>
              <a:rPr lang="en-US" sz="1200" dirty="0">
                <a:latin typeface="Monaco" pitchFamily="2" charset="77"/>
              </a:rPr>
              <a:t> = A[</a:t>
            </a:r>
            <a:r>
              <a:rPr lang="en-US" sz="1200" dirty="0" err="1">
                <a:latin typeface="Monaco" pitchFamily="2" charset="77"/>
              </a:rPr>
              <a:t>addr</a:t>
            </a:r>
            <a:r>
              <a:rPr lang="en-US" sz="1200" dirty="0">
                <a:latin typeface="Monaco" pitchFamily="2" charset="77"/>
              </a:rPr>
              <a:t>];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//accessing secret</a:t>
            </a:r>
          </a:p>
          <a:p>
            <a:r>
              <a:rPr lang="en-US" sz="1200" dirty="0">
                <a:latin typeface="Monaco" pitchFamily="2" charset="77"/>
              </a:rPr>
              <a:t>        uint8 x = B[</a:t>
            </a:r>
            <a:r>
              <a:rPr lang="en-US" sz="1200" dirty="0" err="1">
                <a:latin typeface="Monaco" pitchFamily="2" charset="77"/>
              </a:rPr>
              <a:t>val</a:t>
            </a:r>
            <a:r>
              <a:rPr lang="en-US" sz="1200" dirty="0">
                <a:latin typeface="Monaco" pitchFamily="2" charset="77"/>
              </a:rPr>
              <a:t>];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//transmitting secret to SC</a:t>
            </a:r>
          </a:p>
          <a:p>
            <a:r>
              <a:rPr lang="en-US" sz="1200" dirty="0">
                <a:latin typeface="Monaco" pitchFamily="2" charset="77"/>
              </a:rPr>
              <a:t>    }</a:t>
            </a:r>
          </a:p>
          <a:p>
            <a:r>
              <a:rPr lang="en-US" sz="1200" dirty="0">
                <a:latin typeface="Monaco" pitchFamily="2" charset="77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29" idx="1"/>
          </p:cNvCxnSpPr>
          <p:nvPr/>
        </p:nvCxnSpPr>
        <p:spPr>
          <a:xfrm rot="16200000" flipH="1">
            <a:off x="6133849" y="3765747"/>
            <a:ext cx="775733" cy="75737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29" idx="3"/>
            <a:endCxn id="9" idx="2"/>
          </p:cNvCxnSpPr>
          <p:nvPr/>
        </p:nvCxnSpPr>
        <p:spPr>
          <a:xfrm flipV="1">
            <a:off x="7718950" y="3756567"/>
            <a:ext cx="899996" cy="77573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/>
        </p:nvGraphicFramePr>
        <p:xfrm>
          <a:off x="8146686" y="2214699"/>
          <a:ext cx="944518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0462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374056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083702" y="1911279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graphicFrame>
        <p:nvGraphicFramePr>
          <p:cNvPr id="35" name="Table 35">
            <a:extLst>
              <a:ext uri="{FF2B5EF4-FFF2-40B4-BE49-F238E27FC236}">
                <a16:creationId xmlns:a16="http://schemas.microsoft.com/office/drawing/2014/main" id="{48453691-D322-A0A9-4EEB-79145CC4D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722695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824B3A42-7788-2F65-D4EF-8D9AFEDBD6C5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82226" y="2098675"/>
            <a:ext cx="50829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29000"/>
                </a:solidFill>
              </a:rPr>
              <a:t>Phase 2: Secret Access and Transmit</a:t>
            </a:r>
            <a:endParaRPr lang="en-US" sz="1600" dirty="0">
              <a:solidFill>
                <a:srgbClr val="929000"/>
              </a:solidFill>
            </a:endParaRPr>
          </a:p>
          <a:p>
            <a:pPr algn="ctr"/>
            <a:r>
              <a:rPr lang="en-US" sz="1600" dirty="0"/>
              <a:t>Victim speculatively accesses the secret and transmits the secret to the side-channel (</a:t>
            </a:r>
            <a:r>
              <a:rPr lang="en-US" sz="1600" b="1" dirty="0">
                <a:solidFill>
                  <a:srgbClr val="941651"/>
                </a:solidFill>
              </a:rPr>
              <a:t>the secret is 42</a:t>
            </a:r>
            <a:r>
              <a:rPr lang="en-US" sz="1600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C17FB0-8148-1A03-3641-43B811EAEF8C}"/>
              </a:ext>
            </a:extLst>
          </p:cNvPr>
          <p:cNvSpPr txBox="1"/>
          <p:nvPr/>
        </p:nvSpPr>
        <p:spPr>
          <a:xfrm>
            <a:off x="2695197" y="5777107"/>
            <a:ext cx="1292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Code Snippet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050EF1B4-A004-5279-FF3B-C6FF2BD66803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8D8C6D-2242-3916-F277-5E9418028272}"/>
              </a:ext>
            </a:extLst>
          </p:cNvPr>
          <p:cNvSpPr txBox="1"/>
          <p:nvPr/>
        </p:nvSpPr>
        <p:spPr>
          <a:xfrm>
            <a:off x="11206620" y="3668840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6C80B5-7D3A-6FF2-E317-AE2D2DB20FE6}"/>
              </a:ext>
            </a:extLst>
          </p:cNvPr>
          <p:cNvSpPr/>
          <p:nvPr/>
        </p:nvSpPr>
        <p:spPr>
          <a:xfrm>
            <a:off x="6900401" y="4074609"/>
            <a:ext cx="818549" cy="91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Reorder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Buffer</a:t>
            </a:r>
          </a:p>
        </p:txBody>
      </p:sp>
    </p:spTree>
    <p:extLst>
      <p:ext uri="{BB962C8B-B14F-4D97-AF65-F5344CB8AC3E}">
        <p14:creationId xmlns:p14="http://schemas.microsoft.com/office/powerpoint/2010/main" val="3290555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Example: Spectre on </a:t>
            </a:r>
            <a:r>
              <a:rPr lang="en-US" dirty="0" err="1"/>
              <a:t>OoO</a:t>
            </a:r>
            <a:r>
              <a:rPr lang="en-US" dirty="0"/>
              <a:t>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C6ED1-F2AE-C8E7-3896-E51BCAD41917}"/>
              </a:ext>
            </a:extLst>
          </p:cNvPr>
          <p:cNvSpPr txBox="1"/>
          <p:nvPr/>
        </p:nvSpPr>
        <p:spPr>
          <a:xfrm>
            <a:off x="785476" y="4058951"/>
            <a:ext cx="399660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aco" pitchFamily="2" charset="77"/>
              </a:rPr>
              <a:t>victim:</a:t>
            </a:r>
          </a:p>
          <a:p>
            <a:r>
              <a:rPr lang="en-US" sz="1200" dirty="0">
                <a:latin typeface="Monaco" pitchFamily="2" charset="77"/>
              </a:rPr>
              <a:t>     R0 = </a:t>
            </a:r>
            <a:r>
              <a:rPr lang="en-US" sz="1200" dirty="0" err="1">
                <a:latin typeface="Monaco" pitchFamily="2" charset="77"/>
              </a:rPr>
              <a:t>addr</a:t>
            </a:r>
            <a:endParaRPr lang="en-US" sz="1200" dirty="0"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CMP COND, R0, 10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//branch condition</a:t>
            </a:r>
          </a:p>
          <a:p>
            <a:r>
              <a:rPr lang="en-US" sz="1200" dirty="0">
                <a:latin typeface="Monaco" pitchFamily="2" charset="77"/>
              </a:rPr>
              <a:t>     JG  END   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</a:t>
            </a:r>
            <a:r>
              <a:rPr lang="en-US" sz="1200" dirty="0" err="1">
                <a:solidFill>
                  <a:srgbClr val="C00000"/>
                </a:solidFill>
                <a:latin typeface="Monaco" pitchFamily="2" charset="77"/>
              </a:rPr>
              <a:t>mispredicts</a:t>
            </a:r>
            <a:endParaRPr lang="en-US" sz="1200" dirty="0">
              <a:solidFill>
                <a:srgbClr val="C00000"/>
              </a:solidFill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R1 = A[R0]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//accessing the secret</a:t>
            </a:r>
          </a:p>
          <a:p>
            <a:r>
              <a:rPr lang="en-US" sz="1200" dirty="0">
                <a:latin typeface="Monaco" pitchFamily="2" charset="77"/>
              </a:rPr>
              <a:t>     R2 = B[R1]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//transmitting the secret</a:t>
            </a:r>
          </a:p>
          <a:p>
            <a:r>
              <a:rPr lang="en-US" sz="1200" dirty="0">
                <a:latin typeface="Monaco" pitchFamily="2" charset="77"/>
              </a:rPr>
              <a:t>END: RET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AA7F8627-A1AA-F749-C4F5-069F4C947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930386"/>
              </p:ext>
            </p:extLst>
          </p:nvPr>
        </p:nvGraphicFramePr>
        <p:xfrm>
          <a:off x="6529849" y="4011443"/>
          <a:ext cx="1545645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645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onaco" pitchFamily="2" charset="77"/>
                        </a:rPr>
                        <a:t>R0 = </a:t>
                      </a:r>
                      <a:r>
                        <a:rPr lang="en-US" sz="105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onaco" pitchFamily="2" charset="77"/>
                        </a:rPr>
                        <a:t>addr</a:t>
                      </a:r>
                      <a:endParaRPr lang="en-US" sz="105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CMP COND, R0,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JG 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658652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 = A[R0]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 = B[R1]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561359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4694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8AE7828-CB62-696E-6E78-1D45B937BF65}"/>
              </a:ext>
            </a:extLst>
          </p:cNvPr>
          <p:cNvSpPr txBox="1"/>
          <p:nvPr/>
        </p:nvSpPr>
        <p:spPr>
          <a:xfrm>
            <a:off x="8166133" y="3989321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9F7D5-0E05-1E17-C13A-33F0D3BC0990}"/>
              </a:ext>
            </a:extLst>
          </p:cNvPr>
          <p:cNvSpPr txBox="1"/>
          <p:nvPr/>
        </p:nvSpPr>
        <p:spPr>
          <a:xfrm>
            <a:off x="8166133" y="5243204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35A033F-CFA6-AC22-BA94-1FB566EB6A9E}"/>
              </a:ext>
            </a:extLst>
          </p:cNvPr>
          <p:cNvSpPr/>
          <p:nvPr/>
        </p:nvSpPr>
        <p:spPr>
          <a:xfrm rot="10800000">
            <a:off x="8113194" y="4055630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5F1A306-2CA3-6694-BA9D-8BC0F25E65FD}"/>
              </a:ext>
            </a:extLst>
          </p:cNvPr>
          <p:cNvSpPr/>
          <p:nvPr/>
        </p:nvSpPr>
        <p:spPr>
          <a:xfrm rot="10800000">
            <a:off x="8113193" y="5321131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4903DA-1DE2-8485-8493-EB50EEE22726}"/>
              </a:ext>
            </a:extLst>
          </p:cNvPr>
          <p:cNvSpPr txBox="1"/>
          <p:nvPr/>
        </p:nvSpPr>
        <p:spPr>
          <a:xfrm>
            <a:off x="6649199" y="5520203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5831811" y="4067785"/>
            <a:ext cx="1009256" cy="3868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20" idx="3"/>
            <a:endCxn id="9" idx="2"/>
          </p:cNvCxnSpPr>
          <p:nvPr/>
        </p:nvCxnSpPr>
        <p:spPr>
          <a:xfrm flipV="1">
            <a:off x="8075494" y="3756567"/>
            <a:ext cx="543452" cy="10092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630050"/>
              </p:ext>
            </p:extLst>
          </p:nvPr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err="1">
                          <a:latin typeface="Monaco" pitchFamily="2" charset="77"/>
                        </a:rPr>
                        <a:t>addr</a:t>
                      </a:r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82226" y="2098675"/>
            <a:ext cx="50829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29000"/>
                </a:solidFill>
              </a:rPr>
              <a:t>Phase 2: Secret Access and Transmit</a:t>
            </a:r>
            <a:endParaRPr lang="en-US" sz="1600" dirty="0">
              <a:solidFill>
                <a:srgbClr val="929000"/>
              </a:solidFill>
            </a:endParaRPr>
          </a:p>
          <a:p>
            <a:pPr algn="ctr"/>
            <a:r>
              <a:rPr lang="en-US" sz="1600" dirty="0"/>
              <a:t>Victim speculatively accesses the secret and transmits the secret to the side-channel (</a:t>
            </a:r>
            <a:r>
              <a:rPr lang="en-US" sz="1600" b="1" dirty="0">
                <a:solidFill>
                  <a:srgbClr val="941651"/>
                </a:solidFill>
              </a:rPr>
              <a:t>the secret is 42</a:t>
            </a:r>
            <a:r>
              <a:rPr lang="en-US" sz="1600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C17FB0-8148-1A03-3641-43B811EAEF8C}"/>
              </a:ext>
            </a:extLst>
          </p:cNvPr>
          <p:cNvSpPr txBox="1"/>
          <p:nvPr/>
        </p:nvSpPr>
        <p:spPr>
          <a:xfrm>
            <a:off x="1442706" y="5443946"/>
            <a:ext cx="2682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Victim Pseudo Assembly Code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49D368-C73F-E11B-0D25-518E7227FE23}"/>
              </a:ext>
            </a:extLst>
          </p:cNvPr>
          <p:cNvSpPr/>
          <p:nvPr/>
        </p:nvSpPr>
        <p:spPr>
          <a:xfrm>
            <a:off x="9130720" y="5313240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C5CAE8-F778-9AD0-385F-31BA8EFA437C}"/>
              </a:ext>
            </a:extLst>
          </p:cNvPr>
          <p:cNvSpPr txBox="1"/>
          <p:nvPr/>
        </p:nvSpPr>
        <p:spPr>
          <a:xfrm>
            <a:off x="9359576" y="5246816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F5B6AF-FF73-BCDE-F777-DC0B8DE08171}"/>
              </a:ext>
            </a:extLst>
          </p:cNvPr>
          <p:cNvSpPr/>
          <p:nvPr/>
        </p:nvSpPr>
        <p:spPr>
          <a:xfrm>
            <a:off x="9130720" y="5586627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EE7C14-EB6F-2D53-E19D-B385AC732463}"/>
              </a:ext>
            </a:extLst>
          </p:cNvPr>
          <p:cNvSpPr txBox="1"/>
          <p:nvPr/>
        </p:nvSpPr>
        <p:spPr>
          <a:xfrm>
            <a:off x="9359576" y="5520203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  <p:graphicFrame>
        <p:nvGraphicFramePr>
          <p:cNvPr id="41" name="Table 35">
            <a:extLst>
              <a:ext uri="{FF2B5EF4-FFF2-40B4-BE49-F238E27FC236}">
                <a16:creationId xmlns:a16="http://schemas.microsoft.com/office/drawing/2014/main" id="{8E392343-72FD-7A95-AC14-F10ADC571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213509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5775A024-4364-ABD1-A23D-0ADC0D0C372E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CCCE31D1-5F02-4FED-511B-C300C1BC443D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EE2C62-5E66-5C00-7CA4-2987AFDE92B2}"/>
              </a:ext>
            </a:extLst>
          </p:cNvPr>
          <p:cNvSpPr txBox="1"/>
          <p:nvPr/>
        </p:nvSpPr>
        <p:spPr>
          <a:xfrm>
            <a:off x="11197932" y="3693333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</p:spTree>
    <p:extLst>
      <p:ext uri="{BB962C8B-B14F-4D97-AF65-F5344CB8AC3E}">
        <p14:creationId xmlns:p14="http://schemas.microsoft.com/office/powerpoint/2010/main" val="3989274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Example: Spectre on </a:t>
            </a:r>
            <a:r>
              <a:rPr lang="en-US" dirty="0" err="1"/>
              <a:t>OoO</a:t>
            </a:r>
            <a:r>
              <a:rPr lang="en-US" dirty="0"/>
              <a:t>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C6ED1-F2AE-C8E7-3896-E51BCAD41917}"/>
              </a:ext>
            </a:extLst>
          </p:cNvPr>
          <p:cNvSpPr txBox="1"/>
          <p:nvPr/>
        </p:nvSpPr>
        <p:spPr>
          <a:xfrm>
            <a:off x="785476" y="4058951"/>
            <a:ext cx="399660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aco" pitchFamily="2" charset="77"/>
              </a:rPr>
              <a:t>victim:</a:t>
            </a:r>
          </a:p>
          <a:p>
            <a:r>
              <a:rPr lang="en-US" sz="1200" dirty="0">
                <a:latin typeface="Monaco" pitchFamily="2" charset="77"/>
              </a:rPr>
              <a:t>     R0 = </a:t>
            </a:r>
            <a:r>
              <a:rPr lang="en-US" sz="1200" dirty="0" err="1">
                <a:latin typeface="Monaco" pitchFamily="2" charset="77"/>
              </a:rPr>
              <a:t>addr</a:t>
            </a:r>
            <a:endParaRPr lang="en-US" sz="1200" dirty="0"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CMP COND, R0, 10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//branch condition</a:t>
            </a:r>
          </a:p>
          <a:p>
            <a:r>
              <a:rPr lang="en-US" sz="1200" dirty="0">
                <a:latin typeface="Monaco" pitchFamily="2" charset="77"/>
              </a:rPr>
              <a:t>     JG  END   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</a:t>
            </a:r>
            <a:r>
              <a:rPr lang="en-US" sz="1200" dirty="0" err="1">
                <a:solidFill>
                  <a:srgbClr val="C00000"/>
                </a:solidFill>
                <a:latin typeface="Monaco" pitchFamily="2" charset="77"/>
              </a:rPr>
              <a:t>mispredicts</a:t>
            </a:r>
            <a:endParaRPr lang="en-US" sz="1200" dirty="0">
              <a:solidFill>
                <a:srgbClr val="C00000"/>
              </a:solidFill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R1 = A[R0]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//accessing the secret</a:t>
            </a:r>
          </a:p>
          <a:p>
            <a:r>
              <a:rPr lang="en-US" sz="1200" dirty="0">
                <a:latin typeface="Monaco" pitchFamily="2" charset="77"/>
              </a:rPr>
              <a:t>     R2 = B[R1]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//transmitting the secret</a:t>
            </a:r>
          </a:p>
          <a:p>
            <a:r>
              <a:rPr lang="en-US" sz="1200" dirty="0">
                <a:latin typeface="Monaco" pitchFamily="2" charset="77"/>
              </a:rPr>
              <a:t>END: RET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AA7F8627-A1AA-F749-C4F5-069F4C947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597278"/>
              </p:ext>
            </p:extLst>
          </p:nvPr>
        </p:nvGraphicFramePr>
        <p:xfrm>
          <a:off x="6529849" y="4011443"/>
          <a:ext cx="1545645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645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R0 = </a:t>
                      </a:r>
                      <a:r>
                        <a:rPr lang="en-US" sz="1050" b="0" dirty="0" err="1">
                          <a:latin typeface="Monaco" pitchFamily="2" charset="77"/>
                        </a:rPr>
                        <a:t>addr</a:t>
                      </a:r>
                      <a:endParaRPr lang="en-US" sz="1050" b="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onaco" pitchFamily="2" charset="77"/>
                        </a:rPr>
                        <a:t>CMP COND, R0,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JG 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658652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 = A[R0]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 = B[R1]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561359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4694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8AE7828-CB62-696E-6E78-1D45B937BF65}"/>
              </a:ext>
            </a:extLst>
          </p:cNvPr>
          <p:cNvSpPr txBox="1"/>
          <p:nvPr/>
        </p:nvSpPr>
        <p:spPr>
          <a:xfrm>
            <a:off x="8166133" y="3989321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9F7D5-0E05-1E17-C13A-33F0D3BC0990}"/>
              </a:ext>
            </a:extLst>
          </p:cNvPr>
          <p:cNvSpPr txBox="1"/>
          <p:nvPr/>
        </p:nvSpPr>
        <p:spPr>
          <a:xfrm>
            <a:off x="8166133" y="5243204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35A033F-CFA6-AC22-BA94-1FB566EB6A9E}"/>
              </a:ext>
            </a:extLst>
          </p:cNvPr>
          <p:cNvSpPr/>
          <p:nvPr/>
        </p:nvSpPr>
        <p:spPr>
          <a:xfrm rot="10800000">
            <a:off x="8113194" y="4055630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5F1A306-2CA3-6694-BA9D-8BC0F25E65FD}"/>
              </a:ext>
            </a:extLst>
          </p:cNvPr>
          <p:cNvSpPr/>
          <p:nvPr/>
        </p:nvSpPr>
        <p:spPr>
          <a:xfrm rot="10800000">
            <a:off x="8113193" y="5321131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4903DA-1DE2-8485-8493-EB50EEE22726}"/>
              </a:ext>
            </a:extLst>
          </p:cNvPr>
          <p:cNvSpPr txBox="1"/>
          <p:nvPr/>
        </p:nvSpPr>
        <p:spPr>
          <a:xfrm>
            <a:off x="6649199" y="5520203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5831811" y="4067785"/>
            <a:ext cx="1009256" cy="3868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20" idx="3"/>
            <a:endCxn id="9" idx="2"/>
          </p:cNvCxnSpPr>
          <p:nvPr/>
        </p:nvCxnSpPr>
        <p:spPr>
          <a:xfrm flipV="1">
            <a:off x="8075494" y="3756567"/>
            <a:ext cx="543452" cy="10092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99679"/>
              </p:ext>
            </p:extLst>
          </p:nvPr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>
                          <a:latin typeface="Monaco" pitchFamily="2" charset="77"/>
                        </a:rPr>
                        <a:t>addr</a:t>
                      </a:r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Monac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82226" y="2098675"/>
            <a:ext cx="50829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29000"/>
                </a:solidFill>
              </a:rPr>
              <a:t>Phase 2: Secret Access and Transmit</a:t>
            </a:r>
            <a:endParaRPr lang="en-US" sz="1600" dirty="0">
              <a:solidFill>
                <a:srgbClr val="929000"/>
              </a:solidFill>
            </a:endParaRPr>
          </a:p>
          <a:p>
            <a:pPr algn="ctr"/>
            <a:r>
              <a:rPr lang="en-US" sz="1600" dirty="0"/>
              <a:t>Victim speculatively accesses the secret and transmits the secret to the side-channel (</a:t>
            </a:r>
            <a:r>
              <a:rPr lang="en-US" sz="1600" b="1" dirty="0">
                <a:solidFill>
                  <a:srgbClr val="941651"/>
                </a:solidFill>
              </a:rPr>
              <a:t>the secret is 42</a:t>
            </a:r>
            <a:r>
              <a:rPr lang="en-US" sz="1600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C17FB0-8148-1A03-3641-43B811EAEF8C}"/>
              </a:ext>
            </a:extLst>
          </p:cNvPr>
          <p:cNvSpPr txBox="1"/>
          <p:nvPr/>
        </p:nvSpPr>
        <p:spPr>
          <a:xfrm>
            <a:off x="1442706" y="5443946"/>
            <a:ext cx="2682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Victim Pseudo Assembly Code</a:t>
            </a:r>
          </a:p>
        </p:txBody>
      </p: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AB6BBC58-43FC-702C-312B-7538706ED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50580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A887319-70C2-83E5-C728-A2269B2483C7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B535BE11-001A-6A5F-6057-7013C309E05D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034152-D601-D33D-AF02-7C77FD572A44}"/>
              </a:ext>
            </a:extLst>
          </p:cNvPr>
          <p:cNvSpPr txBox="1"/>
          <p:nvPr/>
        </p:nvSpPr>
        <p:spPr>
          <a:xfrm>
            <a:off x="11197932" y="3693333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090DCC-793D-B79B-93C5-1DD2F0FE6DFD}"/>
              </a:ext>
            </a:extLst>
          </p:cNvPr>
          <p:cNvSpPr/>
          <p:nvPr/>
        </p:nvSpPr>
        <p:spPr>
          <a:xfrm>
            <a:off x="9130720" y="5313240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A87A00-64AC-7405-55DC-4220D4778A1D}"/>
              </a:ext>
            </a:extLst>
          </p:cNvPr>
          <p:cNvSpPr txBox="1"/>
          <p:nvPr/>
        </p:nvSpPr>
        <p:spPr>
          <a:xfrm>
            <a:off x="9359576" y="5246816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0E456B-D16F-043E-8F6B-FA7D14793D9E}"/>
              </a:ext>
            </a:extLst>
          </p:cNvPr>
          <p:cNvSpPr/>
          <p:nvPr/>
        </p:nvSpPr>
        <p:spPr>
          <a:xfrm>
            <a:off x="9130720" y="5586627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32454D-0E0A-E8BC-C69B-432FFFE189D9}"/>
              </a:ext>
            </a:extLst>
          </p:cNvPr>
          <p:cNvSpPr txBox="1"/>
          <p:nvPr/>
        </p:nvSpPr>
        <p:spPr>
          <a:xfrm>
            <a:off x="9359576" y="5520203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</p:spTree>
    <p:extLst>
      <p:ext uri="{BB962C8B-B14F-4D97-AF65-F5344CB8AC3E}">
        <p14:creationId xmlns:p14="http://schemas.microsoft.com/office/powerpoint/2010/main" val="206517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Example: Spectre on </a:t>
            </a:r>
            <a:r>
              <a:rPr lang="en-US" dirty="0" err="1"/>
              <a:t>OoO</a:t>
            </a:r>
            <a:r>
              <a:rPr lang="en-US" dirty="0"/>
              <a:t>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C6ED1-F2AE-C8E7-3896-E51BCAD41917}"/>
              </a:ext>
            </a:extLst>
          </p:cNvPr>
          <p:cNvSpPr txBox="1"/>
          <p:nvPr/>
        </p:nvSpPr>
        <p:spPr>
          <a:xfrm>
            <a:off x="785476" y="4058951"/>
            <a:ext cx="399660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aco" pitchFamily="2" charset="77"/>
              </a:rPr>
              <a:t>victim:</a:t>
            </a:r>
          </a:p>
          <a:p>
            <a:r>
              <a:rPr lang="en-US" sz="1200" dirty="0">
                <a:latin typeface="Monaco" pitchFamily="2" charset="77"/>
              </a:rPr>
              <a:t>     R0 = </a:t>
            </a:r>
            <a:r>
              <a:rPr lang="en-US" sz="1200" dirty="0" err="1">
                <a:latin typeface="Monaco" pitchFamily="2" charset="77"/>
              </a:rPr>
              <a:t>addr</a:t>
            </a:r>
            <a:endParaRPr lang="en-US" sz="1200" dirty="0"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CMP COND, R0, 10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//branch condition</a:t>
            </a:r>
          </a:p>
          <a:p>
            <a:r>
              <a:rPr lang="en-US" sz="1200" dirty="0">
                <a:latin typeface="Monaco" pitchFamily="2" charset="77"/>
              </a:rPr>
              <a:t>     JG  END   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</a:t>
            </a:r>
            <a:r>
              <a:rPr lang="en-US" sz="1200" dirty="0" err="1">
                <a:solidFill>
                  <a:srgbClr val="C00000"/>
                </a:solidFill>
                <a:latin typeface="Monaco" pitchFamily="2" charset="77"/>
              </a:rPr>
              <a:t>mispredicts</a:t>
            </a:r>
            <a:endParaRPr lang="en-US" sz="1200" dirty="0">
              <a:solidFill>
                <a:srgbClr val="C00000"/>
              </a:solidFill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R1 = A[R0]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//accessing the secret</a:t>
            </a:r>
          </a:p>
          <a:p>
            <a:r>
              <a:rPr lang="en-US" sz="1200" dirty="0">
                <a:latin typeface="Monaco" pitchFamily="2" charset="77"/>
              </a:rPr>
              <a:t>     R2 = B[R1]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//transmitting the secret</a:t>
            </a:r>
          </a:p>
          <a:p>
            <a:r>
              <a:rPr lang="en-US" sz="1200" dirty="0">
                <a:latin typeface="Monaco" pitchFamily="2" charset="77"/>
              </a:rPr>
              <a:t>END: RET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AA7F8627-A1AA-F749-C4F5-069F4C947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687454"/>
              </p:ext>
            </p:extLst>
          </p:nvPr>
        </p:nvGraphicFramePr>
        <p:xfrm>
          <a:off x="6529849" y="4011443"/>
          <a:ext cx="1545645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645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R0 = </a:t>
                      </a:r>
                      <a:r>
                        <a:rPr lang="en-US" sz="1050" b="0" dirty="0" err="1">
                          <a:latin typeface="Monaco" pitchFamily="2" charset="77"/>
                        </a:rPr>
                        <a:t>addr</a:t>
                      </a:r>
                      <a:endParaRPr lang="en-US" sz="1050" b="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CMP COND, R0,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Monaco" pitchFamily="2" charset="77"/>
                        </a:rPr>
                        <a:t>JG 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658652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 = A[R0]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 = B[R1]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561359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4694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8AE7828-CB62-696E-6E78-1D45B937BF65}"/>
              </a:ext>
            </a:extLst>
          </p:cNvPr>
          <p:cNvSpPr txBox="1"/>
          <p:nvPr/>
        </p:nvSpPr>
        <p:spPr>
          <a:xfrm>
            <a:off x="8166133" y="3989321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9F7D5-0E05-1E17-C13A-33F0D3BC0990}"/>
              </a:ext>
            </a:extLst>
          </p:cNvPr>
          <p:cNvSpPr txBox="1"/>
          <p:nvPr/>
        </p:nvSpPr>
        <p:spPr>
          <a:xfrm>
            <a:off x="8166133" y="5243204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35A033F-CFA6-AC22-BA94-1FB566EB6A9E}"/>
              </a:ext>
            </a:extLst>
          </p:cNvPr>
          <p:cNvSpPr/>
          <p:nvPr/>
        </p:nvSpPr>
        <p:spPr>
          <a:xfrm rot="10800000">
            <a:off x="8113194" y="4055630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5F1A306-2CA3-6694-BA9D-8BC0F25E65FD}"/>
              </a:ext>
            </a:extLst>
          </p:cNvPr>
          <p:cNvSpPr/>
          <p:nvPr/>
        </p:nvSpPr>
        <p:spPr>
          <a:xfrm rot="10800000">
            <a:off x="8113193" y="5321131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4903DA-1DE2-8485-8493-EB50EEE22726}"/>
              </a:ext>
            </a:extLst>
          </p:cNvPr>
          <p:cNvSpPr txBox="1"/>
          <p:nvPr/>
        </p:nvSpPr>
        <p:spPr>
          <a:xfrm>
            <a:off x="6649199" y="5520203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5831811" y="4067785"/>
            <a:ext cx="1009256" cy="3868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20" idx="3"/>
            <a:endCxn id="9" idx="2"/>
          </p:cNvCxnSpPr>
          <p:nvPr/>
        </p:nvCxnSpPr>
        <p:spPr>
          <a:xfrm flipV="1">
            <a:off x="8075494" y="3756567"/>
            <a:ext cx="543452" cy="10092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/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>
                          <a:latin typeface="Monaco" pitchFamily="2" charset="77"/>
                        </a:rPr>
                        <a:t>addr</a:t>
                      </a:r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Monac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82226" y="2098675"/>
            <a:ext cx="50829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29000"/>
                </a:solidFill>
              </a:rPr>
              <a:t>Phase 2: Secret Access and Transmit</a:t>
            </a:r>
            <a:endParaRPr lang="en-US" sz="1600" dirty="0">
              <a:solidFill>
                <a:srgbClr val="929000"/>
              </a:solidFill>
            </a:endParaRPr>
          </a:p>
          <a:p>
            <a:pPr algn="ctr"/>
            <a:r>
              <a:rPr lang="en-US" sz="1600" dirty="0"/>
              <a:t>Victim speculatively accesses the secret and transmits the secret to the side-channel (</a:t>
            </a:r>
            <a:r>
              <a:rPr lang="en-US" sz="1600" b="1" dirty="0">
                <a:solidFill>
                  <a:srgbClr val="941651"/>
                </a:solidFill>
              </a:rPr>
              <a:t>the secret is 42</a:t>
            </a:r>
            <a:r>
              <a:rPr lang="en-US" sz="1600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C17FB0-8148-1A03-3641-43B811EAEF8C}"/>
              </a:ext>
            </a:extLst>
          </p:cNvPr>
          <p:cNvSpPr txBox="1"/>
          <p:nvPr/>
        </p:nvSpPr>
        <p:spPr>
          <a:xfrm>
            <a:off x="1442706" y="5443946"/>
            <a:ext cx="2682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Victim Pseudo Assembly Code</a:t>
            </a:r>
          </a:p>
        </p:txBody>
      </p: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A1EFC63F-80D9-B709-DAAF-CE830D1D0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228002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E3EEB359-718C-8A9E-AA55-88CED33E8B3F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4933CFEE-1520-42F9-5287-7E6788B0FE5E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97A008-BB4A-D012-2E98-99575B100DF4}"/>
              </a:ext>
            </a:extLst>
          </p:cNvPr>
          <p:cNvSpPr txBox="1"/>
          <p:nvPr/>
        </p:nvSpPr>
        <p:spPr>
          <a:xfrm>
            <a:off x="11197932" y="3693333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085718-5BB4-8DF5-F3C9-68201B74BEDC}"/>
              </a:ext>
            </a:extLst>
          </p:cNvPr>
          <p:cNvSpPr/>
          <p:nvPr/>
        </p:nvSpPr>
        <p:spPr>
          <a:xfrm>
            <a:off x="9130720" y="5313240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A015B8-B529-FD97-A80F-1B28DEAEF789}"/>
              </a:ext>
            </a:extLst>
          </p:cNvPr>
          <p:cNvSpPr txBox="1"/>
          <p:nvPr/>
        </p:nvSpPr>
        <p:spPr>
          <a:xfrm>
            <a:off x="9359576" y="5246816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6AD24B-6551-6C00-FA11-39C19B0319C4}"/>
              </a:ext>
            </a:extLst>
          </p:cNvPr>
          <p:cNvSpPr/>
          <p:nvPr/>
        </p:nvSpPr>
        <p:spPr>
          <a:xfrm>
            <a:off x="9130720" y="5586627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D5F96E-9461-E617-ACED-1F524C1E4BD6}"/>
              </a:ext>
            </a:extLst>
          </p:cNvPr>
          <p:cNvSpPr txBox="1"/>
          <p:nvPr/>
        </p:nvSpPr>
        <p:spPr>
          <a:xfrm>
            <a:off x="9359576" y="5520203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</p:spTree>
    <p:extLst>
      <p:ext uri="{BB962C8B-B14F-4D97-AF65-F5344CB8AC3E}">
        <p14:creationId xmlns:p14="http://schemas.microsoft.com/office/powerpoint/2010/main" val="43526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Example: Spectre on </a:t>
            </a:r>
            <a:r>
              <a:rPr lang="en-US" dirty="0" err="1"/>
              <a:t>OoO</a:t>
            </a:r>
            <a:r>
              <a:rPr lang="en-US" dirty="0"/>
              <a:t>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C6ED1-F2AE-C8E7-3896-E51BCAD41917}"/>
              </a:ext>
            </a:extLst>
          </p:cNvPr>
          <p:cNvSpPr txBox="1"/>
          <p:nvPr/>
        </p:nvSpPr>
        <p:spPr>
          <a:xfrm>
            <a:off x="785476" y="4058951"/>
            <a:ext cx="399660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aco" pitchFamily="2" charset="77"/>
              </a:rPr>
              <a:t>victim:</a:t>
            </a:r>
          </a:p>
          <a:p>
            <a:r>
              <a:rPr lang="en-US" sz="1200" dirty="0">
                <a:latin typeface="Monaco" pitchFamily="2" charset="77"/>
              </a:rPr>
              <a:t>     R0 = </a:t>
            </a:r>
            <a:r>
              <a:rPr lang="en-US" sz="1200" dirty="0" err="1">
                <a:latin typeface="Monaco" pitchFamily="2" charset="77"/>
              </a:rPr>
              <a:t>addr</a:t>
            </a:r>
            <a:endParaRPr lang="en-US" sz="1200" dirty="0"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CMP COND, R0, 10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//branch condition</a:t>
            </a:r>
          </a:p>
          <a:p>
            <a:r>
              <a:rPr lang="en-US" sz="1200" dirty="0">
                <a:latin typeface="Monaco" pitchFamily="2" charset="77"/>
              </a:rPr>
              <a:t>     JG  END   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</a:t>
            </a:r>
            <a:r>
              <a:rPr lang="en-US" sz="1200" dirty="0" err="1">
                <a:solidFill>
                  <a:srgbClr val="C00000"/>
                </a:solidFill>
                <a:latin typeface="Monaco" pitchFamily="2" charset="77"/>
              </a:rPr>
              <a:t>mispredicts</a:t>
            </a:r>
            <a:endParaRPr lang="en-US" sz="1200" dirty="0">
              <a:solidFill>
                <a:srgbClr val="C00000"/>
              </a:solidFill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R1 = A[R0]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//accessing the secret</a:t>
            </a:r>
          </a:p>
          <a:p>
            <a:r>
              <a:rPr lang="en-US" sz="1200" dirty="0">
                <a:latin typeface="Monaco" pitchFamily="2" charset="77"/>
              </a:rPr>
              <a:t>     R2 = B[R1]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//transmitting the secret</a:t>
            </a:r>
          </a:p>
          <a:p>
            <a:r>
              <a:rPr lang="en-US" sz="1200" dirty="0">
                <a:latin typeface="Monaco" pitchFamily="2" charset="77"/>
              </a:rPr>
              <a:t>END: RET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AA7F8627-A1AA-F749-C4F5-069F4C947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906347"/>
              </p:ext>
            </p:extLst>
          </p:nvPr>
        </p:nvGraphicFramePr>
        <p:xfrm>
          <a:off x="6529849" y="4011443"/>
          <a:ext cx="1545645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645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R0 = </a:t>
                      </a:r>
                      <a:r>
                        <a:rPr lang="en-US" sz="1050" b="0" dirty="0" err="1">
                          <a:latin typeface="Monaco" pitchFamily="2" charset="77"/>
                        </a:rPr>
                        <a:t>addr</a:t>
                      </a:r>
                      <a:endParaRPr lang="en-US" sz="1050" b="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CMP COND, R0,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JG 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658652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Monaco" pitchFamily="2" charset="77"/>
                        </a:rPr>
                        <a:t>R1 = A[R0]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 = B[R1]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561359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4694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8AE7828-CB62-696E-6E78-1D45B937BF65}"/>
              </a:ext>
            </a:extLst>
          </p:cNvPr>
          <p:cNvSpPr txBox="1"/>
          <p:nvPr/>
        </p:nvSpPr>
        <p:spPr>
          <a:xfrm>
            <a:off x="8166133" y="3989321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9F7D5-0E05-1E17-C13A-33F0D3BC0990}"/>
              </a:ext>
            </a:extLst>
          </p:cNvPr>
          <p:cNvSpPr txBox="1"/>
          <p:nvPr/>
        </p:nvSpPr>
        <p:spPr>
          <a:xfrm>
            <a:off x="8166133" y="5243204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35A033F-CFA6-AC22-BA94-1FB566EB6A9E}"/>
              </a:ext>
            </a:extLst>
          </p:cNvPr>
          <p:cNvSpPr/>
          <p:nvPr/>
        </p:nvSpPr>
        <p:spPr>
          <a:xfrm rot="10800000">
            <a:off x="8113194" y="4055630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5F1A306-2CA3-6694-BA9D-8BC0F25E65FD}"/>
              </a:ext>
            </a:extLst>
          </p:cNvPr>
          <p:cNvSpPr/>
          <p:nvPr/>
        </p:nvSpPr>
        <p:spPr>
          <a:xfrm rot="10800000">
            <a:off x="8113193" y="5321131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4903DA-1DE2-8485-8493-EB50EEE22726}"/>
              </a:ext>
            </a:extLst>
          </p:cNvPr>
          <p:cNvSpPr txBox="1"/>
          <p:nvPr/>
        </p:nvSpPr>
        <p:spPr>
          <a:xfrm>
            <a:off x="6649199" y="5520203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5831811" y="4067785"/>
            <a:ext cx="1009256" cy="3868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20" idx="3"/>
            <a:endCxn id="9" idx="2"/>
          </p:cNvCxnSpPr>
          <p:nvPr/>
        </p:nvCxnSpPr>
        <p:spPr>
          <a:xfrm flipV="1">
            <a:off x="8075494" y="3756567"/>
            <a:ext cx="543452" cy="10092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176278"/>
              </p:ext>
            </p:extLst>
          </p:nvPr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>
                          <a:latin typeface="Monaco" pitchFamily="2" charset="77"/>
                        </a:rPr>
                        <a:t>addr</a:t>
                      </a:r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C00000"/>
                          </a:solidFill>
                          <a:latin typeface="Monaco" pitchFamily="2" charset="77"/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Monac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82226" y="2098675"/>
            <a:ext cx="50829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29000"/>
                </a:solidFill>
              </a:rPr>
              <a:t>Phase 2: Secret Access and Transmit</a:t>
            </a:r>
            <a:endParaRPr lang="en-US" sz="1600" dirty="0">
              <a:solidFill>
                <a:srgbClr val="929000"/>
              </a:solidFill>
            </a:endParaRPr>
          </a:p>
          <a:p>
            <a:pPr algn="ctr"/>
            <a:r>
              <a:rPr lang="en-US" sz="1600" dirty="0"/>
              <a:t>Victim speculatively accesses the secret and transmits the secret to the side-channel (</a:t>
            </a:r>
            <a:r>
              <a:rPr lang="en-US" sz="1600" b="1" dirty="0">
                <a:solidFill>
                  <a:srgbClr val="941651"/>
                </a:solidFill>
              </a:rPr>
              <a:t>the secret is 42</a:t>
            </a:r>
            <a:r>
              <a:rPr lang="en-US" sz="1600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C17FB0-8148-1A03-3641-43B811EAEF8C}"/>
              </a:ext>
            </a:extLst>
          </p:cNvPr>
          <p:cNvSpPr txBox="1"/>
          <p:nvPr/>
        </p:nvSpPr>
        <p:spPr>
          <a:xfrm>
            <a:off x="1442706" y="5443946"/>
            <a:ext cx="2682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Victim Pseudo Assembly Code</a:t>
            </a:r>
          </a:p>
        </p:txBody>
      </p: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9E6AC3CC-E333-029B-21AC-E5EB411A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812330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32EC7E9-4CD8-3F6E-7247-1193C928ECB0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0C259BF2-0D07-1569-E57A-90076A94C36C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D80BF7-71E7-B685-FBD9-93FFFB3BBB0E}"/>
              </a:ext>
            </a:extLst>
          </p:cNvPr>
          <p:cNvSpPr txBox="1"/>
          <p:nvPr/>
        </p:nvSpPr>
        <p:spPr>
          <a:xfrm>
            <a:off x="11206620" y="3693333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DE51CA-AE0F-9831-463E-A97FE443CDE2}"/>
              </a:ext>
            </a:extLst>
          </p:cNvPr>
          <p:cNvSpPr/>
          <p:nvPr/>
        </p:nvSpPr>
        <p:spPr>
          <a:xfrm>
            <a:off x="9130720" y="5313240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584750-AAF8-FAED-B622-1ED391C4648A}"/>
              </a:ext>
            </a:extLst>
          </p:cNvPr>
          <p:cNvSpPr txBox="1"/>
          <p:nvPr/>
        </p:nvSpPr>
        <p:spPr>
          <a:xfrm>
            <a:off x="9359576" y="5246816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C534D9-914F-F907-BAF2-E11FF336E188}"/>
              </a:ext>
            </a:extLst>
          </p:cNvPr>
          <p:cNvSpPr/>
          <p:nvPr/>
        </p:nvSpPr>
        <p:spPr>
          <a:xfrm>
            <a:off x="9130720" y="5586627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43478F-1155-5A00-CBF8-1D4F9498BA33}"/>
              </a:ext>
            </a:extLst>
          </p:cNvPr>
          <p:cNvSpPr txBox="1"/>
          <p:nvPr/>
        </p:nvSpPr>
        <p:spPr>
          <a:xfrm>
            <a:off x="9359576" y="5520203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</p:spTree>
    <p:extLst>
      <p:ext uri="{BB962C8B-B14F-4D97-AF65-F5344CB8AC3E}">
        <p14:creationId xmlns:p14="http://schemas.microsoft.com/office/powerpoint/2010/main" val="3223083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Example: Spectre on </a:t>
            </a:r>
            <a:r>
              <a:rPr lang="en-US" dirty="0" err="1"/>
              <a:t>OoO</a:t>
            </a:r>
            <a:r>
              <a:rPr lang="en-US" dirty="0"/>
              <a:t>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C6ED1-F2AE-C8E7-3896-E51BCAD41917}"/>
              </a:ext>
            </a:extLst>
          </p:cNvPr>
          <p:cNvSpPr txBox="1"/>
          <p:nvPr/>
        </p:nvSpPr>
        <p:spPr>
          <a:xfrm>
            <a:off x="785476" y="4058951"/>
            <a:ext cx="399660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aco" pitchFamily="2" charset="77"/>
              </a:rPr>
              <a:t>victim:</a:t>
            </a:r>
          </a:p>
          <a:p>
            <a:r>
              <a:rPr lang="en-US" sz="1200" dirty="0">
                <a:latin typeface="Monaco" pitchFamily="2" charset="77"/>
              </a:rPr>
              <a:t>     R0 = </a:t>
            </a:r>
            <a:r>
              <a:rPr lang="en-US" sz="1200" dirty="0" err="1">
                <a:latin typeface="Monaco" pitchFamily="2" charset="77"/>
              </a:rPr>
              <a:t>addr</a:t>
            </a:r>
            <a:endParaRPr lang="en-US" sz="1200" dirty="0"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CMP COND, R0, 10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//branch condition</a:t>
            </a:r>
          </a:p>
          <a:p>
            <a:r>
              <a:rPr lang="en-US" sz="1200" dirty="0">
                <a:latin typeface="Monaco" pitchFamily="2" charset="77"/>
              </a:rPr>
              <a:t>     JG  END   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</a:t>
            </a:r>
            <a:r>
              <a:rPr lang="en-US" sz="1200" dirty="0" err="1">
                <a:solidFill>
                  <a:srgbClr val="C00000"/>
                </a:solidFill>
                <a:latin typeface="Monaco" pitchFamily="2" charset="77"/>
              </a:rPr>
              <a:t>mispredicts</a:t>
            </a:r>
            <a:endParaRPr lang="en-US" sz="1200" dirty="0">
              <a:solidFill>
                <a:srgbClr val="C00000"/>
              </a:solidFill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R1 = A[R0]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//accessing the secret</a:t>
            </a:r>
          </a:p>
          <a:p>
            <a:r>
              <a:rPr lang="en-US" sz="1200" dirty="0">
                <a:latin typeface="Monaco" pitchFamily="2" charset="77"/>
              </a:rPr>
              <a:t>     R2 = B[R1]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//transmitting the secret</a:t>
            </a:r>
          </a:p>
          <a:p>
            <a:r>
              <a:rPr lang="en-US" sz="1200" dirty="0">
                <a:latin typeface="Monaco" pitchFamily="2" charset="77"/>
              </a:rPr>
              <a:t>END: RET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AA7F8627-A1AA-F749-C4F5-069F4C947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171696"/>
              </p:ext>
            </p:extLst>
          </p:nvPr>
        </p:nvGraphicFramePr>
        <p:xfrm>
          <a:off x="6529849" y="4011443"/>
          <a:ext cx="1545645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645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R0 = </a:t>
                      </a:r>
                      <a:r>
                        <a:rPr lang="en-US" sz="1050" b="0" dirty="0" err="1">
                          <a:latin typeface="Monaco" pitchFamily="2" charset="77"/>
                        </a:rPr>
                        <a:t>addr</a:t>
                      </a:r>
                      <a:endParaRPr lang="en-US" sz="1050" b="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CMP COND, R0,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JG 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658652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R1 = A[R0]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Monaco" pitchFamily="2" charset="77"/>
                        </a:rPr>
                        <a:t>R2 = B[R1]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61359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4694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8AE7828-CB62-696E-6E78-1D45B937BF65}"/>
              </a:ext>
            </a:extLst>
          </p:cNvPr>
          <p:cNvSpPr txBox="1"/>
          <p:nvPr/>
        </p:nvSpPr>
        <p:spPr>
          <a:xfrm>
            <a:off x="8166133" y="3989321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9F7D5-0E05-1E17-C13A-33F0D3BC0990}"/>
              </a:ext>
            </a:extLst>
          </p:cNvPr>
          <p:cNvSpPr txBox="1"/>
          <p:nvPr/>
        </p:nvSpPr>
        <p:spPr>
          <a:xfrm>
            <a:off x="8166133" y="5243204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35A033F-CFA6-AC22-BA94-1FB566EB6A9E}"/>
              </a:ext>
            </a:extLst>
          </p:cNvPr>
          <p:cNvSpPr/>
          <p:nvPr/>
        </p:nvSpPr>
        <p:spPr>
          <a:xfrm rot="10800000">
            <a:off x="8113194" y="4055630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5F1A306-2CA3-6694-BA9D-8BC0F25E65FD}"/>
              </a:ext>
            </a:extLst>
          </p:cNvPr>
          <p:cNvSpPr/>
          <p:nvPr/>
        </p:nvSpPr>
        <p:spPr>
          <a:xfrm rot="10800000">
            <a:off x="8113193" y="5321131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4903DA-1DE2-8485-8493-EB50EEE22726}"/>
              </a:ext>
            </a:extLst>
          </p:cNvPr>
          <p:cNvSpPr txBox="1"/>
          <p:nvPr/>
        </p:nvSpPr>
        <p:spPr>
          <a:xfrm>
            <a:off x="6649199" y="5520203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5831811" y="4067785"/>
            <a:ext cx="1009256" cy="3868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20" idx="3"/>
            <a:endCxn id="9" idx="2"/>
          </p:cNvCxnSpPr>
          <p:nvPr/>
        </p:nvCxnSpPr>
        <p:spPr>
          <a:xfrm flipV="1">
            <a:off x="8075494" y="3756567"/>
            <a:ext cx="543452" cy="10092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452353"/>
              </p:ext>
            </p:extLst>
          </p:nvPr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>
                          <a:latin typeface="Monaco" pitchFamily="2" charset="77"/>
                        </a:rPr>
                        <a:t>addr</a:t>
                      </a:r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C00000"/>
                          </a:solidFill>
                          <a:latin typeface="Monaco" pitchFamily="2" charset="77"/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C00000"/>
                          </a:solidFill>
                          <a:latin typeface="Monac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Monac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82226" y="2098675"/>
            <a:ext cx="50829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29000"/>
                </a:solidFill>
              </a:rPr>
              <a:t>Phase 2: Secret Access and Transmit</a:t>
            </a:r>
            <a:endParaRPr lang="en-US" sz="1600" dirty="0">
              <a:solidFill>
                <a:srgbClr val="929000"/>
              </a:solidFill>
            </a:endParaRPr>
          </a:p>
          <a:p>
            <a:pPr algn="ctr"/>
            <a:r>
              <a:rPr lang="en-US" sz="1600" dirty="0"/>
              <a:t>Victim speculatively accesses the secret and transmits the secret to the side-channel (</a:t>
            </a:r>
            <a:r>
              <a:rPr lang="en-US" sz="1600" b="1" dirty="0">
                <a:solidFill>
                  <a:srgbClr val="941651"/>
                </a:solidFill>
              </a:rPr>
              <a:t>the secret is 42</a:t>
            </a:r>
            <a:r>
              <a:rPr lang="en-US" sz="1600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C17FB0-8148-1A03-3641-43B811EAEF8C}"/>
              </a:ext>
            </a:extLst>
          </p:cNvPr>
          <p:cNvSpPr txBox="1"/>
          <p:nvPr/>
        </p:nvSpPr>
        <p:spPr>
          <a:xfrm>
            <a:off x="1442706" y="5443946"/>
            <a:ext cx="2682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Victim Pseudo Assembly Code</a:t>
            </a:r>
          </a:p>
        </p:txBody>
      </p: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9E6AC3CC-E333-029B-21AC-E5EB411A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617269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Accessed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32EC7E9-4CD8-3F6E-7247-1193C928ECB0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0C259BF2-0D07-1569-E57A-90076A94C36C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D80BF7-71E7-B685-FBD9-93FFFB3BBB0E}"/>
              </a:ext>
            </a:extLst>
          </p:cNvPr>
          <p:cNvSpPr txBox="1"/>
          <p:nvPr/>
        </p:nvSpPr>
        <p:spPr>
          <a:xfrm>
            <a:off x="11206620" y="3693333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DE51CA-AE0F-9831-463E-A97FE443CDE2}"/>
              </a:ext>
            </a:extLst>
          </p:cNvPr>
          <p:cNvSpPr/>
          <p:nvPr/>
        </p:nvSpPr>
        <p:spPr>
          <a:xfrm>
            <a:off x="9130720" y="5313240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584750-AAF8-FAED-B622-1ED391C4648A}"/>
              </a:ext>
            </a:extLst>
          </p:cNvPr>
          <p:cNvSpPr txBox="1"/>
          <p:nvPr/>
        </p:nvSpPr>
        <p:spPr>
          <a:xfrm>
            <a:off x="9359576" y="5246816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C534D9-914F-F907-BAF2-E11FF336E188}"/>
              </a:ext>
            </a:extLst>
          </p:cNvPr>
          <p:cNvSpPr/>
          <p:nvPr/>
        </p:nvSpPr>
        <p:spPr>
          <a:xfrm>
            <a:off x="9130720" y="5586627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43478F-1155-5A00-CBF8-1D4F9498BA33}"/>
              </a:ext>
            </a:extLst>
          </p:cNvPr>
          <p:cNvSpPr txBox="1"/>
          <p:nvPr/>
        </p:nvSpPr>
        <p:spPr>
          <a:xfrm>
            <a:off x="9359576" y="5520203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</p:spTree>
    <p:extLst>
      <p:ext uri="{BB962C8B-B14F-4D97-AF65-F5344CB8AC3E}">
        <p14:creationId xmlns:p14="http://schemas.microsoft.com/office/powerpoint/2010/main" val="2810617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Example: Spectre on </a:t>
            </a:r>
            <a:r>
              <a:rPr lang="en-US" dirty="0" err="1"/>
              <a:t>OoO</a:t>
            </a:r>
            <a:r>
              <a:rPr lang="en-US" dirty="0"/>
              <a:t>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C6ED1-F2AE-C8E7-3896-E51BCAD41917}"/>
              </a:ext>
            </a:extLst>
          </p:cNvPr>
          <p:cNvSpPr txBox="1"/>
          <p:nvPr/>
        </p:nvSpPr>
        <p:spPr>
          <a:xfrm>
            <a:off x="785476" y="4058951"/>
            <a:ext cx="399660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aco" pitchFamily="2" charset="77"/>
              </a:rPr>
              <a:t>victim:</a:t>
            </a:r>
          </a:p>
          <a:p>
            <a:r>
              <a:rPr lang="en-US" sz="1200" dirty="0">
                <a:latin typeface="Monaco" pitchFamily="2" charset="77"/>
              </a:rPr>
              <a:t>     R0 = </a:t>
            </a:r>
            <a:r>
              <a:rPr lang="en-US" sz="1200" dirty="0" err="1">
                <a:latin typeface="Monaco" pitchFamily="2" charset="77"/>
              </a:rPr>
              <a:t>addr</a:t>
            </a:r>
            <a:endParaRPr lang="en-US" sz="1200" dirty="0"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CMP COND, R0, 10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//branch condition</a:t>
            </a:r>
          </a:p>
          <a:p>
            <a:r>
              <a:rPr lang="en-US" sz="1200" dirty="0">
                <a:latin typeface="Monaco" pitchFamily="2" charset="77"/>
              </a:rPr>
              <a:t>     JG  END   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</a:t>
            </a:r>
            <a:r>
              <a:rPr lang="en-US" sz="1200" dirty="0" err="1">
                <a:solidFill>
                  <a:srgbClr val="C00000"/>
                </a:solidFill>
                <a:latin typeface="Monaco" pitchFamily="2" charset="77"/>
              </a:rPr>
              <a:t>mispredicts</a:t>
            </a:r>
            <a:endParaRPr lang="en-US" sz="1200" dirty="0">
              <a:solidFill>
                <a:srgbClr val="C00000"/>
              </a:solidFill>
              <a:latin typeface="Monaco" pitchFamily="2" charset="77"/>
            </a:endParaRPr>
          </a:p>
          <a:p>
            <a:r>
              <a:rPr lang="en-US" sz="1200" dirty="0">
                <a:latin typeface="Monaco" pitchFamily="2" charset="77"/>
              </a:rPr>
              <a:t>     R1 = A[R0]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//accessing the secret</a:t>
            </a:r>
          </a:p>
          <a:p>
            <a:r>
              <a:rPr lang="en-US" sz="1200" dirty="0">
                <a:latin typeface="Monaco" pitchFamily="2" charset="77"/>
              </a:rPr>
              <a:t>     R2 = B[R1]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//transmitting the secret</a:t>
            </a:r>
          </a:p>
          <a:p>
            <a:r>
              <a:rPr lang="en-US" sz="1200" dirty="0">
                <a:latin typeface="Monaco" pitchFamily="2" charset="77"/>
              </a:rPr>
              <a:t>END: RET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AA7F8627-A1AA-F749-C4F5-069F4C947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462463"/>
              </p:ext>
            </p:extLst>
          </p:nvPr>
        </p:nvGraphicFramePr>
        <p:xfrm>
          <a:off x="6529849" y="4011443"/>
          <a:ext cx="1545645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645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R0 = </a:t>
                      </a:r>
                      <a:r>
                        <a:rPr lang="en-US" sz="1050" b="0" dirty="0" err="1">
                          <a:latin typeface="Monaco" pitchFamily="2" charset="77"/>
                        </a:rPr>
                        <a:t>addr</a:t>
                      </a:r>
                      <a:endParaRPr lang="en-US" sz="1050" b="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CMP COND, R0,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JG 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658652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RET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endParaRPr lang="en-US" sz="1050" b="1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61359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4694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8AE7828-CB62-696E-6E78-1D45B937BF65}"/>
              </a:ext>
            </a:extLst>
          </p:cNvPr>
          <p:cNvSpPr txBox="1"/>
          <p:nvPr/>
        </p:nvSpPr>
        <p:spPr>
          <a:xfrm>
            <a:off x="8166133" y="3989321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9F7D5-0E05-1E17-C13A-33F0D3BC0990}"/>
              </a:ext>
            </a:extLst>
          </p:cNvPr>
          <p:cNvSpPr txBox="1"/>
          <p:nvPr/>
        </p:nvSpPr>
        <p:spPr>
          <a:xfrm>
            <a:off x="8166133" y="5243204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35A033F-CFA6-AC22-BA94-1FB566EB6A9E}"/>
              </a:ext>
            </a:extLst>
          </p:cNvPr>
          <p:cNvSpPr/>
          <p:nvPr/>
        </p:nvSpPr>
        <p:spPr>
          <a:xfrm rot="10800000">
            <a:off x="8113194" y="4055630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5F1A306-2CA3-6694-BA9D-8BC0F25E65FD}"/>
              </a:ext>
            </a:extLst>
          </p:cNvPr>
          <p:cNvSpPr/>
          <p:nvPr/>
        </p:nvSpPr>
        <p:spPr>
          <a:xfrm rot="10800000">
            <a:off x="8113193" y="5321131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4903DA-1DE2-8485-8493-EB50EEE22726}"/>
              </a:ext>
            </a:extLst>
          </p:cNvPr>
          <p:cNvSpPr txBox="1"/>
          <p:nvPr/>
        </p:nvSpPr>
        <p:spPr>
          <a:xfrm>
            <a:off x="6649199" y="5520203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5831811" y="4067785"/>
            <a:ext cx="1009256" cy="3868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20" idx="3"/>
            <a:endCxn id="9" idx="2"/>
          </p:cNvCxnSpPr>
          <p:nvPr/>
        </p:nvCxnSpPr>
        <p:spPr>
          <a:xfrm flipV="1">
            <a:off x="8075494" y="3756567"/>
            <a:ext cx="543452" cy="1009256"/>
          </a:xfrm>
          <a:prstGeom prst="bentConnector2">
            <a:avLst/>
          </a:prstGeom>
          <a:ln w="127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186594"/>
              </p:ext>
            </p:extLst>
          </p:nvPr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>
                          <a:latin typeface="Monaco" pitchFamily="2" charset="77"/>
                        </a:rPr>
                        <a:t>addr</a:t>
                      </a:r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onaco" pitchFamily="2" charset="77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82226" y="2098675"/>
            <a:ext cx="50829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29000"/>
                </a:solidFill>
              </a:rPr>
              <a:t>Phase 2: Secret Access and Transmit</a:t>
            </a:r>
            <a:endParaRPr lang="en-US" sz="1600" dirty="0">
              <a:solidFill>
                <a:srgbClr val="929000"/>
              </a:solidFill>
            </a:endParaRPr>
          </a:p>
          <a:p>
            <a:pPr algn="ctr"/>
            <a:r>
              <a:rPr lang="en-US" sz="1600" dirty="0"/>
              <a:t>Victim speculatively accesses the secret and transmits the secret to the side-channel (</a:t>
            </a:r>
            <a:r>
              <a:rPr lang="en-US" sz="1600" b="1" dirty="0">
                <a:solidFill>
                  <a:srgbClr val="941651"/>
                </a:solidFill>
              </a:rPr>
              <a:t>the secret is 42</a:t>
            </a:r>
            <a:r>
              <a:rPr lang="en-US" sz="1600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C17FB0-8148-1A03-3641-43B811EAEF8C}"/>
              </a:ext>
            </a:extLst>
          </p:cNvPr>
          <p:cNvSpPr txBox="1"/>
          <p:nvPr/>
        </p:nvSpPr>
        <p:spPr>
          <a:xfrm>
            <a:off x="1442706" y="5443946"/>
            <a:ext cx="2682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Victim Pseudo Assembly Code</a:t>
            </a:r>
          </a:p>
        </p:txBody>
      </p: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9E6AC3CC-E333-029B-21AC-E5EB411A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333301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Accessed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32EC7E9-4CD8-3F6E-7247-1193C928ECB0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0C259BF2-0D07-1569-E57A-90076A94C36C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D80BF7-71E7-B685-FBD9-93FFFB3BBB0E}"/>
              </a:ext>
            </a:extLst>
          </p:cNvPr>
          <p:cNvSpPr txBox="1"/>
          <p:nvPr/>
        </p:nvSpPr>
        <p:spPr>
          <a:xfrm>
            <a:off x="11206620" y="3693333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DE51CA-AE0F-9831-463E-A97FE443CDE2}"/>
              </a:ext>
            </a:extLst>
          </p:cNvPr>
          <p:cNvSpPr/>
          <p:nvPr/>
        </p:nvSpPr>
        <p:spPr>
          <a:xfrm>
            <a:off x="9130720" y="5313240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584750-AAF8-FAED-B622-1ED391C4648A}"/>
              </a:ext>
            </a:extLst>
          </p:cNvPr>
          <p:cNvSpPr txBox="1"/>
          <p:nvPr/>
        </p:nvSpPr>
        <p:spPr>
          <a:xfrm>
            <a:off x="9359576" y="5246816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C534D9-914F-F907-BAF2-E11FF336E188}"/>
              </a:ext>
            </a:extLst>
          </p:cNvPr>
          <p:cNvSpPr/>
          <p:nvPr/>
        </p:nvSpPr>
        <p:spPr>
          <a:xfrm>
            <a:off x="9130720" y="5586627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43478F-1155-5A00-CBF8-1D4F9498BA33}"/>
              </a:ext>
            </a:extLst>
          </p:cNvPr>
          <p:cNvSpPr txBox="1"/>
          <p:nvPr/>
        </p:nvSpPr>
        <p:spPr>
          <a:xfrm>
            <a:off x="9359576" y="5520203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9C75A-8F1D-36F9-1087-5097014E845B}"/>
              </a:ext>
            </a:extLst>
          </p:cNvPr>
          <p:cNvSpPr txBox="1"/>
          <p:nvPr/>
        </p:nvSpPr>
        <p:spPr>
          <a:xfrm>
            <a:off x="8156318" y="4746552"/>
            <a:ext cx="925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Squash &amp; </a:t>
            </a:r>
          </a:p>
          <a:p>
            <a:r>
              <a:rPr lang="en-US" sz="1400" b="1" dirty="0">
                <a:solidFill>
                  <a:srgbClr val="C00000"/>
                </a:solidFill>
              </a:rPr>
              <a:t>Re-fetch</a:t>
            </a:r>
          </a:p>
        </p:txBody>
      </p:sp>
    </p:spTree>
    <p:extLst>
      <p:ext uri="{BB962C8B-B14F-4D97-AF65-F5344CB8AC3E}">
        <p14:creationId xmlns:p14="http://schemas.microsoft.com/office/powerpoint/2010/main" val="1203675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Example: Spectre on </a:t>
            </a:r>
            <a:r>
              <a:rPr lang="en-US" dirty="0" err="1"/>
              <a:t>OoO</a:t>
            </a:r>
            <a:r>
              <a:rPr lang="en-US" dirty="0"/>
              <a:t>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C6ED1-F2AE-C8E7-3896-E51BCAD41917}"/>
              </a:ext>
            </a:extLst>
          </p:cNvPr>
          <p:cNvSpPr txBox="1"/>
          <p:nvPr/>
        </p:nvSpPr>
        <p:spPr>
          <a:xfrm>
            <a:off x="785476" y="4058951"/>
            <a:ext cx="464742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aco" pitchFamily="2" charset="77"/>
              </a:rPr>
              <a:t>for (guess = 0; guess &lt; 256; guess++){</a:t>
            </a:r>
          </a:p>
          <a:p>
            <a:r>
              <a:rPr lang="en-US" sz="1200" dirty="0">
                <a:latin typeface="Monaco" pitchFamily="2" charset="77"/>
              </a:rPr>
              <a:t>    t1 = </a:t>
            </a:r>
            <a:r>
              <a:rPr lang="en-US" sz="1200" dirty="0" err="1">
                <a:latin typeface="Monaco" pitchFamily="2" charset="77"/>
              </a:rPr>
              <a:t>rdtscp</a:t>
            </a:r>
            <a:r>
              <a:rPr lang="en-US" sz="1200" dirty="0">
                <a:latin typeface="Monaco" pitchFamily="2" charset="77"/>
              </a:rPr>
              <a:t>();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//read timer</a:t>
            </a:r>
          </a:p>
          <a:p>
            <a:r>
              <a:rPr lang="en-US" sz="1200" dirty="0">
                <a:latin typeface="Monaco" pitchFamily="2" charset="77"/>
              </a:rPr>
              <a:t>    temp = B[guess];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//accessing the guess</a:t>
            </a:r>
          </a:p>
          <a:p>
            <a:r>
              <a:rPr lang="en-US" sz="1200" dirty="0">
                <a:latin typeface="Monaco" pitchFamily="2" charset="77"/>
              </a:rPr>
              <a:t>    t2 = </a:t>
            </a:r>
            <a:r>
              <a:rPr lang="en-US" sz="1200" dirty="0" err="1">
                <a:latin typeface="Monaco" pitchFamily="2" charset="77"/>
              </a:rPr>
              <a:t>rdtscp</a:t>
            </a:r>
            <a:r>
              <a:rPr lang="en-US" sz="1200" dirty="0">
                <a:latin typeface="Monaco" pitchFamily="2" charset="77"/>
              </a:rPr>
              <a:t>();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//read timer</a:t>
            </a:r>
          </a:p>
          <a:p>
            <a:r>
              <a:rPr lang="en-US" sz="1200" dirty="0">
                <a:latin typeface="Monaco" pitchFamily="2" charset="77"/>
              </a:rPr>
              <a:t>    if (t2-t1 &lt;= CACHE_HIT_THRESHOLD)</a:t>
            </a:r>
          </a:p>
          <a:p>
            <a:r>
              <a:rPr lang="en-US" sz="1200" dirty="0">
                <a:latin typeface="Monaco" pitchFamily="2" charset="77"/>
              </a:rPr>
              <a:t>        results[guess] += 1; </a:t>
            </a:r>
            <a:r>
              <a:rPr lang="en-US" sz="1200" dirty="0">
                <a:solidFill>
                  <a:srgbClr val="C00000"/>
                </a:solidFill>
                <a:latin typeface="Monaco" pitchFamily="2" charset="77"/>
              </a:rPr>
              <a:t>//potential secret</a:t>
            </a:r>
          </a:p>
          <a:p>
            <a:r>
              <a:rPr lang="en-US" sz="1200" dirty="0">
                <a:latin typeface="Monaco" pitchFamily="2" charset="77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35" idx="1"/>
          </p:cNvCxnSpPr>
          <p:nvPr/>
        </p:nvCxnSpPr>
        <p:spPr>
          <a:xfrm rot="16200000" flipH="1">
            <a:off x="6133849" y="3765747"/>
            <a:ext cx="775733" cy="75737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35" idx="3"/>
            <a:endCxn id="9" idx="2"/>
          </p:cNvCxnSpPr>
          <p:nvPr/>
        </p:nvCxnSpPr>
        <p:spPr>
          <a:xfrm flipV="1">
            <a:off x="7718950" y="3756567"/>
            <a:ext cx="899996" cy="775733"/>
          </a:xfrm>
          <a:prstGeom prst="bentConnector2">
            <a:avLst/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00360"/>
              </p:ext>
            </p:extLst>
          </p:nvPr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82226" y="2098675"/>
            <a:ext cx="508293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41651"/>
                </a:solidFill>
              </a:rPr>
              <a:t>Phase 3: Probing the Side-Channel</a:t>
            </a:r>
            <a:endParaRPr lang="en-US" sz="1600" dirty="0">
              <a:solidFill>
                <a:srgbClr val="941651"/>
              </a:solidFill>
            </a:endParaRPr>
          </a:p>
          <a:p>
            <a:pPr algn="ctr"/>
            <a:r>
              <a:rPr lang="en-US" sz="1600" dirty="0"/>
              <a:t>The attacker probes all the cache lines of the side-channel to recover the secret.</a:t>
            </a:r>
          </a:p>
          <a:p>
            <a:pPr algn="ctr"/>
            <a:r>
              <a:rPr lang="en-US" sz="1600" dirty="0">
                <a:sym typeface="Wingdings" pitchFamily="2" charset="2"/>
              </a:rPr>
              <a:t> </a:t>
            </a:r>
            <a:r>
              <a:rPr lang="en-US" sz="1600" i="1" u="sng" dirty="0">
                <a:solidFill>
                  <a:srgbClr val="941651"/>
                </a:solidFill>
                <a:sym typeface="Wingdings" pitchFamily="2" charset="2"/>
              </a:rPr>
              <a:t>Secret (42) is the only one that hits in the cache.</a:t>
            </a:r>
            <a:endParaRPr lang="en-US" sz="1600" i="1" u="sng" dirty="0">
              <a:solidFill>
                <a:srgbClr val="94165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C17FB0-8148-1A03-3641-43B811EAEF8C}"/>
              </a:ext>
            </a:extLst>
          </p:cNvPr>
          <p:cNvSpPr txBox="1"/>
          <p:nvPr/>
        </p:nvSpPr>
        <p:spPr>
          <a:xfrm>
            <a:off x="2462762" y="5443946"/>
            <a:ext cx="1292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Code Snippet</a:t>
            </a:r>
          </a:p>
        </p:txBody>
      </p: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9E6AC3CC-E333-029B-21AC-E5EB411A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98554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Accessed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32EC7E9-4CD8-3F6E-7247-1193C928ECB0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0C259BF2-0D07-1569-E57A-90076A94C36C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D80BF7-71E7-B685-FBD9-93FFFB3BBB0E}"/>
              </a:ext>
            </a:extLst>
          </p:cNvPr>
          <p:cNvSpPr txBox="1"/>
          <p:nvPr/>
        </p:nvSpPr>
        <p:spPr>
          <a:xfrm>
            <a:off x="11206620" y="3693333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4D4845-4494-9D23-C900-E46ECFBFE7D6}"/>
              </a:ext>
            </a:extLst>
          </p:cNvPr>
          <p:cNvSpPr/>
          <p:nvPr/>
        </p:nvSpPr>
        <p:spPr>
          <a:xfrm>
            <a:off x="6900401" y="4074609"/>
            <a:ext cx="818549" cy="91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Reorder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Buffer</a:t>
            </a:r>
          </a:p>
        </p:txBody>
      </p:sp>
    </p:spTree>
    <p:extLst>
      <p:ext uri="{BB962C8B-B14F-4D97-AF65-F5344CB8AC3E}">
        <p14:creationId xmlns:p14="http://schemas.microsoft.com/office/powerpoint/2010/main" val="3539892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88F0D4-A42E-378A-0F83-DA54BCF9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05421-A2A9-D8C2-E1F0-8294D2214471}"/>
              </a:ext>
            </a:extLst>
          </p:cNvPr>
          <p:cNvSpPr txBox="1"/>
          <p:nvPr/>
        </p:nvSpPr>
        <p:spPr>
          <a:xfrm>
            <a:off x="918394" y="2314661"/>
            <a:ext cx="103552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Garamond" panose="02020404030301010803" pitchFamily="18" charset="0"/>
              </a:rPr>
              <a:t>How to mitigate speculative execution attacks?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C4F66-00C3-83FF-4F8C-1D33AA42A853}"/>
              </a:ext>
            </a:extLst>
          </p:cNvPr>
          <p:cNvSpPr txBox="1"/>
          <p:nvPr/>
        </p:nvSpPr>
        <p:spPr>
          <a:xfrm>
            <a:off x="2178099" y="3642950"/>
            <a:ext cx="783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aramond" panose="02020404030301010803" pitchFamily="18" charset="0"/>
              </a:rPr>
              <a:t>First solution: </a:t>
            </a:r>
            <a:r>
              <a:rPr lang="en-US" sz="3600" b="1" dirty="0">
                <a:solidFill>
                  <a:srgbClr val="009193"/>
                </a:solidFill>
                <a:latin typeface="Garamond" panose="02020404030301010803" pitchFamily="18" charset="0"/>
              </a:rPr>
              <a:t>Securing the side-channel</a:t>
            </a:r>
          </a:p>
        </p:txBody>
      </p:sp>
    </p:spTree>
    <p:extLst>
      <p:ext uri="{BB962C8B-B14F-4D97-AF65-F5344CB8AC3E}">
        <p14:creationId xmlns:p14="http://schemas.microsoft.com/office/powerpoint/2010/main" val="1962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E5619DC-8DFA-8928-46B2-77FC9D36B4EF}"/>
              </a:ext>
            </a:extLst>
          </p:cNvPr>
          <p:cNvSpPr/>
          <p:nvPr/>
        </p:nvSpPr>
        <p:spPr>
          <a:xfrm>
            <a:off x="9346131" y="2642016"/>
            <a:ext cx="1732547" cy="2518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rgbClr val="00919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Mitigation</a:t>
            </a:r>
            <a:br>
              <a:rPr lang="en-US" dirty="0"/>
            </a:br>
            <a:r>
              <a:rPr lang="en-US" sz="3200" dirty="0"/>
              <a:t>Securing the Side-Channel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35" idx="1"/>
          </p:cNvCxnSpPr>
          <p:nvPr/>
        </p:nvCxnSpPr>
        <p:spPr>
          <a:xfrm rot="16200000" flipH="1">
            <a:off x="6133849" y="3765747"/>
            <a:ext cx="775733" cy="75737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35" idx="3"/>
            <a:endCxn id="9" idx="2"/>
          </p:cNvCxnSpPr>
          <p:nvPr/>
        </p:nvCxnSpPr>
        <p:spPr>
          <a:xfrm flipV="1">
            <a:off x="7718950" y="3756567"/>
            <a:ext cx="899996" cy="775733"/>
          </a:xfrm>
          <a:prstGeom prst="bentConnector2">
            <a:avLst/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/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82226" y="2098675"/>
            <a:ext cx="50829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41651"/>
                </a:solidFill>
              </a:rPr>
              <a:t>Phase 3: Probing the Side-Channel</a:t>
            </a:r>
            <a:endParaRPr lang="en-US" sz="1600" dirty="0">
              <a:solidFill>
                <a:srgbClr val="941651"/>
              </a:solidFill>
            </a:endParaRPr>
          </a:p>
          <a:p>
            <a:pPr algn="ctr"/>
            <a:r>
              <a:rPr lang="en-US" sz="1600" dirty="0"/>
              <a:t>The attacker probes all the cache lines of the side-channel to recover the secret.</a:t>
            </a:r>
          </a:p>
        </p:txBody>
      </p: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9E6AC3CC-E333-029B-21AC-E5EB411A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467573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Accessed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32EC7E9-4CD8-3F6E-7247-1193C928ECB0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4D4845-4494-9D23-C900-E46ECFBFE7D6}"/>
              </a:ext>
            </a:extLst>
          </p:cNvPr>
          <p:cNvSpPr/>
          <p:nvPr/>
        </p:nvSpPr>
        <p:spPr>
          <a:xfrm>
            <a:off x="6900401" y="4074609"/>
            <a:ext cx="818549" cy="91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Reorder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26C92-3569-00E2-B592-438E52E2272C}"/>
              </a:ext>
            </a:extLst>
          </p:cNvPr>
          <p:cNvSpPr txBox="1"/>
          <p:nvPr/>
        </p:nvSpPr>
        <p:spPr>
          <a:xfrm>
            <a:off x="682484" y="4144433"/>
            <a:ext cx="52154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This mitigation makes the cache invisible to the attacker </a:t>
            </a:r>
            <a:r>
              <a:rPr lang="en-US" sz="2000" dirty="0">
                <a:sym typeface="Wingdings" pitchFamily="2" charset="2"/>
              </a:rPr>
              <a:t> </a:t>
            </a:r>
            <a:r>
              <a:rPr lang="en-US" sz="2000" dirty="0">
                <a:solidFill>
                  <a:srgbClr val="009193"/>
                </a:solidFill>
                <a:sym typeface="Wingdings" pitchFamily="2" charset="2"/>
              </a:rPr>
              <a:t>The attacker can’t extract any useful information by observing the cache.</a:t>
            </a:r>
            <a:endParaRPr lang="en-US" sz="2000" dirty="0">
              <a:solidFill>
                <a:srgbClr val="00919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D975F-8898-CDEC-9922-6BB7F0398680}"/>
              </a:ext>
            </a:extLst>
          </p:cNvPr>
          <p:cNvSpPr txBox="1"/>
          <p:nvPr/>
        </p:nvSpPr>
        <p:spPr>
          <a:xfrm>
            <a:off x="746230" y="5483628"/>
            <a:ext cx="1079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Examples: </a:t>
            </a:r>
            <a:r>
              <a:rPr lang="en-US" dirty="0" err="1"/>
              <a:t>InvisiSpec</a:t>
            </a:r>
            <a:r>
              <a:rPr lang="en-US" sz="1200" dirty="0"/>
              <a:t>[MICRO’18]</a:t>
            </a:r>
            <a:r>
              <a:rPr lang="en-US" dirty="0"/>
              <a:t>, Delay-on-Miss</a:t>
            </a:r>
            <a:r>
              <a:rPr lang="en-US" sz="1200" dirty="0"/>
              <a:t>[ISCA’19]</a:t>
            </a:r>
            <a:r>
              <a:rPr lang="en-US" dirty="0"/>
              <a:t>, CEASER</a:t>
            </a:r>
            <a:r>
              <a:rPr lang="en-US" sz="1200" dirty="0"/>
              <a:t>[MICRO’18] </a:t>
            </a:r>
            <a:r>
              <a:rPr lang="en-US" dirty="0"/>
              <a:t>(cache randomization), </a:t>
            </a:r>
            <a:r>
              <a:rPr lang="en-US" dirty="0" err="1"/>
              <a:t>CleanupSpec</a:t>
            </a:r>
            <a:r>
              <a:rPr lang="en-US" sz="1200" dirty="0"/>
              <a:t>[MICRO’19]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833DA8-D11F-A7B2-4A35-B537307720EF}"/>
              </a:ext>
            </a:extLst>
          </p:cNvPr>
          <p:cNvSpPr txBox="1"/>
          <p:nvPr/>
        </p:nvSpPr>
        <p:spPr>
          <a:xfrm>
            <a:off x="9725764" y="2263529"/>
            <a:ext cx="1067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9193"/>
                </a:solidFill>
              </a:rPr>
              <a:t>Invisible</a:t>
            </a:r>
          </a:p>
        </p:txBody>
      </p:sp>
    </p:spTree>
    <p:extLst>
      <p:ext uri="{BB962C8B-B14F-4D97-AF65-F5344CB8AC3E}">
        <p14:creationId xmlns:p14="http://schemas.microsoft.com/office/powerpoint/2010/main" val="3090416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66B3F1AE-4332-7C86-0B19-7FFBC4D0AF0B}"/>
              </a:ext>
            </a:extLst>
          </p:cNvPr>
          <p:cNvSpPr/>
          <p:nvPr/>
        </p:nvSpPr>
        <p:spPr>
          <a:xfrm>
            <a:off x="4437246" y="1953928"/>
            <a:ext cx="4870383" cy="3157087"/>
          </a:xfrm>
          <a:custGeom>
            <a:avLst/>
            <a:gdLst>
              <a:gd name="connsiteX0" fmla="*/ 4870383 w 4870383"/>
              <a:gd name="connsiteY0" fmla="*/ 0 h 3157087"/>
              <a:gd name="connsiteX1" fmla="*/ 4870383 w 4870383"/>
              <a:gd name="connsiteY1" fmla="*/ 3157087 h 3157087"/>
              <a:gd name="connsiteX2" fmla="*/ 0 w 4870383"/>
              <a:gd name="connsiteY2" fmla="*/ 3147461 h 3157087"/>
              <a:gd name="connsiteX3" fmla="*/ 9626 w 4870383"/>
              <a:gd name="connsiteY3" fmla="*/ 1299411 h 3157087"/>
              <a:gd name="connsiteX4" fmla="*/ 2704699 w 4870383"/>
              <a:gd name="connsiteY4" fmla="*/ 1289786 h 3157087"/>
              <a:gd name="connsiteX5" fmla="*/ 2714325 w 4870383"/>
              <a:gd name="connsiteY5" fmla="*/ 19251 h 3157087"/>
              <a:gd name="connsiteX6" fmla="*/ 4870383 w 4870383"/>
              <a:gd name="connsiteY6" fmla="*/ 0 h 3157087"/>
              <a:gd name="connsiteX0" fmla="*/ 4870383 w 4870383"/>
              <a:gd name="connsiteY0" fmla="*/ 0 h 3157087"/>
              <a:gd name="connsiteX1" fmla="*/ 4870383 w 4870383"/>
              <a:gd name="connsiteY1" fmla="*/ 3157087 h 3157087"/>
              <a:gd name="connsiteX2" fmla="*/ 0 w 4870383"/>
              <a:gd name="connsiteY2" fmla="*/ 3147461 h 3157087"/>
              <a:gd name="connsiteX3" fmla="*/ 9626 w 4870383"/>
              <a:gd name="connsiteY3" fmla="*/ 1299411 h 3157087"/>
              <a:gd name="connsiteX4" fmla="*/ 2704699 w 4870383"/>
              <a:gd name="connsiteY4" fmla="*/ 1289786 h 3157087"/>
              <a:gd name="connsiteX5" fmla="*/ 2704700 w 4870383"/>
              <a:gd name="connsiteY5" fmla="*/ 9625 h 3157087"/>
              <a:gd name="connsiteX6" fmla="*/ 4870383 w 4870383"/>
              <a:gd name="connsiteY6" fmla="*/ 0 h 315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0383" h="3157087">
                <a:moveTo>
                  <a:pt x="4870383" y="0"/>
                </a:moveTo>
                <a:lnTo>
                  <a:pt x="4870383" y="3157087"/>
                </a:lnTo>
                <a:lnTo>
                  <a:pt x="0" y="3147461"/>
                </a:lnTo>
                <a:cubicBezTo>
                  <a:pt x="3209" y="2531444"/>
                  <a:pt x="6417" y="1915428"/>
                  <a:pt x="9626" y="1299411"/>
                </a:cubicBezTo>
                <a:lnTo>
                  <a:pt x="2704699" y="1289786"/>
                </a:lnTo>
                <a:cubicBezTo>
                  <a:pt x="2707908" y="866274"/>
                  <a:pt x="2701491" y="433137"/>
                  <a:pt x="2704700" y="9625"/>
                </a:cubicBezTo>
                <a:lnTo>
                  <a:pt x="4870383" y="0"/>
                </a:lnTo>
                <a:close/>
              </a:path>
            </a:pathLst>
          </a:custGeom>
          <a:solidFill>
            <a:srgbClr val="FFD1D2"/>
          </a:solidFill>
          <a:ln w="222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619DC-8DFA-8928-46B2-77FC9D36B4EF}"/>
              </a:ext>
            </a:extLst>
          </p:cNvPr>
          <p:cNvSpPr/>
          <p:nvPr/>
        </p:nvSpPr>
        <p:spPr>
          <a:xfrm>
            <a:off x="9404693" y="2642016"/>
            <a:ext cx="1722783" cy="24497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rgbClr val="00919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Mitigation</a:t>
            </a:r>
            <a:br>
              <a:rPr lang="en-US" dirty="0"/>
            </a:br>
            <a:r>
              <a:rPr lang="en-US" sz="3200" dirty="0"/>
              <a:t>Securing the Side-Channel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35" idx="1"/>
          </p:cNvCxnSpPr>
          <p:nvPr/>
        </p:nvCxnSpPr>
        <p:spPr>
          <a:xfrm rot="16200000" flipH="1">
            <a:off x="6133849" y="3765747"/>
            <a:ext cx="775733" cy="75737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35" idx="3"/>
            <a:endCxn id="9" idx="2"/>
          </p:cNvCxnSpPr>
          <p:nvPr/>
        </p:nvCxnSpPr>
        <p:spPr>
          <a:xfrm flipV="1">
            <a:off x="7718950" y="3756567"/>
            <a:ext cx="899996" cy="775733"/>
          </a:xfrm>
          <a:prstGeom prst="bentConnector2">
            <a:avLst/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846203"/>
              </p:ext>
            </p:extLst>
          </p:nvPr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9E6AC3CC-E333-029B-21AC-E5EB411A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357467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Accessed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32EC7E9-4CD8-3F6E-7247-1193C928ECB0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4D4845-4494-9D23-C900-E46ECFBFE7D6}"/>
              </a:ext>
            </a:extLst>
          </p:cNvPr>
          <p:cNvSpPr/>
          <p:nvPr/>
        </p:nvSpPr>
        <p:spPr>
          <a:xfrm>
            <a:off x="6900401" y="4074609"/>
            <a:ext cx="818549" cy="91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Reorder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26C92-3569-00E2-B592-438E52E2272C}"/>
              </a:ext>
            </a:extLst>
          </p:cNvPr>
          <p:cNvSpPr txBox="1"/>
          <p:nvPr/>
        </p:nvSpPr>
        <p:spPr>
          <a:xfrm>
            <a:off x="830352" y="2044767"/>
            <a:ext cx="53385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Disadvantage</a:t>
            </a:r>
            <a:r>
              <a:rPr lang="en-US" sz="2000" dirty="0"/>
              <a:t>: </a:t>
            </a:r>
            <a:r>
              <a:rPr lang="en-US" sz="2000" i="1" dirty="0"/>
              <a:t>only secures a specific side-channel</a:t>
            </a:r>
          </a:p>
          <a:p>
            <a:pPr algn="ctr"/>
            <a:r>
              <a:rPr lang="en-US" sz="2000" dirty="0"/>
              <a:t>There are various and multiple side-channels (e.g., BTB</a:t>
            </a:r>
            <a:r>
              <a:rPr lang="en-US" sz="2000" baseline="30000" dirty="0"/>
              <a:t>1</a:t>
            </a:r>
            <a:r>
              <a:rPr lang="en-US" sz="2000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833DA8-D11F-A7B2-4A35-B537307720EF}"/>
              </a:ext>
            </a:extLst>
          </p:cNvPr>
          <p:cNvSpPr txBox="1"/>
          <p:nvPr/>
        </p:nvSpPr>
        <p:spPr>
          <a:xfrm>
            <a:off x="9725764" y="2263529"/>
            <a:ext cx="1067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9193"/>
                </a:solidFill>
              </a:rPr>
              <a:t>Invisible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BDD287-AD4D-43C0-AB43-BC4F10BFB821}"/>
              </a:ext>
            </a:extLst>
          </p:cNvPr>
          <p:cNvSpPr txBox="1"/>
          <p:nvPr/>
        </p:nvSpPr>
        <p:spPr>
          <a:xfrm>
            <a:off x="7762272" y="1551349"/>
            <a:ext cx="894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Visible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6B43851D-683D-C406-4940-E150D6AF9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Weisse</a:t>
            </a:r>
            <a:r>
              <a:rPr lang="en-US" dirty="0"/>
              <a:t>, </a:t>
            </a:r>
            <a:r>
              <a:rPr lang="en-US" dirty="0" err="1"/>
              <a:t>Ofir</a:t>
            </a:r>
            <a:r>
              <a:rPr lang="en-US" dirty="0"/>
              <a:t>, et al. "NDA: Preventing speculative execution attacks at their source." MICRO'19.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1764CE-F22D-E484-38E3-A70AC8A55439}"/>
              </a:ext>
            </a:extLst>
          </p:cNvPr>
          <p:cNvSpPr txBox="1"/>
          <p:nvPr/>
        </p:nvSpPr>
        <p:spPr>
          <a:xfrm>
            <a:off x="2781628" y="5417536"/>
            <a:ext cx="6383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cap="small" dirty="0">
                <a:solidFill>
                  <a:srgbClr val="C00000"/>
                </a:solidFill>
                <a:latin typeface="Garamond" panose="02020404030301010803" pitchFamily="18" charset="0"/>
              </a:rPr>
              <a:t>Question</a:t>
            </a:r>
            <a:r>
              <a:rPr lang="en-US" sz="2800" dirty="0">
                <a:latin typeface="Garamond" panose="02020404030301010803" pitchFamily="18" charset="0"/>
              </a:rPr>
              <a:t>: How to secure </a:t>
            </a:r>
            <a:r>
              <a:rPr lang="en-US" sz="2800" b="1" dirty="0">
                <a:latin typeface="Garamond" panose="02020404030301010803" pitchFamily="18" charset="0"/>
              </a:rPr>
              <a:t>all</a:t>
            </a:r>
            <a:r>
              <a:rPr lang="en-US" sz="2800" dirty="0">
                <a:latin typeface="Garamond" panose="02020404030301010803" pitchFamily="18" charset="0"/>
              </a:rPr>
              <a:t> side-channels?</a:t>
            </a:r>
          </a:p>
        </p:txBody>
      </p:sp>
    </p:spTree>
    <p:extLst>
      <p:ext uri="{BB962C8B-B14F-4D97-AF65-F5344CB8AC3E}">
        <p14:creationId xmlns:p14="http://schemas.microsoft.com/office/powerpoint/2010/main" val="173774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88F0D4-A42E-378A-0F83-DA54BCF9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05421-A2A9-D8C2-E1F0-8294D2214471}"/>
              </a:ext>
            </a:extLst>
          </p:cNvPr>
          <p:cNvSpPr txBox="1"/>
          <p:nvPr/>
        </p:nvSpPr>
        <p:spPr>
          <a:xfrm>
            <a:off x="918394" y="2305036"/>
            <a:ext cx="103552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Garamond" panose="02020404030301010803" pitchFamily="18" charset="0"/>
              </a:rPr>
              <a:t>How to mitigate speculative execution attacks?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C4F66-00C3-83FF-4F8C-1D33AA42A853}"/>
              </a:ext>
            </a:extLst>
          </p:cNvPr>
          <p:cNvSpPr txBox="1"/>
          <p:nvPr/>
        </p:nvSpPr>
        <p:spPr>
          <a:xfrm>
            <a:off x="1214534" y="3585199"/>
            <a:ext cx="97629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aramond" panose="02020404030301010803" pitchFamily="18" charset="0"/>
              </a:rPr>
              <a:t>First solution: </a:t>
            </a:r>
            <a:r>
              <a:rPr lang="en-US" sz="3600" b="1" strike="sngStrike" dirty="0">
                <a:solidFill>
                  <a:srgbClr val="C00000"/>
                </a:solidFill>
                <a:latin typeface="Garamond" panose="02020404030301010803" pitchFamily="18" charset="0"/>
              </a:rPr>
              <a:t>Securing the side-channel</a:t>
            </a:r>
          </a:p>
          <a:p>
            <a:pPr algn="ctr"/>
            <a:r>
              <a:rPr lang="en-US" sz="3600" dirty="0">
                <a:latin typeface="Garamond" panose="02020404030301010803" pitchFamily="18" charset="0"/>
              </a:rPr>
              <a:t>Second solution: </a:t>
            </a:r>
            <a:r>
              <a:rPr lang="en-US" sz="3600" b="1" dirty="0">
                <a:solidFill>
                  <a:srgbClr val="009193"/>
                </a:solidFill>
                <a:latin typeface="Garamond" panose="02020404030301010803" pitchFamily="18" charset="0"/>
              </a:rPr>
              <a:t>Side-channel-agnostic mitigation</a:t>
            </a:r>
          </a:p>
        </p:txBody>
      </p:sp>
    </p:spTree>
    <p:extLst>
      <p:ext uri="{BB962C8B-B14F-4D97-AF65-F5344CB8AC3E}">
        <p14:creationId xmlns:p14="http://schemas.microsoft.com/office/powerpoint/2010/main" val="3844601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Mitigation</a:t>
            </a:r>
            <a:br>
              <a:rPr lang="en-US" dirty="0"/>
            </a:br>
            <a:r>
              <a:rPr lang="en-US" sz="3200" dirty="0"/>
              <a:t>Side-Channel-Agnostic Mitigation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AA7F8627-A1AA-F749-C4F5-069F4C947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837546"/>
              </p:ext>
            </p:extLst>
          </p:nvPr>
        </p:nvGraphicFramePr>
        <p:xfrm>
          <a:off x="6329385" y="4175633"/>
          <a:ext cx="1756406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8123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  <a:gridCol w="298283">
                  <a:extLst>
                    <a:ext uri="{9D8B030D-6E8A-4147-A177-3AD203B41FA5}">
                      <a16:colId xmlns:a16="http://schemas.microsoft.com/office/drawing/2014/main" val="924220692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R0 = </a:t>
                      </a:r>
                      <a:r>
                        <a:rPr lang="en-US" sz="1050" b="0" dirty="0" err="1">
                          <a:latin typeface="Monaco" pitchFamily="2" charset="77"/>
                        </a:rPr>
                        <a:t>addr</a:t>
                      </a:r>
                      <a:endParaRPr lang="en-US" sz="1050" b="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Monaco" pitchFamily="2" charset="77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CMP COND, R0,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Monaco" pitchFamily="2" charset="77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JG 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658652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R1 = A[R0]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R2 = B[R1]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61359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RET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4694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8AE7828-CB62-696E-6E78-1D45B937BF65}"/>
              </a:ext>
            </a:extLst>
          </p:cNvPr>
          <p:cNvSpPr txBox="1"/>
          <p:nvPr/>
        </p:nvSpPr>
        <p:spPr>
          <a:xfrm>
            <a:off x="8176430" y="4149147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9F7D5-0E05-1E17-C13A-33F0D3BC0990}"/>
              </a:ext>
            </a:extLst>
          </p:cNvPr>
          <p:cNvSpPr txBox="1"/>
          <p:nvPr/>
        </p:nvSpPr>
        <p:spPr>
          <a:xfrm>
            <a:off x="8176430" y="5388902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35A033F-CFA6-AC22-BA94-1FB566EB6A9E}"/>
              </a:ext>
            </a:extLst>
          </p:cNvPr>
          <p:cNvSpPr/>
          <p:nvPr/>
        </p:nvSpPr>
        <p:spPr>
          <a:xfrm rot="10800000">
            <a:off x="8123491" y="4215456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5F1A306-2CA3-6694-BA9D-8BC0F25E65FD}"/>
              </a:ext>
            </a:extLst>
          </p:cNvPr>
          <p:cNvSpPr/>
          <p:nvPr/>
        </p:nvSpPr>
        <p:spPr>
          <a:xfrm rot="10800000">
            <a:off x="8123490" y="5466829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4903DA-1DE2-8485-8493-EB50EEE22726}"/>
              </a:ext>
            </a:extLst>
          </p:cNvPr>
          <p:cNvSpPr txBox="1"/>
          <p:nvPr/>
        </p:nvSpPr>
        <p:spPr>
          <a:xfrm>
            <a:off x="6654625" y="5643770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5649484" y="4250112"/>
            <a:ext cx="1173446" cy="1863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20" idx="3"/>
            <a:endCxn id="9" idx="2"/>
          </p:cNvCxnSpPr>
          <p:nvPr/>
        </p:nvCxnSpPr>
        <p:spPr>
          <a:xfrm flipV="1">
            <a:off x="8085791" y="3756567"/>
            <a:ext cx="533155" cy="117344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852049"/>
              </p:ext>
            </p:extLst>
          </p:nvPr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>
                          <a:latin typeface="Monaco" pitchFamily="2" charset="77"/>
                        </a:rPr>
                        <a:t>addr</a:t>
                      </a:r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Monac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9F33EC-DAD6-3169-AEB9-E2D1FEF0CAB0}"/>
              </a:ext>
            </a:extLst>
          </p:cNvPr>
          <p:cNvSpPr txBox="1"/>
          <p:nvPr/>
        </p:nvSpPr>
        <p:spPr>
          <a:xfrm>
            <a:off x="1282226" y="2098675"/>
            <a:ext cx="50829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929000"/>
                </a:solidFill>
              </a:rPr>
              <a:t>Phase 2: Secret Access and Transmit</a:t>
            </a:r>
            <a:endParaRPr lang="en-US" sz="1600" dirty="0">
              <a:solidFill>
                <a:srgbClr val="929000"/>
              </a:solidFill>
            </a:endParaRPr>
          </a:p>
          <a:p>
            <a:pPr algn="ctr"/>
            <a:r>
              <a:rPr lang="en-US" sz="1600" dirty="0"/>
              <a:t>Victim speculatively accesses the secret and transmits the secret to the side-channel</a:t>
            </a:r>
          </a:p>
        </p:txBody>
      </p: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9E6AC3CC-E333-029B-21AC-E5EB411A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971279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32EC7E9-4CD8-3F6E-7247-1193C928ECB0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0C259BF2-0D07-1569-E57A-90076A94C36C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D80BF7-71E7-B685-FBD9-93FFFB3BBB0E}"/>
              </a:ext>
            </a:extLst>
          </p:cNvPr>
          <p:cNvSpPr txBox="1"/>
          <p:nvPr/>
        </p:nvSpPr>
        <p:spPr>
          <a:xfrm>
            <a:off x="11206620" y="3693333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DE51CA-AE0F-9831-463E-A97FE443CDE2}"/>
              </a:ext>
            </a:extLst>
          </p:cNvPr>
          <p:cNvSpPr/>
          <p:nvPr/>
        </p:nvSpPr>
        <p:spPr>
          <a:xfrm>
            <a:off x="9130720" y="5313240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584750-AAF8-FAED-B622-1ED391C4648A}"/>
              </a:ext>
            </a:extLst>
          </p:cNvPr>
          <p:cNvSpPr txBox="1"/>
          <p:nvPr/>
        </p:nvSpPr>
        <p:spPr>
          <a:xfrm>
            <a:off x="9359576" y="5246816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C534D9-914F-F907-BAF2-E11FF336E188}"/>
              </a:ext>
            </a:extLst>
          </p:cNvPr>
          <p:cNvSpPr/>
          <p:nvPr/>
        </p:nvSpPr>
        <p:spPr>
          <a:xfrm>
            <a:off x="9130720" y="5586627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43478F-1155-5A00-CBF8-1D4F9498BA33}"/>
              </a:ext>
            </a:extLst>
          </p:cNvPr>
          <p:cNvSpPr txBox="1"/>
          <p:nvPr/>
        </p:nvSpPr>
        <p:spPr>
          <a:xfrm>
            <a:off x="9359576" y="5520203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97343E-07DA-0F67-F470-BFD9178719C7}"/>
              </a:ext>
            </a:extLst>
          </p:cNvPr>
          <p:cNvSpPr txBox="1"/>
          <p:nvPr/>
        </p:nvSpPr>
        <p:spPr>
          <a:xfrm>
            <a:off x="536496" y="3962547"/>
            <a:ext cx="53974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This mitigation restricts the execution of instructions that can possibly transmit the secret to any side-channel </a:t>
            </a:r>
            <a:r>
              <a:rPr lang="en-US" sz="2000" dirty="0">
                <a:sym typeface="Wingdings" pitchFamily="2" charset="2"/>
              </a:rPr>
              <a:t> </a:t>
            </a:r>
            <a:r>
              <a:rPr lang="en-US" sz="2000" dirty="0">
                <a:solidFill>
                  <a:srgbClr val="009193"/>
                </a:solidFill>
                <a:sym typeface="Wingdings" pitchFamily="2" charset="2"/>
              </a:rPr>
              <a:t>Restricted instructions will execute only if they become non-speculative.</a:t>
            </a:r>
            <a:endParaRPr lang="en-US" sz="2000" dirty="0">
              <a:solidFill>
                <a:srgbClr val="009193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AB9A26-2FDE-0FC0-630F-7025C3CD8737}"/>
              </a:ext>
            </a:extLst>
          </p:cNvPr>
          <p:cNvSpPr txBox="1"/>
          <p:nvPr/>
        </p:nvSpPr>
        <p:spPr>
          <a:xfrm>
            <a:off x="7495689" y="3880667"/>
            <a:ext cx="883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Restricted?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5BDC2A4-ED96-57D5-CEDB-72BE90D08127}"/>
              </a:ext>
            </a:extLst>
          </p:cNvPr>
          <p:cNvSpPr/>
          <p:nvPr/>
        </p:nvSpPr>
        <p:spPr>
          <a:xfrm>
            <a:off x="6220433" y="4878430"/>
            <a:ext cx="1273785" cy="831541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1A6EE9-1E46-89BE-09A9-923568B1EAAA}"/>
              </a:ext>
            </a:extLst>
          </p:cNvPr>
          <p:cNvSpPr txBox="1"/>
          <p:nvPr/>
        </p:nvSpPr>
        <p:spPr>
          <a:xfrm>
            <a:off x="2755579" y="5535592"/>
            <a:ext cx="3438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Restricted because they depend on an unresolved branch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9DCEAF-2B8D-70B2-5575-1FA2971E03DD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5796230" y="5294201"/>
            <a:ext cx="424203" cy="317008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C7F11EF-92D6-CF30-6171-21BAF18C88B6}"/>
              </a:ext>
            </a:extLst>
          </p:cNvPr>
          <p:cNvSpPr txBox="1"/>
          <p:nvPr/>
        </p:nvSpPr>
        <p:spPr>
          <a:xfrm>
            <a:off x="9521712" y="1921600"/>
            <a:ext cx="2265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9193"/>
                </a:solidFill>
              </a:rPr>
              <a:t>No secret transmitted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9AEF502-4231-E4B8-A979-E45CC27EADBF}"/>
              </a:ext>
            </a:extLst>
          </p:cNvPr>
          <p:cNvCxnSpPr>
            <a:stCxn id="41" idx="0"/>
            <a:endCxn id="45" idx="2"/>
          </p:cNvCxnSpPr>
          <p:nvPr/>
        </p:nvCxnSpPr>
        <p:spPr>
          <a:xfrm flipV="1">
            <a:off x="10225748" y="2290932"/>
            <a:ext cx="428486" cy="374981"/>
          </a:xfrm>
          <a:prstGeom prst="straightConnector1">
            <a:avLst/>
          </a:prstGeom>
          <a:ln w="12700">
            <a:solidFill>
              <a:srgbClr val="00919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34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Mitigation</a:t>
            </a:r>
            <a:br>
              <a:rPr lang="en-US" dirty="0"/>
            </a:br>
            <a:r>
              <a:rPr lang="en-US" sz="3200" dirty="0"/>
              <a:t>Side-Channel-Agnostic Mitigation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AA7F8627-A1AA-F749-C4F5-069F4C9475BF}"/>
              </a:ext>
            </a:extLst>
          </p:cNvPr>
          <p:cNvGraphicFramePr>
            <a:graphicFrameLocks noGrp="1"/>
          </p:cNvGraphicFramePr>
          <p:nvPr/>
        </p:nvGraphicFramePr>
        <p:xfrm>
          <a:off x="6329385" y="4175633"/>
          <a:ext cx="1756406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8123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  <a:gridCol w="298283">
                  <a:extLst>
                    <a:ext uri="{9D8B030D-6E8A-4147-A177-3AD203B41FA5}">
                      <a16:colId xmlns:a16="http://schemas.microsoft.com/office/drawing/2014/main" val="924220692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R0 = </a:t>
                      </a:r>
                      <a:r>
                        <a:rPr lang="en-US" sz="1050" b="0" dirty="0" err="1">
                          <a:latin typeface="Monaco" pitchFamily="2" charset="77"/>
                        </a:rPr>
                        <a:t>addr</a:t>
                      </a:r>
                      <a:endParaRPr lang="en-US" sz="1050" b="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Monaco" pitchFamily="2" charset="77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CMP COND, R0,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Monaco" pitchFamily="2" charset="77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JG 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658652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R1 = A[R0]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R2 = B[R1]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61359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RET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4694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8AE7828-CB62-696E-6E78-1D45B937BF65}"/>
              </a:ext>
            </a:extLst>
          </p:cNvPr>
          <p:cNvSpPr txBox="1"/>
          <p:nvPr/>
        </p:nvSpPr>
        <p:spPr>
          <a:xfrm>
            <a:off x="8176430" y="4149147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9F7D5-0E05-1E17-C13A-33F0D3BC0990}"/>
              </a:ext>
            </a:extLst>
          </p:cNvPr>
          <p:cNvSpPr txBox="1"/>
          <p:nvPr/>
        </p:nvSpPr>
        <p:spPr>
          <a:xfrm>
            <a:off x="8176430" y="5388902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35A033F-CFA6-AC22-BA94-1FB566EB6A9E}"/>
              </a:ext>
            </a:extLst>
          </p:cNvPr>
          <p:cNvSpPr/>
          <p:nvPr/>
        </p:nvSpPr>
        <p:spPr>
          <a:xfrm rot="10800000">
            <a:off x="8123491" y="4215456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5F1A306-2CA3-6694-BA9D-8BC0F25E65FD}"/>
              </a:ext>
            </a:extLst>
          </p:cNvPr>
          <p:cNvSpPr/>
          <p:nvPr/>
        </p:nvSpPr>
        <p:spPr>
          <a:xfrm rot="10800000">
            <a:off x="8123490" y="5466829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4903DA-1DE2-8485-8493-EB50EEE22726}"/>
              </a:ext>
            </a:extLst>
          </p:cNvPr>
          <p:cNvSpPr txBox="1"/>
          <p:nvPr/>
        </p:nvSpPr>
        <p:spPr>
          <a:xfrm>
            <a:off x="6654625" y="5643770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5649484" y="4250112"/>
            <a:ext cx="1173446" cy="1863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20" idx="3"/>
            <a:endCxn id="9" idx="2"/>
          </p:cNvCxnSpPr>
          <p:nvPr/>
        </p:nvCxnSpPr>
        <p:spPr>
          <a:xfrm flipV="1">
            <a:off x="8085791" y="3756567"/>
            <a:ext cx="533155" cy="117344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544270"/>
              </p:ext>
            </p:extLst>
          </p:nvPr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>
                          <a:latin typeface="Monaco" pitchFamily="2" charset="77"/>
                        </a:rPr>
                        <a:t>addr</a:t>
                      </a:r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Monac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9E6AC3CC-E333-029B-21AC-E5EB411A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155710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32EC7E9-4CD8-3F6E-7247-1193C928ECB0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0C259BF2-0D07-1569-E57A-90076A94C36C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D80BF7-71E7-B685-FBD9-93FFFB3BBB0E}"/>
              </a:ext>
            </a:extLst>
          </p:cNvPr>
          <p:cNvSpPr txBox="1"/>
          <p:nvPr/>
        </p:nvSpPr>
        <p:spPr>
          <a:xfrm>
            <a:off x="11206620" y="3693333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DE51CA-AE0F-9831-463E-A97FE443CDE2}"/>
              </a:ext>
            </a:extLst>
          </p:cNvPr>
          <p:cNvSpPr/>
          <p:nvPr/>
        </p:nvSpPr>
        <p:spPr>
          <a:xfrm>
            <a:off x="9130720" y="5313240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584750-AAF8-FAED-B622-1ED391C4648A}"/>
              </a:ext>
            </a:extLst>
          </p:cNvPr>
          <p:cNvSpPr txBox="1"/>
          <p:nvPr/>
        </p:nvSpPr>
        <p:spPr>
          <a:xfrm>
            <a:off x="9359576" y="5246816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C534D9-914F-F907-BAF2-E11FF336E188}"/>
              </a:ext>
            </a:extLst>
          </p:cNvPr>
          <p:cNvSpPr/>
          <p:nvPr/>
        </p:nvSpPr>
        <p:spPr>
          <a:xfrm>
            <a:off x="9130720" y="5586627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43478F-1155-5A00-CBF8-1D4F9498BA33}"/>
              </a:ext>
            </a:extLst>
          </p:cNvPr>
          <p:cNvSpPr txBox="1"/>
          <p:nvPr/>
        </p:nvSpPr>
        <p:spPr>
          <a:xfrm>
            <a:off x="9359576" y="5520203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AB9A26-2FDE-0FC0-630F-7025C3CD8737}"/>
              </a:ext>
            </a:extLst>
          </p:cNvPr>
          <p:cNvSpPr txBox="1"/>
          <p:nvPr/>
        </p:nvSpPr>
        <p:spPr>
          <a:xfrm>
            <a:off x="7495689" y="3880667"/>
            <a:ext cx="883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Restricted?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3EDED-4584-539D-0CAD-43FC5A7E4550}"/>
              </a:ext>
            </a:extLst>
          </p:cNvPr>
          <p:cNvSpPr txBox="1"/>
          <p:nvPr/>
        </p:nvSpPr>
        <p:spPr>
          <a:xfrm>
            <a:off x="655602" y="1965658"/>
            <a:ext cx="5331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Examples: NDA</a:t>
            </a:r>
            <a:r>
              <a:rPr lang="en-US" sz="1200" dirty="0"/>
              <a:t>[MICRO’19]</a:t>
            </a:r>
            <a:r>
              <a:rPr lang="en-US" dirty="0"/>
              <a:t>, STT</a:t>
            </a:r>
            <a:r>
              <a:rPr lang="en-US" sz="1200" dirty="0"/>
              <a:t>[MICRO’19]</a:t>
            </a:r>
            <a:r>
              <a:rPr lang="en-US" dirty="0"/>
              <a:t>, DOLMA</a:t>
            </a:r>
            <a:r>
              <a:rPr lang="en-US" sz="1200" dirty="0"/>
              <a:t>[USENIX Sec’21]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BDDD12-D554-1826-5C43-162BA18EB99F}"/>
              </a:ext>
            </a:extLst>
          </p:cNvPr>
          <p:cNvSpPr txBox="1"/>
          <p:nvPr/>
        </p:nvSpPr>
        <p:spPr>
          <a:xfrm>
            <a:off x="424568" y="2605492"/>
            <a:ext cx="610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cap="small" dirty="0">
                <a:solidFill>
                  <a:srgbClr val="C00000"/>
                </a:solidFill>
                <a:latin typeface="Garamond" panose="02020404030301010803" pitchFamily="18" charset="0"/>
              </a:rPr>
              <a:t>Question</a:t>
            </a:r>
            <a:r>
              <a:rPr lang="en-US" sz="2800" dirty="0">
                <a:latin typeface="Garamond" panose="02020404030301010803" pitchFamily="18" charset="0"/>
              </a:rPr>
              <a:t>: Is this solution conservative?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F24C5F-04E5-3131-A6CD-9B50E1D59EC4}"/>
              </a:ext>
            </a:extLst>
          </p:cNvPr>
          <p:cNvSpPr txBox="1"/>
          <p:nvPr/>
        </p:nvSpPr>
        <p:spPr>
          <a:xfrm>
            <a:off x="424568" y="4214185"/>
            <a:ext cx="56807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cap="small" dirty="0">
                <a:solidFill>
                  <a:srgbClr val="009193"/>
                </a:solidFill>
                <a:latin typeface="Garamond" panose="02020404030301010803" pitchFamily="18" charset="0"/>
              </a:rPr>
              <a:t>Optimization</a:t>
            </a:r>
            <a:r>
              <a:rPr lang="en-US" sz="2400" dirty="0">
                <a:latin typeface="Garamond" panose="02020404030301010803" pitchFamily="18" charset="0"/>
              </a:rPr>
              <a:t>: Exploiting </a:t>
            </a:r>
            <a:r>
              <a:rPr lang="en-US" sz="2400" b="1" dirty="0">
                <a:latin typeface="Garamond" panose="02020404030301010803" pitchFamily="18" charset="0"/>
              </a:rPr>
              <a:t>compiler information</a:t>
            </a:r>
            <a:r>
              <a:rPr lang="en-US" sz="2400" dirty="0">
                <a:latin typeface="Garamond" panose="02020404030301010803" pitchFamily="18" charset="0"/>
              </a:rPr>
              <a:t> to relax unnecessary restrictions</a:t>
            </a:r>
          </a:p>
        </p:txBody>
      </p:sp>
    </p:spTree>
    <p:extLst>
      <p:ext uri="{BB962C8B-B14F-4D97-AF65-F5344CB8AC3E}">
        <p14:creationId xmlns:p14="http://schemas.microsoft.com/office/powerpoint/2010/main" val="362472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88F0D4-A42E-378A-0F83-DA54BCF9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05421-A2A9-D8C2-E1F0-8294D2214471}"/>
              </a:ext>
            </a:extLst>
          </p:cNvPr>
          <p:cNvSpPr txBox="1"/>
          <p:nvPr/>
        </p:nvSpPr>
        <p:spPr>
          <a:xfrm>
            <a:off x="918394" y="2305036"/>
            <a:ext cx="103552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Garamond" panose="02020404030301010803" pitchFamily="18" charset="0"/>
              </a:rPr>
              <a:t>How to mitigate speculative execution attacks?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C4F66-00C3-83FF-4F8C-1D33AA42A853}"/>
              </a:ext>
            </a:extLst>
          </p:cNvPr>
          <p:cNvSpPr txBox="1"/>
          <p:nvPr/>
        </p:nvSpPr>
        <p:spPr>
          <a:xfrm>
            <a:off x="937408" y="3585199"/>
            <a:ext cx="103171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aramond" panose="02020404030301010803" pitchFamily="18" charset="0"/>
              </a:rPr>
              <a:t>First solution: </a:t>
            </a:r>
            <a:r>
              <a:rPr lang="en-US" sz="3600" b="1" strike="sngStrike" dirty="0">
                <a:solidFill>
                  <a:srgbClr val="C00000"/>
                </a:solidFill>
                <a:latin typeface="Garamond" panose="02020404030301010803" pitchFamily="18" charset="0"/>
              </a:rPr>
              <a:t>Securing the side-channel</a:t>
            </a:r>
          </a:p>
          <a:p>
            <a:pPr algn="ctr"/>
            <a:r>
              <a:rPr lang="en-US" sz="3600" dirty="0">
                <a:latin typeface="Garamond" panose="02020404030301010803" pitchFamily="18" charset="0"/>
              </a:rPr>
              <a:t>Second solution: </a:t>
            </a:r>
            <a:r>
              <a:rPr lang="en-US" sz="3600" b="1" strike="sngStrike" dirty="0">
                <a:solidFill>
                  <a:srgbClr val="C00000"/>
                </a:solidFill>
                <a:latin typeface="Garamond" panose="02020404030301010803" pitchFamily="18" charset="0"/>
              </a:rPr>
              <a:t>Side-channel-agnostic mitigation</a:t>
            </a:r>
          </a:p>
          <a:p>
            <a:pPr algn="ctr"/>
            <a:r>
              <a:rPr lang="en-US" sz="3600" dirty="0">
                <a:latin typeface="Garamond" panose="02020404030301010803" pitchFamily="18" charset="0"/>
              </a:rPr>
              <a:t>Third solution: </a:t>
            </a:r>
            <a:r>
              <a:rPr lang="en-US" sz="3600" b="1" dirty="0">
                <a:solidFill>
                  <a:srgbClr val="009193"/>
                </a:solidFill>
                <a:latin typeface="Garamond" panose="02020404030301010803" pitchFamily="18" charset="0"/>
              </a:rPr>
              <a:t>SW-assistance for the second solution</a:t>
            </a:r>
          </a:p>
        </p:txBody>
      </p:sp>
    </p:spTree>
    <p:extLst>
      <p:ext uri="{BB962C8B-B14F-4D97-AF65-F5344CB8AC3E}">
        <p14:creationId xmlns:p14="http://schemas.microsoft.com/office/powerpoint/2010/main" val="971909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3A80-D384-A6DD-A318-E560C66C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Mitigation</a:t>
            </a:r>
            <a:br>
              <a:rPr lang="en-US" dirty="0"/>
            </a:br>
            <a:r>
              <a:rPr lang="en-US" sz="3200" dirty="0"/>
              <a:t>Software-Assisted Side-Channel-Agnostic Mitigation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280F-B3F3-E599-BBF8-111AE62C4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small" dirty="0">
                <a:solidFill>
                  <a:srgbClr val="009193"/>
                </a:solidFill>
              </a:rPr>
              <a:t>Insight</a:t>
            </a:r>
            <a:r>
              <a:rPr lang="en-US" dirty="0"/>
              <a:t>: </a:t>
            </a:r>
            <a:r>
              <a:rPr lang="en-US" sz="2400" dirty="0"/>
              <a:t>Not all instructions in ROB are dependent to the most recent branch</a:t>
            </a:r>
            <a:r>
              <a:rPr lang="en-US" sz="2400" baseline="30000" dirty="0"/>
              <a:t>1,2</a:t>
            </a:r>
          </a:p>
          <a:p>
            <a:endParaRPr lang="en-US" sz="2400" baseline="30000" dirty="0"/>
          </a:p>
          <a:p>
            <a:endParaRPr lang="en-US" sz="2400" baseline="30000" dirty="0"/>
          </a:p>
          <a:p>
            <a:endParaRPr lang="en-US" sz="2400" baseline="30000" dirty="0"/>
          </a:p>
          <a:p>
            <a:endParaRPr lang="en-US" sz="2400" baseline="30000" dirty="0"/>
          </a:p>
          <a:p>
            <a:endParaRPr lang="en-US" sz="2400" baseline="30000" dirty="0"/>
          </a:p>
          <a:p>
            <a:endParaRPr lang="en-US" sz="2400" baseline="30000" dirty="0"/>
          </a:p>
          <a:p>
            <a:endParaRPr lang="en-US" sz="2400" baseline="30000" dirty="0"/>
          </a:p>
          <a:p>
            <a:endParaRPr lang="en-US" sz="2400" baseline="30000" dirty="0"/>
          </a:p>
          <a:p>
            <a:endParaRPr lang="en-US" baseline="30000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ED709-72A0-43C4-8F09-D9924FB3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78EEE-9BF5-DD78-C6C7-05C18A38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392" y="6359391"/>
            <a:ext cx="7865017" cy="365125"/>
          </a:xfrm>
        </p:spPr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Hajiabadi, Ali, et al. ”NOREBA: compiler-informed non-speculative out-of-order commit processor." ASPLOS’21.</a:t>
            </a:r>
          </a:p>
          <a:p>
            <a:pPr marL="228600" indent="-228600">
              <a:buAutoNum type="arabicPeriod"/>
            </a:pPr>
            <a:r>
              <a:rPr lang="en-US" dirty="0"/>
              <a:t>Zhao, </a:t>
            </a:r>
            <a:r>
              <a:rPr lang="en-US" dirty="0" err="1"/>
              <a:t>Zirui</a:t>
            </a:r>
            <a:r>
              <a:rPr lang="en-US" dirty="0"/>
              <a:t> Neil, et al. "Speculation invariance (</a:t>
            </a:r>
            <a:r>
              <a:rPr lang="en-US" dirty="0" err="1"/>
              <a:t>invarspec</a:t>
            </a:r>
            <a:r>
              <a:rPr lang="en-US" dirty="0"/>
              <a:t>): Faster safe execution through program analysis." MICRO’20.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96945-3310-20F2-81EB-0C66017685B8}"/>
              </a:ext>
            </a:extLst>
          </p:cNvPr>
          <p:cNvSpPr/>
          <p:nvPr/>
        </p:nvSpPr>
        <p:spPr>
          <a:xfrm>
            <a:off x="4587980" y="3532182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2DE6C-0BC5-C9BD-252C-EF0E0076E3FE}"/>
              </a:ext>
            </a:extLst>
          </p:cNvPr>
          <p:cNvSpPr/>
          <p:nvPr/>
        </p:nvSpPr>
        <p:spPr>
          <a:xfrm>
            <a:off x="5754627" y="3532182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2D7710-E4B2-0EEF-AC62-D7B814ED058A}"/>
              </a:ext>
            </a:extLst>
          </p:cNvPr>
          <p:cNvSpPr/>
          <p:nvPr/>
        </p:nvSpPr>
        <p:spPr>
          <a:xfrm>
            <a:off x="6921274" y="3532182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A820AE-BF31-E532-87BC-518DE24BC627}"/>
              </a:ext>
            </a:extLst>
          </p:cNvPr>
          <p:cNvSpPr/>
          <p:nvPr/>
        </p:nvSpPr>
        <p:spPr>
          <a:xfrm>
            <a:off x="8230544" y="3532182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BB5B7B-ADD8-952E-F65B-660FFB0F48C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406529" y="3710858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37C81F-668A-6313-9923-42D7C3D6661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73176" y="3710858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E3371D-9590-E269-5F58-F056629D21F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39823" y="3710858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20">
            <a:extLst>
              <a:ext uri="{FF2B5EF4-FFF2-40B4-BE49-F238E27FC236}">
                <a16:creationId xmlns:a16="http://schemas.microsoft.com/office/drawing/2014/main" id="{2216AEED-7052-8A44-E4FE-2A419F697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17414"/>
              </p:ext>
            </p:extLst>
          </p:nvPr>
        </p:nvGraphicFramePr>
        <p:xfrm>
          <a:off x="6675498" y="4308600"/>
          <a:ext cx="1431166" cy="11225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3712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  <a:gridCol w="337454">
                  <a:extLst>
                    <a:ext uri="{9D8B030D-6E8A-4147-A177-3AD203B41FA5}">
                      <a16:colId xmlns:a16="http://schemas.microsoft.com/office/drawing/2014/main" val="924220692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Monaco" pitchFamily="2" charset="77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368126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Monaco" pitchFamily="2" charset="7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Independent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dependent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6135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6865B21-5B14-C65E-B7D9-19F9FDC43F2B}"/>
              </a:ext>
            </a:extLst>
          </p:cNvPr>
          <p:cNvSpPr txBox="1"/>
          <p:nvPr/>
        </p:nvSpPr>
        <p:spPr>
          <a:xfrm>
            <a:off x="8197303" y="4282114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5C16FE-D500-B5AE-A70B-5FCEE50476E5}"/>
              </a:ext>
            </a:extLst>
          </p:cNvPr>
          <p:cNvSpPr txBox="1"/>
          <p:nvPr/>
        </p:nvSpPr>
        <p:spPr>
          <a:xfrm>
            <a:off x="8225563" y="5157522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E177BF8-6C51-DA7B-21F7-6996692C0290}"/>
              </a:ext>
            </a:extLst>
          </p:cNvPr>
          <p:cNvSpPr/>
          <p:nvPr/>
        </p:nvSpPr>
        <p:spPr>
          <a:xfrm rot="10800000">
            <a:off x="8144364" y="4348423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F4AD67CC-1C7C-00AD-409B-DC1A2418D192}"/>
              </a:ext>
            </a:extLst>
          </p:cNvPr>
          <p:cNvSpPr/>
          <p:nvPr/>
        </p:nvSpPr>
        <p:spPr>
          <a:xfrm rot="10800000">
            <a:off x="8172623" y="5235449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BF9E4C-A517-D13D-B2A4-30EECA0A15C6}"/>
              </a:ext>
            </a:extLst>
          </p:cNvPr>
          <p:cNvSpPr txBox="1"/>
          <p:nvPr/>
        </p:nvSpPr>
        <p:spPr>
          <a:xfrm>
            <a:off x="6804225" y="5431106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2BC0825F-63D5-6B6A-88D7-651241583F35}"/>
              </a:ext>
            </a:extLst>
          </p:cNvPr>
          <p:cNvCxnSpPr>
            <a:cxnSpLocks/>
            <a:stCxn id="7" idx="2"/>
            <a:endCxn id="13" idx="1"/>
          </p:cNvCxnSpPr>
          <p:nvPr/>
        </p:nvCxnSpPr>
        <p:spPr>
          <a:xfrm rot="16200000" flipH="1">
            <a:off x="5929541" y="4123895"/>
            <a:ext cx="980319" cy="51159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ACBF682-0FE7-E243-0923-5D9164D703DD}"/>
              </a:ext>
            </a:extLst>
          </p:cNvPr>
          <p:cNvCxnSpPr>
            <a:cxnSpLocks/>
            <a:stCxn id="13" idx="3"/>
            <a:endCxn id="9" idx="2"/>
          </p:cNvCxnSpPr>
          <p:nvPr/>
        </p:nvCxnSpPr>
        <p:spPr>
          <a:xfrm flipV="1">
            <a:off x="8106664" y="3889534"/>
            <a:ext cx="533155" cy="98031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33">
            <a:extLst>
              <a:ext uri="{FF2B5EF4-FFF2-40B4-BE49-F238E27FC236}">
                <a16:creationId xmlns:a16="http://schemas.microsoft.com/office/drawing/2014/main" id="{E68D8E63-6693-A421-4C5A-F9E9AD3EB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061270"/>
              </p:ext>
            </p:extLst>
          </p:nvPr>
        </p:nvGraphicFramePr>
        <p:xfrm>
          <a:off x="8167559" y="2347666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50127FC-4FCE-4C63-9AB0-092BE38B5920}"/>
              </a:ext>
            </a:extLst>
          </p:cNvPr>
          <p:cNvSpPr txBox="1"/>
          <p:nvPr/>
        </p:nvSpPr>
        <p:spPr>
          <a:xfrm>
            <a:off x="7135388" y="239392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80CDC2EA-17C9-EB62-A354-383DA2ED8649}"/>
              </a:ext>
            </a:extLst>
          </p:cNvPr>
          <p:cNvCxnSpPr>
            <a:cxnSpLocks/>
            <a:stCxn id="8" idx="0"/>
            <a:endCxn id="21" idx="1"/>
          </p:cNvCxnSpPr>
          <p:nvPr/>
        </p:nvCxnSpPr>
        <p:spPr>
          <a:xfrm rot="5400000" flipH="1" flipV="1">
            <a:off x="7408256" y="2772879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35">
            <a:extLst>
              <a:ext uri="{FF2B5EF4-FFF2-40B4-BE49-F238E27FC236}">
                <a16:creationId xmlns:a16="http://schemas.microsoft.com/office/drawing/2014/main" id="{DE8DFA10-720C-7725-2170-BDE105C8F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202399"/>
              </p:ext>
            </p:extLst>
          </p:nvPr>
        </p:nvGraphicFramePr>
        <p:xfrm>
          <a:off x="9539268" y="3112260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AAE36C-4E0C-174E-8564-51573360E562}"/>
              </a:ext>
            </a:extLst>
          </p:cNvPr>
          <p:cNvSpPr txBox="1"/>
          <p:nvPr/>
        </p:nvSpPr>
        <p:spPr>
          <a:xfrm>
            <a:off x="9933073" y="2798880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319D0A-0061-BE05-F2C0-3B8C82F9C502}"/>
              </a:ext>
            </a:extLst>
          </p:cNvPr>
          <p:cNvSpPr/>
          <p:nvPr/>
        </p:nvSpPr>
        <p:spPr>
          <a:xfrm>
            <a:off x="9151593" y="5446207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61C297-7E6B-CE58-2350-C08842760DC0}"/>
              </a:ext>
            </a:extLst>
          </p:cNvPr>
          <p:cNvSpPr txBox="1"/>
          <p:nvPr/>
        </p:nvSpPr>
        <p:spPr>
          <a:xfrm>
            <a:off x="9380449" y="5379783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680D53-3DE3-4EA6-E732-0279B366FCE3}"/>
              </a:ext>
            </a:extLst>
          </p:cNvPr>
          <p:cNvSpPr/>
          <p:nvPr/>
        </p:nvSpPr>
        <p:spPr>
          <a:xfrm>
            <a:off x="9151593" y="5719594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E7DE6F-9955-AEF6-E281-DC43A67BC529}"/>
              </a:ext>
            </a:extLst>
          </p:cNvPr>
          <p:cNvSpPr txBox="1"/>
          <p:nvPr/>
        </p:nvSpPr>
        <p:spPr>
          <a:xfrm>
            <a:off x="9380449" y="5653170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973710-70F0-B00A-C9B8-2B4E02F010EF}"/>
              </a:ext>
            </a:extLst>
          </p:cNvPr>
          <p:cNvSpPr txBox="1"/>
          <p:nvPr/>
        </p:nvSpPr>
        <p:spPr>
          <a:xfrm>
            <a:off x="7516562" y="4013634"/>
            <a:ext cx="883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Restricted?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5BB350C-740E-AD18-EB70-A9C3A1B81D5E}"/>
              </a:ext>
            </a:extLst>
          </p:cNvPr>
          <p:cNvGrpSpPr/>
          <p:nvPr/>
        </p:nvGrpSpPr>
        <p:grpSpPr>
          <a:xfrm>
            <a:off x="288392" y="3877554"/>
            <a:ext cx="2679459" cy="461665"/>
            <a:chOff x="0" y="3877554"/>
            <a:chExt cx="2679459" cy="461665"/>
          </a:xfrm>
        </p:grpSpPr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1CE348BD-90B3-E96B-5B3E-3432B2471AD5}"/>
                </a:ext>
              </a:extLst>
            </p:cNvPr>
            <p:cNvSpPr/>
            <p:nvPr/>
          </p:nvSpPr>
          <p:spPr>
            <a:xfrm>
              <a:off x="2342574" y="3968453"/>
              <a:ext cx="336885" cy="309472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F4BF7DF-05E4-BE28-16E5-2901207F4A87}"/>
                </a:ext>
              </a:extLst>
            </p:cNvPr>
            <p:cNvSpPr txBox="1"/>
            <p:nvPr/>
          </p:nvSpPr>
          <p:spPr>
            <a:xfrm>
              <a:off x="0" y="3877554"/>
              <a:ext cx="2433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Communicating non-speculative dependency information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AE758A5-D473-DCEC-E65D-317FFD81EB38}"/>
              </a:ext>
            </a:extLst>
          </p:cNvPr>
          <p:cNvGrpSpPr/>
          <p:nvPr/>
        </p:nvGrpSpPr>
        <p:grpSpPr>
          <a:xfrm>
            <a:off x="870117" y="2933964"/>
            <a:ext cx="3345381" cy="839084"/>
            <a:chOff x="581725" y="2933964"/>
            <a:chExt cx="3345381" cy="839084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F73FBA5-6DAD-7F29-B4C2-50ADEA77D179}"/>
                </a:ext>
              </a:extLst>
            </p:cNvPr>
            <p:cNvSpPr/>
            <p:nvPr/>
          </p:nvSpPr>
          <p:spPr>
            <a:xfrm>
              <a:off x="1095269" y="2933964"/>
              <a:ext cx="2831837" cy="839084"/>
            </a:xfrm>
            <a:prstGeom prst="rect">
              <a:avLst/>
            </a:prstGeom>
            <a:solidFill>
              <a:srgbClr val="005493"/>
            </a:solidFill>
            <a:ln>
              <a:solidFill>
                <a:srgbClr val="0054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Compiler Static Analysis</a:t>
              </a:r>
            </a:p>
            <a:p>
              <a:pPr algn="ctr"/>
              <a:r>
                <a:rPr lang="en-US" sz="1200" dirty="0"/>
                <a:t>Marks branch </a:t>
              </a:r>
              <a:r>
                <a:rPr lang="en-US" sz="1200" dirty="0" err="1"/>
                <a:t>dpdendent</a:t>
              </a:r>
              <a:r>
                <a:rPr lang="en-US" sz="1200" dirty="0"/>
                <a:t> instructions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33F7F15-DF07-359C-4345-068C95E7CC4C}"/>
                </a:ext>
              </a:extLst>
            </p:cNvPr>
            <p:cNvSpPr/>
            <p:nvPr/>
          </p:nvSpPr>
          <p:spPr>
            <a:xfrm>
              <a:off x="581725" y="3170626"/>
              <a:ext cx="385010" cy="365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0054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5493"/>
                  </a:solidFill>
                </a:rPr>
                <a:t>1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90185A8-49ED-A256-7B77-881E33AE5083}"/>
              </a:ext>
            </a:extLst>
          </p:cNvPr>
          <p:cNvGrpSpPr/>
          <p:nvPr/>
        </p:nvGrpSpPr>
        <p:grpSpPr>
          <a:xfrm>
            <a:off x="869934" y="4474156"/>
            <a:ext cx="3345565" cy="839084"/>
            <a:chOff x="581542" y="4474156"/>
            <a:chExt cx="3345565" cy="83908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34A9653-A5EE-B68D-E7DB-9DB337704A81}"/>
                </a:ext>
              </a:extLst>
            </p:cNvPr>
            <p:cNvSpPr/>
            <p:nvPr/>
          </p:nvSpPr>
          <p:spPr>
            <a:xfrm>
              <a:off x="1095270" y="4474156"/>
              <a:ext cx="2831837" cy="839084"/>
            </a:xfrm>
            <a:prstGeom prst="rect">
              <a:avLst/>
            </a:prstGeom>
            <a:solidFill>
              <a:srgbClr val="009193"/>
            </a:solidFill>
            <a:ln>
              <a:solidFill>
                <a:srgbClr val="0091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Enhanced HW Mitigation</a:t>
              </a:r>
            </a:p>
            <a:p>
              <a:pPr algn="ctr"/>
              <a:r>
                <a:rPr lang="en-US" sz="1200" dirty="0"/>
                <a:t>Lifts execution restrictions from any instruction independent from the branch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CA6C8AD-D2C3-D0BD-D689-F959C99EFCF7}"/>
                </a:ext>
              </a:extLst>
            </p:cNvPr>
            <p:cNvSpPr/>
            <p:nvPr/>
          </p:nvSpPr>
          <p:spPr>
            <a:xfrm>
              <a:off x="581542" y="4747133"/>
              <a:ext cx="385010" cy="365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0091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9193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761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4" grpId="0"/>
      <p:bldP spid="15" grpId="0"/>
      <p:bldP spid="16" grpId="0" animBg="1"/>
      <p:bldP spid="17" grpId="0" animBg="1"/>
      <p:bldP spid="18" grpId="0"/>
      <p:bldP spid="22" grpId="0"/>
      <p:bldP spid="25" grpId="0"/>
      <p:bldP spid="28" grpId="0" animBg="1"/>
      <p:bldP spid="29" grpId="0"/>
      <p:bldP spid="30" grpId="0" animBg="1"/>
      <p:bldP spid="31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3A80-D384-A6DD-A318-E560C66C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</a:t>
            </a:r>
            <a:br>
              <a:rPr lang="en-US" dirty="0"/>
            </a:br>
            <a:r>
              <a:rPr lang="en-US" sz="3200" dirty="0"/>
              <a:t>Software-Assisted Side-Channel-Agnostic Mitigation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280F-B3F3-E599-BBF8-111AE62C4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/>
              <a:t>Core configuration</a:t>
            </a:r>
            <a:r>
              <a:rPr lang="en-US" sz="2400" dirty="0"/>
              <a:t>: 8-issue, 32 LQ/SQ entries, 192 ROB entries, Tournament BP</a:t>
            </a:r>
          </a:p>
          <a:p>
            <a:r>
              <a:rPr lang="en-US" sz="2400" i="1" dirty="0"/>
              <a:t>L1i / L1d / L2 / L3 Cache</a:t>
            </a:r>
            <a:r>
              <a:rPr lang="en-US" sz="2400" dirty="0"/>
              <a:t>: 32KB, 32KB, 256KB, 1MB</a:t>
            </a:r>
          </a:p>
          <a:p>
            <a:r>
              <a:rPr lang="en-US" sz="2400" i="1" dirty="0"/>
              <a:t>Mitigation mode</a:t>
            </a:r>
            <a:r>
              <a:rPr lang="en-US" sz="2400" dirty="0"/>
              <a:t>: Memory + Register protection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ED709-72A0-43C4-8F09-D9924FB3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78EEE-9BF5-DD78-C6C7-05C18A38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1017" y="6359391"/>
            <a:ext cx="7315739" cy="365125"/>
          </a:xfrm>
        </p:spPr>
        <p:txBody>
          <a:bodyPr/>
          <a:lstStyle/>
          <a:p>
            <a:r>
              <a:rPr lang="en-US" dirty="0"/>
              <a:t>1. Hajiabadi, Ali, et al. ”NOREBA: compiler-informed non-speculative out-of-order commit processor." ASPLOS’21.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4ACE600-BED5-CB43-17D3-3A541F58C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7758192" cy="2598482"/>
          </a:xfrm>
          <a:prstGeom prst="rect">
            <a:avLst/>
          </a:prstGeom>
        </p:spPr>
      </p:pic>
      <p:graphicFrame>
        <p:nvGraphicFramePr>
          <p:cNvPr id="42" name="Table 16">
            <a:extLst>
              <a:ext uri="{FF2B5EF4-FFF2-40B4-BE49-F238E27FC236}">
                <a16:creationId xmlns:a16="http://schemas.microsoft.com/office/drawing/2014/main" id="{1BA7936C-D8AD-F7FF-F065-923C7DB44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084857"/>
              </p:ext>
            </p:extLst>
          </p:nvPr>
        </p:nvGraphicFramePr>
        <p:xfrm>
          <a:off x="8718999" y="3822759"/>
          <a:ext cx="2634800" cy="18109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3320">
                  <a:extLst>
                    <a:ext uri="{9D8B030D-6E8A-4147-A177-3AD203B41FA5}">
                      <a16:colId xmlns:a16="http://schemas.microsoft.com/office/drawing/2014/main" val="3171150729"/>
                    </a:ext>
                  </a:extLst>
                </a:gridCol>
                <a:gridCol w="1511480">
                  <a:extLst>
                    <a:ext uri="{9D8B030D-6E8A-4147-A177-3AD203B41FA5}">
                      <a16:colId xmlns:a16="http://schemas.microsoft.com/office/drawing/2014/main" val="483103147"/>
                    </a:ext>
                  </a:extLst>
                </a:gridCol>
              </a:tblGrid>
              <a:tr h="323201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Overhead over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94616"/>
                  </a:ext>
                </a:extLst>
              </a:tr>
              <a:tr h="323201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(M+R)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931501"/>
                  </a:ext>
                </a:extLst>
              </a:tr>
              <a:tr h="323201">
                <a:tc>
                  <a:txBody>
                    <a:bodyPr/>
                    <a:lstStyle/>
                    <a:p>
                      <a:r>
                        <a:rPr lang="en-US" sz="1400" dirty="0"/>
                        <a:t>STT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37.0%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393198"/>
                  </a:ext>
                </a:extLst>
              </a:tr>
              <a:tr h="323201">
                <a:tc>
                  <a:txBody>
                    <a:bodyPr/>
                    <a:lstStyle/>
                    <a:p>
                      <a:r>
                        <a:rPr lang="en-US" sz="1400" dirty="0"/>
                        <a:t>DOLMA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32.3%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405489"/>
                  </a:ext>
                </a:extLst>
              </a:tr>
              <a:tr h="323201">
                <a:tc>
                  <a:txBody>
                    <a:bodyPr/>
                    <a:lstStyle/>
                    <a:p>
                      <a:r>
                        <a:rPr lang="en-US" sz="1400" dirty="0"/>
                        <a:t>DOLMA-CI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15.1%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44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402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EB8A-D57D-137D-E17F-021C874C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Mitigation</a:t>
            </a:r>
            <a:br>
              <a:rPr lang="en-US" dirty="0"/>
            </a:br>
            <a:r>
              <a:rPr lang="en-US" sz="3200" dirty="0"/>
              <a:t>Side-Channel-Agnostic Mitigation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90D4-7D45-DF07-FA26-BF680E7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2BEDB-AE11-8769-779E-AA23E027B459}"/>
              </a:ext>
            </a:extLst>
          </p:cNvPr>
          <p:cNvSpPr/>
          <p:nvPr/>
        </p:nvSpPr>
        <p:spPr>
          <a:xfrm>
            <a:off x="4567107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5A92B-E56A-8020-2D8F-AC6F9771D356}"/>
              </a:ext>
            </a:extLst>
          </p:cNvPr>
          <p:cNvSpPr/>
          <p:nvPr/>
        </p:nvSpPr>
        <p:spPr>
          <a:xfrm>
            <a:off x="5733754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63461-CAAB-E423-1DB9-5E374C3E354B}"/>
              </a:ext>
            </a:extLst>
          </p:cNvPr>
          <p:cNvSpPr/>
          <p:nvPr/>
        </p:nvSpPr>
        <p:spPr>
          <a:xfrm>
            <a:off x="690040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D6665-E1C8-22DE-CA66-9FD6E2703654}"/>
              </a:ext>
            </a:extLst>
          </p:cNvPr>
          <p:cNvSpPr/>
          <p:nvPr/>
        </p:nvSpPr>
        <p:spPr>
          <a:xfrm>
            <a:off x="8209671" y="3399215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2EE47-257A-F1B7-2E06-D013085CC7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85656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83C0C-03F1-1AB9-0CBA-BF304DD094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52303" y="3577891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2792-3525-1449-50EB-CBDF8C60B1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18950" y="3577891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79E9C21-6CAC-68CB-6A9E-89EEEF33CAE2}"/>
              </a:ext>
            </a:extLst>
          </p:cNvPr>
          <p:cNvCxnSpPr>
            <a:cxnSpLocks/>
            <a:stCxn id="7" idx="2"/>
            <a:endCxn id="35" idx="1"/>
          </p:cNvCxnSpPr>
          <p:nvPr/>
        </p:nvCxnSpPr>
        <p:spPr>
          <a:xfrm rot="16200000" flipH="1">
            <a:off x="5796164" y="4103431"/>
            <a:ext cx="1113286" cy="4195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7384ED6-2DED-4947-E4D4-D9C930628AA8}"/>
              </a:ext>
            </a:extLst>
          </p:cNvPr>
          <p:cNvCxnSpPr>
            <a:cxnSpLocks/>
            <a:stCxn id="35" idx="3"/>
            <a:endCxn id="9" idx="2"/>
          </p:cNvCxnSpPr>
          <p:nvPr/>
        </p:nvCxnSpPr>
        <p:spPr>
          <a:xfrm flipV="1">
            <a:off x="7993752" y="3756567"/>
            <a:ext cx="625194" cy="11132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029993A-F56C-3BB8-9ED4-1C8D33BAC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029754"/>
              </p:ext>
            </p:extLst>
          </p:nvPr>
        </p:nvGraphicFramePr>
        <p:xfrm>
          <a:off x="8146686" y="2214699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F20EF39-D08A-DE43-3DFC-3A684C0F6522}"/>
              </a:ext>
            </a:extLst>
          </p:cNvPr>
          <p:cNvSpPr txBox="1"/>
          <p:nvPr/>
        </p:nvSpPr>
        <p:spPr>
          <a:xfrm>
            <a:off x="8142569" y="192344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44055F9-E84C-7329-944B-45354B23AE61}"/>
              </a:ext>
            </a:extLst>
          </p:cNvPr>
          <p:cNvCxnSpPr>
            <a:cxnSpLocks/>
            <a:stCxn id="8" idx="0"/>
            <a:endCxn id="33" idx="1"/>
          </p:cNvCxnSpPr>
          <p:nvPr/>
        </p:nvCxnSpPr>
        <p:spPr>
          <a:xfrm rot="5400000" flipH="1" flipV="1">
            <a:off x="7387383" y="2639912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5">
            <a:extLst>
              <a:ext uri="{FF2B5EF4-FFF2-40B4-BE49-F238E27FC236}">
                <a16:creationId xmlns:a16="http://schemas.microsoft.com/office/drawing/2014/main" id="{9E6AC3CC-E333-029B-21AC-E5EB411A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50045"/>
              </p:ext>
            </p:extLst>
          </p:nvPr>
        </p:nvGraphicFramePr>
        <p:xfrm>
          <a:off x="9518395" y="2979293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32EC7E9-4CD8-3F6E-7247-1193C928ECB0}"/>
              </a:ext>
            </a:extLst>
          </p:cNvPr>
          <p:cNvSpPr txBox="1"/>
          <p:nvPr/>
        </p:nvSpPr>
        <p:spPr>
          <a:xfrm>
            <a:off x="9912200" y="266591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0C259BF2-0D07-1569-E57A-90076A94C36C}"/>
              </a:ext>
            </a:extLst>
          </p:cNvPr>
          <p:cNvSpPr/>
          <p:nvPr/>
        </p:nvSpPr>
        <p:spPr>
          <a:xfrm>
            <a:off x="11023740" y="3220539"/>
            <a:ext cx="182880" cy="1253366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D80BF7-71E7-B685-FBD9-93FFFB3BBB0E}"/>
              </a:ext>
            </a:extLst>
          </p:cNvPr>
          <p:cNvSpPr txBox="1"/>
          <p:nvPr/>
        </p:nvSpPr>
        <p:spPr>
          <a:xfrm>
            <a:off x="11206620" y="3693333"/>
            <a:ext cx="71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Array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DE51CA-AE0F-9831-463E-A97FE443CDE2}"/>
              </a:ext>
            </a:extLst>
          </p:cNvPr>
          <p:cNvSpPr/>
          <p:nvPr/>
        </p:nvSpPr>
        <p:spPr>
          <a:xfrm>
            <a:off x="9130720" y="5313240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584750-AAF8-FAED-B622-1ED391C4648A}"/>
              </a:ext>
            </a:extLst>
          </p:cNvPr>
          <p:cNvSpPr txBox="1"/>
          <p:nvPr/>
        </p:nvSpPr>
        <p:spPr>
          <a:xfrm>
            <a:off x="9359576" y="5246816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C534D9-914F-F907-BAF2-E11FF336E188}"/>
              </a:ext>
            </a:extLst>
          </p:cNvPr>
          <p:cNvSpPr/>
          <p:nvPr/>
        </p:nvSpPr>
        <p:spPr>
          <a:xfrm>
            <a:off x="9130720" y="5586627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43478F-1155-5A00-CBF8-1D4F9498BA33}"/>
              </a:ext>
            </a:extLst>
          </p:cNvPr>
          <p:cNvSpPr txBox="1"/>
          <p:nvPr/>
        </p:nvSpPr>
        <p:spPr>
          <a:xfrm>
            <a:off x="9359576" y="5520203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  <p:graphicFrame>
        <p:nvGraphicFramePr>
          <p:cNvPr id="35" name="Table 20">
            <a:extLst>
              <a:ext uri="{FF2B5EF4-FFF2-40B4-BE49-F238E27FC236}">
                <a16:creationId xmlns:a16="http://schemas.microsoft.com/office/drawing/2014/main" id="{C637DFD4-61D4-2431-2EEC-F3F8494F8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690513"/>
              </p:ext>
            </p:extLst>
          </p:nvPr>
        </p:nvGraphicFramePr>
        <p:xfrm>
          <a:off x="6562586" y="4308600"/>
          <a:ext cx="1431166" cy="11225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3712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  <a:gridCol w="337454">
                  <a:extLst>
                    <a:ext uri="{9D8B030D-6E8A-4147-A177-3AD203B41FA5}">
                      <a16:colId xmlns:a16="http://schemas.microsoft.com/office/drawing/2014/main" val="924220692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Monaco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368126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Monaco" pitchFamily="2" charset="7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Independent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dependent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6135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C35F4481-16A1-7730-25F3-E35BB5E7C127}"/>
              </a:ext>
            </a:extLst>
          </p:cNvPr>
          <p:cNvSpPr txBox="1"/>
          <p:nvPr/>
        </p:nvSpPr>
        <p:spPr>
          <a:xfrm>
            <a:off x="8114309" y="4278699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4B3D1C-1EB2-B911-9893-8768DC77CF8B}"/>
              </a:ext>
            </a:extLst>
          </p:cNvPr>
          <p:cNvSpPr txBox="1"/>
          <p:nvPr/>
        </p:nvSpPr>
        <p:spPr>
          <a:xfrm>
            <a:off x="8114309" y="5154107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9AED1235-8D08-CBC8-D51F-7AB20F221F86}"/>
              </a:ext>
            </a:extLst>
          </p:cNvPr>
          <p:cNvSpPr/>
          <p:nvPr/>
        </p:nvSpPr>
        <p:spPr>
          <a:xfrm rot="10800000">
            <a:off x="8061370" y="4345008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AA42F9E1-4873-6F70-A9F1-399E12B6160E}"/>
              </a:ext>
            </a:extLst>
          </p:cNvPr>
          <p:cNvSpPr/>
          <p:nvPr/>
        </p:nvSpPr>
        <p:spPr>
          <a:xfrm rot="10800000">
            <a:off x="8061369" y="5232034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713714-7E93-FAED-B756-3372B89308E1}"/>
              </a:ext>
            </a:extLst>
          </p:cNvPr>
          <p:cNvSpPr txBox="1"/>
          <p:nvPr/>
        </p:nvSpPr>
        <p:spPr>
          <a:xfrm>
            <a:off x="6654625" y="5431106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97BD92-1D36-2379-473F-00B4F20A655E}"/>
              </a:ext>
            </a:extLst>
          </p:cNvPr>
          <p:cNvSpPr txBox="1"/>
          <p:nvPr/>
        </p:nvSpPr>
        <p:spPr>
          <a:xfrm>
            <a:off x="7401193" y="4021895"/>
            <a:ext cx="883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Restricted?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A2A5C2-2826-1DA4-DD06-455DF2F183A6}"/>
              </a:ext>
            </a:extLst>
          </p:cNvPr>
          <p:cNvSpPr txBox="1"/>
          <p:nvPr/>
        </p:nvSpPr>
        <p:spPr>
          <a:xfrm>
            <a:off x="830352" y="2055036"/>
            <a:ext cx="5784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Disadvantage</a:t>
            </a:r>
            <a:r>
              <a:rPr lang="en-US" sz="2000" dirty="0"/>
              <a:t>: </a:t>
            </a:r>
            <a:r>
              <a:rPr lang="en-US" sz="2000" i="1" dirty="0"/>
              <a:t>Still many components in the core keep </a:t>
            </a:r>
            <a:r>
              <a:rPr lang="en-US" sz="2000" b="1" i="1" dirty="0"/>
              <a:t>speculative state </a:t>
            </a:r>
            <a:r>
              <a:rPr lang="en-US" sz="2000" i="1" dirty="0"/>
              <a:t>and can serve as a </a:t>
            </a:r>
            <a:r>
              <a:rPr lang="en-US" sz="2000" b="1" i="1" dirty="0"/>
              <a:t>side-channel</a:t>
            </a:r>
            <a:endParaRPr lang="en-US" sz="20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568F58-BF43-64B4-68BE-5A3B3DB789C1}"/>
              </a:ext>
            </a:extLst>
          </p:cNvPr>
          <p:cNvSpPr txBox="1"/>
          <p:nvPr/>
        </p:nvSpPr>
        <p:spPr>
          <a:xfrm>
            <a:off x="885053" y="4052975"/>
            <a:ext cx="4961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Vulnerability Example</a:t>
            </a:r>
            <a:r>
              <a:rPr lang="en-US" sz="2000" dirty="0"/>
              <a:t>: </a:t>
            </a:r>
            <a:r>
              <a:rPr lang="en-US" sz="2000" i="1" dirty="0"/>
              <a:t>Intentionally executing independent vs. dependent instructions and use ROB contention as a side-channel </a:t>
            </a:r>
            <a:r>
              <a:rPr lang="en-US" sz="2000" dirty="0"/>
              <a:t>(Speculative Interference Attacks)</a:t>
            </a:r>
            <a:r>
              <a:rPr lang="en-US" sz="2000" baseline="30000" dirty="0"/>
              <a:t>1,2</a:t>
            </a:r>
            <a:endParaRPr lang="en-US" sz="2000" b="1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1C457C0-0880-B23F-3ADB-DE3D914E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39624" y="6356350"/>
            <a:ext cx="8826366" cy="365125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Behnia</a:t>
            </a:r>
            <a:r>
              <a:rPr lang="en-US" dirty="0"/>
              <a:t>, Mohammad, et al. "Speculative interference attacks: Breaking invisible speculation schemes." </a:t>
            </a:r>
            <a:r>
              <a:rPr lang="en-US" i="1" dirty="0"/>
              <a:t>ASPLOS’21</a:t>
            </a:r>
            <a:r>
              <a:rPr lang="en-US" dirty="0"/>
              <a:t>.</a:t>
            </a:r>
          </a:p>
          <a:p>
            <a:r>
              <a:rPr lang="en-US" dirty="0"/>
              <a:t>2. </a:t>
            </a:r>
            <a:r>
              <a:rPr lang="en-US" dirty="0" err="1"/>
              <a:t>Aimoniotis</a:t>
            </a:r>
            <a:r>
              <a:rPr lang="en-US" dirty="0"/>
              <a:t>, </a:t>
            </a:r>
            <a:r>
              <a:rPr lang="en-US" dirty="0" err="1"/>
              <a:t>Pavlos</a:t>
            </a:r>
            <a:r>
              <a:rPr lang="en-US" dirty="0"/>
              <a:t>, et al. "" It's a Trap!"-How Speculation Invariance Can Be Abused with Forward Speculative Interference." </a:t>
            </a:r>
            <a:r>
              <a:rPr lang="en-US" i="1" dirty="0" err="1"/>
              <a:t>arXiv</a:t>
            </a:r>
            <a:r>
              <a:rPr lang="en-US" i="1" dirty="0"/>
              <a:t> (2021).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B23465C-B923-4C61-2ECF-65ADB02E8034}"/>
              </a:ext>
            </a:extLst>
          </p:cNvPr>
          <p:cNvSpPr/>
          <p:nvPr/>
        </p:nvSpPr>
        <p:spPr>
          <a:xfrm>
            <a:off x="6352807" y="4195359"/>
            <a:ext cx="1814440" cy="734654"/>
          </a:xfrm>
          <a:prstGeom prst="ellipse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7291AC6-A645-BE10-4696-04516451A606}"/>
              </a:ext>
            </a:extLst>
          </p:cNvPr>
          <p:cNvSpPr/>
          <p:nvPr/>
        </p:nvSpPr>
        <p:spPr>
          <a:xfrm>
            <a:off x="6360920" y="5084184"/>
            <a:ext cx="1814440" cy="450220"/>
          </a:xfrm>
          <a:prstGeom prst="ellipse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BF6D83-66A3-95B7-CC8A-328D1D5833EE}"/>
              </a:ext>
            </a:extLst>
          </p:cNvPr>
          <p:cNvSpPr txBox="1"/>
          <p:nvPr/>
        </p:nvSpPr>
        <p:spPr>
          <a:xfrm>
            <a:off x="4306502" y="5643314"/>
            <a:ext cx="1802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Speculative state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3DEA232-5922-00A4-F2B4-941D810282CC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5457524" y="4562686"/>
            <a:ext cx="895283" cy="1080628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041112E-FEDC-36D3-0F95-FA964525D2BC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5733754" y="5309294"/>
            <a:ext cx="627166" cy="334020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7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7" grpId="0" animBg="1"/>
      <p:bldP spid="55" grpId="0" animBg="1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88F0D4-A42E-378A-0F83-DA54BCF9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05421-A2A9-D8C2-E1F0-8294D2214471}"/>
              </a:ext>
            </a:extLst>
          </p:cNvPr>
          <p:cNvSpPr txBox="1"/>
          <p:nvPr/>
        </p:nvSpPr>
        <p:spPr>
          <a:xfrm>
            <a:off x="918394" y="2305036"/>
            <a:ext cx="103552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Garamond" panose="02020404030301010803" pitchFamily="18" charset="0"/>
              </a:rPr>
              <a:t>How to mitigate speculative execution attacks?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C4F66-00C3-83FF-4F8C-1D33AA42A853}"/>
              </a:ext>
            </a:extLst>
          </p:cNvPr>
          <p:cNvSpPr txBox="1"/>
          <p:nvPr/>
        </p:nvSpPr>
        <p:spPr>
          <a:xfrm>
            <a:off x="549226" y="3585199"/>
            <a:ext cx="110935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aramond" panose="02020404030301010803" pitchFamily="18" charset="0"/>
              </a:rPr>
              <a:t>First solution: </a:t>
            </a:r>
            <a:r>
              <a:rPr lang="en-US" sz="3600" b="1" strike="sngStrike" dirty="0">
                <a:solidFill>
                  <a:srgbClr val="C00000"/>
                </a:solidFill>
                <a:latin typeface="Garamond" panose="02020404030301010803" pitchFamily="18" charset="0"/>
              </a:rPr>
              <a:t>Securing the side-channel</a:t>
            </a:r>
          </a:p>
          <a:p>
            <a:pPr algn="ctr"/>
            <a:r>
              <a:rPr lang="en-US" sz="3600" dirty="0">
                <a:latin typeface="Garamond" panose="02020404030301010803" pitchFamily="18" charset="0"/>
              </a:rPr>
              <a:t>Second solution: </a:t>
            </a:r>
            <a:r>
              <a:rPr lang="en-US" sz="3600" b="1" strike="sngStrike" dirty="0">
                <a:solidFill>
                  <a:srgbClr val="C00000"/>
                </a:solidFill>
                <a:latin typeface="Garamond" panose="02020404030301010803" pitchFamily="18" charset="0"/>
              </a:rPr>
              <a:t>Side-channel-agnostic mitigation</a:t>
            </a:r>
          </a:p>
          <a:p>
            <a:pPr algn="ctr"/>
            <a:r>
              <a:rPr lang="en-US" sz="3600" dirty="0">
                <a:latin typeface="Garamond" panose="02020404030301010803" pitchFamily="18" charset="0"/>
              </a:rPr>
              <a:t>Third solution: </a:t>
            </a:r>
            <a:r>
              <a:rPr lang="en-US" sz="3600" b="1" strike="sngStrike" dirty="0">
                <a:solidFill>
                  <a:srgbClr val="C00000"/>
                </a:solidFill>
                <a:latin typeface="Garamond" panose="02020404030301010803" pitchFamily="18" charset="0"/>
              </a:rPr>
              <a:t>SW-assistance for the second solution</a:t>
            </a:r>
          </a:p>
          <a:p>
            <a:pPr algn="ctr"/>
            <a:r>
              <a:rPr lang="en-US" sz="3600" dirty="0">
                <a:latin typeface="Garamond" panose="02020404030301010803" pitchFamily="18" charset="0"/>
              </a:rPr>
              <a:t>Forth solution: </a:t>
            </a:r>
            <a:r>
              <a:rPr lang="en-US" sz="3600" b="1" dirty="0">
                <a:solidFill>
                  <a:srgbClr val="009193"/>
                </a:solidFill>
                <a:latin typeface="Garamond" panose="02020404030301010803" pitchFamily="18" charset="0"/>
              </a:rPr>
              <a:t>Speculation Divergence (SpecDivergence)</a:t>
            </a:r>
          </a:p>
        </p:txBody>
      </p:sp>
    </p:spTree>
    <p:extLst>
      <p:ext uri="{BB962C8B-B14F-4D97-AF65-F5344CB8AC3E}">
        <p14:creationId xmlns:p14="http://schemas.microsoft.com/office/powerpoint/2010/main" val="520651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0C9B-0C21-E95B-07B2-A032402FA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Mitigation</a:t>
            </a:r>
            <a:br>
              <a:rPr lang="en-US" dirty="0"/>
            </a:br>
            <a:r>
              <a:rPr lang="en-US" sz="3200" dirty="0"/>
              <a:t>SpecDivegrence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8C807-3F16-20BE-0379-9ACAFF18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525858-CAF2-87A4-B240-AC20E9125C69}"/>
              </a:ext>
            </a:extLst>
          </p:cNvPr>
          <p:cNvSpPr/>
          <p:nvPr/>
        </p:nvSpPr>
        <p:spPr>
          <a:xfrm>
            <a:off x="2950843" y="2547626"/>
            <a:ext cx="1270535" cy="481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11560F-7F4E-263D-7F98-F77CD8B31213}"/>
              </a:ext>
            </a:extLst>
          </p:cNvPr>
          <p:cNvSpPr txBox="1"/>
          <p:nvPr/>
        </p:nvSpPr>
        <p:spPr>
          <a:xfrm>
            <a:off x="2175308" y="1919102"/>
            <a:ext cx="2821606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Garamond" panose="02020404030301010803" pitchFamily="18" charset="0"/>
              </a:rPr>
              <a:t>Normal </a:t>
            </a:r>
            <a:r>
              <a:rPr lang="en-US" sz="2000" b="1" dirty="0" err="1">
                <a:solidFill>
                  <a:srgbClr val="C00000"/>
                </a:solidFill>
                <a:latin typeface="Garamond" panose="02020404030301010803" pitchFamily="18" charset="0"/>
              </a:rPr>
              <a:t>OoO</a:t>
            </a:r>
            <a:r>
              <a:rPr lang="en-US" sz="2000" b="1" dirty="0">
                <a:solidFill>
                  <a:srgbClr val="C00000"/>
                </a:solidFill>
                <a:latin typeface="Garamond" panose="02020404030301010803" pitchFamily="18" charset="0"/>
              </a:rPr>
              <a:t> 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B8FFC-4B3E-E510-CBF9-B7A129EB828E}"/>
              </a:ext>
            </a:extLst>
          </p:cNvPr>
          <p:cNvSpPr/>
          <p:nvPr/>
        </p:nvSpPr>
        <p:spPr>
          <a:xfrm>
            <a:off x="2082965" y="3429000"/>
            <a:ext cx="1270535" cy="481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17D30D-B7D0-C288-0EE0-2A28C338B120}"/>
              </a:ext>
            </a:extLst>
          </p:cNvPr>
          <p:cNvSpPr/>
          <p:nvPr/>
        </p:nvSpPr>
        <p:spPr>
          <a:xfrm>
            <a:off x="3919786" y="3429000"/>
            <a:ext cx="1270535" cy="481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37ABDD-CB1E-967F-D002-9FA9C874D09E}"/>
              </a:ext>
            </a:extLst>
          </p:cNvPr>
          <p:cNvSpPr/>
          <p:nvPr/>
        </p:nvSpPr>
        <p:spPr>
          <a:xfrm>
            <a:off x="2950842" y="4310374"/>
            <a:ext cx="1270535" cy="481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13CCD9-84A2-D1C0-8DE2-F78AAE00393C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2718233" y="3028889"/>
            <a:ext cx="867878" cy="4001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E0977E-67EA-EBC5-38FF-781AC958AEE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586111" y="3028889"/>
            <a:ext cx="968943" cy="4001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006420-8AAD-38DC-D83F-9097079A9528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2718233" y="3910263"/>
            <a:ext cx="867877" cy="4001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4F6BE94-8249-C912-CE98-BA15813CD38D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3586110" y="3910263"/>
            <a:ext cx="968944" cy="4001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4F59A98-685E-57AC-2DDD-48ACBA9931F0}"/>
              </a:ext>
            </a:extLst>
          </p:cNvPr>
          <p:cNvSpPr txBox="1"/>
          <p:nvPr/>
        </p:nvSpPr>
        <p:spPr>
          <a:xfrm>
            <a:off x="1449598" y="2802264"/>
            <a:ext cx="1563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Unresolved Branch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FB557D-8B9B-B95B-0012-091409505584}"/>
              </a:ext>
            </a:extLst>
          </p:cNvPr>
          <p:cNvSpPr txBox="1"/>
          <p:nvPr/>
        </p:nvSpPr>
        <p:spPr>
          <a:xfrm>
            <a:off x="353354" y="4324559"/>
            <a:ext cx="2274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Solution: </a:t>
            </a:r>
            <a:r>
              <a:rPr lang="en-US" sz="1400" dirty="0">
                <a:solidFill>
                  <a:srgbClr val="C00000"/>
                </a:solidFill>
              </a:rPr>
              <a:t>Prediction and speculative fetch/execution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484131-1458-75EC-D484-21CE1446C907}"/>
              </a:ext>
            </a:extLst>
          </p:cNvPr>
          <p:cNvSpPr txBox="1"/>
          <p:nvPr/>
        </p:nvSpPr>
        <p:spPr>
          <a:xfrm>
            <a:off x="737318" y="5592609"/>
            <a:ext cx="1711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Execution Flow: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D723A5-585F-D4D2-81BA-926A4AFE1B97}"/>
              </a:ext>
            </a:extLst>
          </p:cNvPr>
          <p:cNvSpPr/>
          <p:nvPr/>
        </p:nvSpPr>
        <p:spPr>
          <a:xfrm>
            <a:off x="2449068" y="5632896"/>
            <a:ext cx="412760" cy="2887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BB1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153BC2-076C-C1E2-4C1F-5536BB55ECF2}"/>
              </a:ext>
            </a:extLst>
          </p:cNvPr>
          <p:cNvSpPr/>
          <p:nvPr/>
        </p:nvSpPr>
        <p:spPr>
          <a:xfrm>
            <a:off x="3115991" y="5632896"/>
            <a:ext cx="412760" cy="28875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BB2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A9B65F-E51C-BC63-DAA0-E4F89CE064BB}"/>
              </a:ext>
            </a:extLst>
          </p:cNvPr>
          <p:cNvSpPr/>
          <p:nvPr/>
        </p:nvSpPr>
        <p:spPr>
          <a:xfrm>
            <a:off x="3707039" y="5632896"/>
            <a:ext cx="412760" cy="28875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BB4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AAF926-1420-0264-4626-673C1AE6C172}"/>
              </a:ext>
            </a:extLst>
          </p:cNvPr>
          <p:cNvSpPr/>
          <p:nvPr/>
        </p:nvSpPr>
        <p:spPr>
          <a:xfrm>
            <a:off x="4364972" y="5632896"/>
            <a:ext cx="412760" cy="2887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BB3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98A0B4-99A9-C4C9-9F5F-FF3B7B6A45D3}"/>
              </a:ext>
            </a:extLst>
          </p:cNvPr>
          <p:cNvSpPr/>
          <p:nvPr/>
        </p:nvSpPr>
        <p:spPr>
          <a:xfrm>
            <a:off x="4929448" y="5632896"/>
            <a:ext cx="412760" cy="2887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BB4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294B0F6-3131-AC6D-AC54-FDCA9A6B00E5}"/>
              </a:ext>
            </a:extLst>
          </p:cNvPr>
          <p:cNvCxnSpPr/>
          <p:nvPr/>
        </p:nvCxnSpPr>
        <p:spPr>
          <a:xfrm>
            <a:off x="2992674" y="5592609"/>
            <a:ext cx="0" cy="3693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E4AA52-5764-2CD6-3118-D384E6D82297}"/>
              </a:ext>
            </a:extLst>
          </p:cNvPr>
          <p:cNvCxnSpPr/>
          <p:nvPr/>
        </p:nvCxnSpPr>
        <p:spPr>
          <a:xfrm>
            <a:off x="4252949" y="5592609"/>
            <a:ext cx="0" cy="36933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E1DE222-0373-7EC6-253B-E11375EBD0A6}"/>
              </a:ext>
            </a:extLst>
          </p:cNvPr>
          <p:cNvSpPr txBox="1"/>
          <p:nvPr/>
        </p:nvSpPr>
        <p:spPr>
          <a:xfrm>
            <a:off x="2674070" y="5921653"/>
            <a:ext cx="617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Branch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ECD39C-F70C-5159-9E0F-E039F80D3BA3}"/>
              </a:ext>
            </a:extLst>
          </p:cNvPr>
          <p:cNvSpPr txBox="1"/>
          <p:nvPr/>
        </p:nvSpPr>
        <p:spPr>
          <a:xfrm>
            <a:off x="3746595" y="5921652"/>
            <a:ext cx="10498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Misprediction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43EFB49-80D7-6946-552C-91611C392426}"/>
              </a:ext>
            </a:extLst>
          </p:cNvPr>
          <p:cNvCxnSpPr>
            <a:cxnSpLocks/>
          </p:cNvCxnSpPr>
          <p:nvPr/>
        </p:nvCxnSpPr>
        <p:spPr>
          <a:xfrm>
            <a:off x="5947506" y="1574836"/>
            <a:ext cx="0" cy="439247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CC716FD-917F-B5B2-AA42-BB133032FB60}"/>
              </a:ext>
            </a:extLst>
          </p:cNvPr>
          <p:cNvSpPr txBox="1"/>
          <p:nvPr/>
        </p:nvSpPr>
        <p:spPr>
          <a:xfrm>
            <a:off x="7208198" y="1919102"/>
            <a:ext cx="3105081" cy="400110"/>
          </a:xfrm>
          <a:prstGeom prst="rect">
            <a:avLst/>
          </a:prstGeom>
          <a:noFill/>
          <a:ln>
            <a:solidFill>
              <a:srgbClr val="009193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9193"/>
                </a:solidFill>
                <a:latin typeface="Garamond" panose="02020404030301010803" pitchFamily="18" charset="0"/>
              </a:rPr>
              <a:t>SpecDivergence Execution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2946E8-F3DE-8CD9-4826-933E7C09BAA3}"/>
              </a:ext>
            </a:extLst>
          </p:cNvPr>
          <p:cNvSpPr/>
          <p:nvPr/>
        </p:nvSpPr>
        <p:spPr>
          <a:xfrm>
            <a:off x="8125475" y="2547626"/>
            <a:ext cx="1270535" cy="481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9B84BF4-9C1A-5A6E-62D9-5A34C0A50D9E}"/>
              </a:ext>
            </a:extLst>
          </p:cNvPr>
          <p:cNvSpPr/>
          <p:nvPr/>
        </p:nvSpPr>
        <p:spPr>
          <a:xfrm>
            <a:off x="7257597" y="3429000"/>
            <a:ext cx="1270535" cy="481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BFCA83-07D6-7D38-A659-EEE20E5408CC}"/>
              </a:ext>
            </a:extLst>
          </p:cNvPr>
          <p:cNvSpPr/>
          <p:nvPr/>
        </p:nvSpPr>
        <p:spPr>
          <a:xfrm>
            <a:off x="9094418" y="3429000"/>
            <a:ext cx="1270535" cy="481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4E23FE-49F3-ECDE-9970-43460268E073}"/>
              </a:ext>
            </a:extLst>
          </p:cNvPr>
          <p:cNvSpPr/>
          <p:nvPr/>
        </p:nvSpPr>
        <p:spPr>
          <a:xfrm>
            <a:off x="8125474" y="4310374"/>
            <a:ext cx="1270535" cy="7096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BB4-Dependent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7ABF554-81E5-8BC3-854F-449A8336EA48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 flipH="1">
            <a:off x="7892865" y="3028889"/>
            <a:ext cx="867878" cy="4001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1AAC003-8EAF-6CCD-91A8-F15740511DAC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8760743" y="3028889"/>
            <a:ext cx="968943" cy="4001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2906249-8DA8-620E-CAA2-B3FF29AA9A0F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7892865" y="3910263"/>
            <a:ext cx="867877" cy="4001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FCE50AF-A695-2583-B42D-501C92C221FA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 flipH="1">
            <a:off x="8760742" y="3910263"/>
            <a:ext cx="968944" cy="4001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27F0969-3E91-B8BE-078B-B6091721C94D}"/>
              </a:ext>
            </a:extLst>
          </p:cNvPr>
          <p:cNvSpPr txBox="1"/>
          <p:nvPr/>
        </p:nvSpPr>
        <p:spPr>
          <a:xfrm>
            <a:off x="6610744" y="2803893"/>
            <a:ext cx="1563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Unresolved Branch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1E12BA4-C69F-8827-C6F2-19163FA4195E}"/>
              </a:ext>
            </a:extLst>
          </p:cNvPr>
          <p:cNvSpPr/>
          <p:nvPr/>
        </p:nvSpPr>
        <p:spPr>
          <a:xfrm>
            <a:off x="8125472" y="4618196"/>
            <a:ext cx="1270535" cy="400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BB4-Independent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CF8D45-5423-88ED-54BD-AF4DB40F0F80}"/>
              </a:ext>
            </a:extLst>
          </p:cNvPr>
          <p:cNvSpPr txBox="1"/>
          <p:nvPr/>
        </p:nvSpPr>
        <p:spPr>
          <a:xfrm>
            <a:off x="6056708" y="5592609"/>
            <a:ext cx="1711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Execution Flow: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6CB9DB6-9F72-74F3-D660-D6B6497E831A}"/>
              </a:ext>
            </a:extLst>
          </p:cNvPr>
          <p:cNvSpPr/>
          <p:nvPr/>
        </p:nvSpPr>
        <p:spPr>
          <a:xfrm>
            <a:off x="7768458" y="5632896"/>
            <a:ext cx="412760" cy="2887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BB1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5B91D44-1B8C-5ECD-BA6F-36352BADAC99}"/>
              </a:ext>
            </a:extLst>
          </p:cNvPr>
          <p:cNvSpPr/>
          <p:nvPr/>
        </p:nvSpPr>
        <p:spPr>
          <a:xfrm>
            <a:off x="8435380" y="5632896"/>
            <a:ext cx="1195633" cy="2887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BB4-Independent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F959E7E-44FD-597B-AC0C-06124A305486}"/>
              </a:ext>
            </a:extLst>
          </p:cNvPr>
          <p:cNvSpPr/>
          <p:nvPr/>
        </p:nvSpPr>
        <p:spPr>
          <a:xfrm>
            <a:off x="9879617" y="5632085"/>
            <a:ext cx="412760" cy="2887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BB3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FC10B75-E3B9-1D67-D296-A4A5FE1DA3A9}"/>
              </a:ext>
            </a:extLst>
          </p:cNvPr>
          <p:cNvSpPr/>
          <p:nvPr/>
        </p:nvSpPr>
        <p:spPr>
          <a:xfrm>
            <a:off x="10444093" y="5632085"/>
            <a:ext cx="1163844" cy="2887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BB4-Dependent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D0114FD-CA3D-A802-CF62-D6A27CCCF3D5}"/>
              </a:ext>
            </a:extLst>
          </p:cNvPr>
          <p:cNvCxnSpPr/>
          <p:nvPr/>
        </p:nvCxnSpPr>
        <p:spPr>
          <a:xfrm>
            <a:off x="8312064" y="5592609"/>
            <a:ext cx="0" cy="3693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4B8DC2F-A541-3FA9-E823-40A11C68D8BD}"/>
              </a:ext>
            </a:extLst>
          </p:cNvPr>
          <p:cNvCxnSpPr/>
          <p:nvPr/>
        </p:nvCxnSpPr>
        <p:spPr>
          <a:xfrm>
            <a:off x="9767594" y="5591798"/>
            <a:ext cx="0" cy="369332"/>
          </a:xfrm>
          <a:prstGeom prst="line">
            <a:avLst/>
          </a:prstGeom>
          <a:ln w="38100">
            <a:solidFill>
              <a:srgbClr val="00919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B15876E-3B82-836C-2887-05D20A16FA23}"/>
              </a:ext>
            </a:extLst>
          </p:cNvPr>
          <p:cNvSpPr txBox="1"/>
          <p:nvPr/>
        </p:nvSpPr>
        <p:spPr>
          <a:xfrm>
            <a:off x="8014587" y="5911086"/>
            <a:ext cx="617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Branch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6F6961-C1F0-E66E-0534-B73982AD698A}"/>
              </a:ext>
            </a:extLst>
          </p:cNvPr>
          <p:cNvSpPr txBox="1"/>
          <p:nvPr/>
        </p:nvSpPr>
        <p:spPr>
          <a:xfrm>
            <a:off x="9211745" y="5901479"/>
            <a:ext cx="1163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9193"/>
                </a:solidFill>
              </a:rPr>
              <a:t>Branch resolves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643834-5BA2-05F0-C7BD-18F7EF9BF7C9}"/>
              </a:ext>
            </a:extLst>
          </p:cNvPr>
          <p:cNvSpPr txBox="1"/>
          <p:nvPr/>
        </p:nvSpPr>
        <p:spPr>
          <a:xfrm>
            <a:off x="9518586" y="4309512"/>
            <a:ext cx="24799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Solution: </a:t>
            </a:r>
            <a:r>
              <a:rPr lang="en-US" sz="1400" dirty="0">
                <a:solidFill>
                  <a:srgbClr val="009193"/>
                </a:solidFill>
              </a:rPr>
              <a:t>Non-speculative fetch/execution of independent instructions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4AB5AC2-D87C-D32C-BF77-3CC5961CF93B}"/>
              </a:ext>
            </a:extLst>
          </p:cNvPr>
          <p:cNvSpPr/>
          <p:nvPr/>
        </p:nvSpPr>
        <p:spPr>
          <a:xfrm>
            <a:off x="2950836" y="2546853"/>
            <a:ext cx="1270535" cy="481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95E56F-A491-9BF6-0998-8E2E5B5BF9CF}"/>
              </a:ext>
            </a:extLst>
          </p:cNvPr>
          <p:cNvSpPr/>
          <p:nvPr/>
        </p:nvSpPr>
        <p:spPr>
          <a:xfrm>
            <a:off x="2082735" y="3426774"/>
            <a:ext cx="1270535" cy="481263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BE55013-00E5-E187-5F46-3BCC0269E317}"/>
              </a:ext>
            </a:extLst>
          </p:cNvPr>
          <p:cNvSpPr/>
          <p:nvPr/>
        </p:nvSpPr>
        <p:spPr>
          <a:xfrm>
            <a:off x="2952720" y="4308921"/>
            <a:ext cx="1270535" cy="481263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E25D19-9767-DFFC-710A-F91D205C5172}"/>
              </a:ext>
            </a:extLst>
          </p:cNvPr>
          <p:cNvSpPr/>
          <p:nvPr/>
        </p:nvSpPr>
        <p:spPr>
          <a:xfrm>
            <a:off x="2950841" y="2947737"/>
            <a:ext cx="1270535" cy="811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28450C3-9264-9E76-5DCD-FF199904D954}"/>
              </a:ext>
            </a:extLst>
          </p:cNvPr>
          <p:cNvSpPr/>
          <p:nvPr/>
        </p:nvSpPr>
        <p:spPr>
          <a:xfrm>
            <a:off x="3918074" y="3432382"/>
            <a:ext cx="1270535" cy="481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E634895-3C7B-1559-1403-4753DC99E169}"/>
              </a:ext>
            </a:extLst>
          </p:cNvPr>
          <p:cNvSpPr/>
          <p:nvPr/>
        </p:nvSpPr>
        <p:spPr>
          <a:xfrm>
            <a:off x="2952720" y="4306696"/>
            <a:ext cx="1270535" cy="481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065E67-8D95-6F2E-1DD4-151CDEAAA222}"/>
              </a:ext>
            </a:extLst>
          </p:cNvPr>
          <p:cNvSpPr txBox="1"/>
          <p:nvPr/>
        </p:nvSpPr>
        <p:spPr>
          <a:xfrm>
            <a:off x="4517651" y="2998113"/>
            <a:ext cx="1198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Misprediction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D596B08-D8B4-5BBB-0585-624088C81A88}"/>
              </a:ext>
            </a:extLst>
          </p:cNvPr>
          <p:cNvSpPr/>
          <p:nvPr/>
        </p:nvSpPr>
        <p:spPr>
          <a:xfrm>
            <a:off x="8125470" y="2547250"/>
            <a:ext cx="1270535" cy="481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C82FDA7-81F6-D4E4-1A24-43A7DE97D10B}"/>
              </a:ext>
            </a:extLst>
          </p:cNvPr>
          <p:cNvSpPr/>
          <p:nvPr/>
        </p:nvSpPr>
        <p:spPr>
          <a:xfrm>
            <a:off x="8125473" y="2947737"/>
            <a:ext cx="1270535" cy="811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4A8660B-8FC0-77FD-4A46-D736E1251648}"/>
              </a:ext>
            </a:extLst>
          </p:cNvPr>
          <p:cNvSpPr/>
          <p:nvPr/>
        </p:nvSpPr>
        <p:spPr>
          <a:xfrm>
            <a:off x="9094417" y="3426000"/>
            <a:ext cx="1270535" cy="481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BB3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573DE7-F956-122E-732C-E04632BE6516}"/>
              </a:ext>
            </a:extLst>
          </p:cNvPr>
          <p:cNvSpPr txBox="1"/>
          <p:nvPr/>
        </p:nvSpPr>
        <p:spPr>
          <a:xfrm>
            <a:off x="10085997" y="2972205"/>
            <a:ext cx="1329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9193"/>
                </a:solidFill>
              </a:rPr>
              <a:t>Branch resolves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205101D-F2BF-5B25-20AE-8B893B717383}"/>
              </a:ext>
            </a:extLst>
          </p:cNvPr>
          <p:cNvSpPr/>
          <p:nvPr/>
        </p:nvSpPr>
        <p:spPr>
          <a:xfrm>
            <a:off x="8125464" y="4309886"/>
            <a:ext cx="1270535" cy="7096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BB4-Dependent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110E95D-1D8E-EFBF-01A3-BEB9DC79D5E6}"/>
              </a:ext>
            </a:extLst>
          </p:cNvPr>
          <p:cNvSpPr/>
          <p:nvPr/>
        </p:nvSpPr>
        <p:spPr>
          <a:xfrm>
            <a:off x="8125469" y="4616452"/>
            <a:ext cx="1270535" cy="4001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BB4-Independent</a:t>
            </a:r>
          </a:p>
        </p:txBody>
      </p:sp>
    </p:spTree>
    <p:extLst>
      <p:ext uri="{BB962C8B-B14F-4D97-AF65-F5344CB8AC3E}">
        <p14:creationId xmlns:p14="http://schemas.microsoft.com/office/powerpoint/2010/main" val="420740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31" grpId="0" animBg="1"/>
      <p:bldP spid="36" grpId="0"/>
      <p:bldP spid="37" grpId="0"/>
      <p:bldP spid="50" grpId="0"/>
      <p:bldP spid="54" grpId="0"/>
      <p:bldP spid="55" grpId="0" animBg="1"/>
      <p:bldP spid="56" grpId="0" animBg="1"/>
      <p:bldP spid="58" grpId="0" animBg="1"/>
      <p:bldP spid="59" grpId="0" animBg="1"/>
      <p:bldP spid="62" grpId="0"/>
      <p:bldP spid="63" grpId="0"/>
      <p:bldP spid="64" grpId="0"/>
      <p:bldP spid="65" grpId="0" animBg="1"/>
      <p:bldP spid="66" grpId="0" animBg="1"/>
      <p:bldP spid="67" grpId="0" animBg="1"/>
      <p:bldP spid="23" grpId="0" animBg="1"/>
      <p:bldP spid="68" grpId="0" animBg="1"/>
      <p:bldP spid="69" grpId="0" animBg="1"/>
      <p:bldP spid="70" grpId="1"/>
      <p:bldP spid="71" grpId="0" animBg="1"/>
      <p:bldP spid="49" grpId="0" animBg="1"/>
      <p:bldP spid="72" grpId="0" animBg="1"/>
      <p:bldP spid="74" grpId="0"/>
      <p:bldP spid="75" grpId="0" animBg="1"/>
      <p:bldP spid="7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3A80-D384-A6DD-A318-E560C66C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Mitigation</a:t>
            </a:r>
            <a:br>
              <a:rPr lang="en-US" dirty="0"/>
            </a:br>
            <a:r>
              <a:rPr lang="en-US" sz="3200" dirty="0"/>
              <a:t>SpecDivergence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280F-B3F3-E599-BBF8-111AE62C4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1126" cy="1585894"/>
          </a:xfrm>
        </p:spPr>
        <p:txBody>
          <a:bodyPr>
            <a:normAutofit/>
          </a:bodyPr>
          <a:lstStyle/>
          <a:p>
            <a:r>
              <a:rPr lang="en-US" sz="2400" cap="small" dirty="0">
                <a:solidFill>
                  <a:srgbClr val="009193"/>
                </a:solidFill>
              </a:rPr>
              <a:t>Insight</a:t>
            </a:r>
            <a:r>
              <a:rPr lang="en-US" sz="2400" dirty="0"/>
              <a:t>: No speculative state kept in any component</a:t>
            </a:r>
          </a:p>
          <a:p>
            <a:r>
              <a:rPr lang="en-US" sz="2400" cap="small" dirty="0">
                <a:solidFill>
                  <a:srgbClr val="009193"/>
                </a:solidFill>
              </a:rPr>
              <a:t>Solution</a:t>
            </a:r>
            <a:r>
              <a:rPr lang="en-US" sz="2400" dirty="0"/>
              <a:t>: Exploiting compiler information to introduce non-speculative paths</a:t>
            </a:r>
            <a:endParaRPr lang="en-US" sz="2400" baseline="30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ED709-72A0-43C4-8F09-D9924FB3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96945-3310-20F2-81EB-0C66017685B8}"/>
              </a:ext>
            </a:extLst>
          </p:cNvPr>
          <p:cNvSpPr/>
          <p:nvPr/>
        </p:nvSpPr>
        <p:spPr>
          <a:xfrm>
            <a:off x="4587980" y="3532182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2DE6C-0BC5-C9BD-252C-EF0E0076E3FE}"/>
              </a:ext>
            </a:extLst>
          </p:cNvPr>
          <p:cNvSpPr/>
          <p:nvPr/>
        </p:nvSpPr>
        <p:spPr>
          <a:xfrm>
            <a:off x="5754627" y="3532182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2D7710-E4B2-0EEF-AC62-D7B814ED058A}"/>
              </a:ext>
            </a:extLst>
          </p:cNvPr>
          <p:cNvSpPr/>
          <p:nvPr/>
        </p:nvSpPr>
        <p:spPr>
          <a:xfrm>
            <a:off x="6921274" y="3532182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A820AE-BF31-E532-87BC-518DE24BC627}"/>
              </a:ext>
            </a:extLst>
          </p:cNvPr>
          <p:cNvSpPr/>
          <p:nvPr/>
        </p:nvSpPr>
        <p:spPr>
          <a:xfrm>
            <a:off x="8230544" y="3532182"/>
            <a:ext cx="818549" cy="3573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BB5B7B-ADD8-952E-F65B-660FFB0F48C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406529" y="3710858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37C81F-668A-6313-9923-42D7C3D6661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73176" y="3710858"/>
            <a:ext cx="3480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E3371D-9590-E269-5F58-F056629D21F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39823" y="3710858"/>
            <a:ext cx="4907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20">
            <a:extLst>
              <a:ext uri="{FF2B5EF4-FFF2-40B4-BE49-F238E27FC236}">
                <a16:creationId xmlns:a16="http://schemas.microsoft.com/office/drawing/2014/main" id="{2216AEED-7052-8A44-E4FE-2A419F697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00917"/>
              </p:ext>
            </p:extLst>
          </p:nvPr>
        </p:nvGraphicFramePr>
        <p:xfrm>
          <a:off x="6675498" y="4308600"/>
          <a:ext cx="1300260" cy="1031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0260">
                  <a:extLst>
                    <a:ext uri="{9D8B030D-6E8A-4147-A177-3AD203B41FA5}">
                      <a16:colId xmlns:a16="http://schemas.microsoft.com/office/drawing/2014/main" val="214117055"/>
                    </a:ext>
                  </a:extLst>
                </a:gridCol>
              </a:tblGrid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80684"/>
                  </a:ext>
                </a:extLst>
              </a:tr>
              <a:tr h="368126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Monaco" pitchFamily="2" charset="77"/>
                        </a:rPr>
                        <a:t>Independent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56076"/>
                  </a:ext>
                </a:extLst>
              </a:tr>
              <a:tr h="184063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Resolved Dependent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59168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6865B21-5B14-C65E-B7D9-19F9FDC43F2B}"/>
              </a:ext>
            </a:extLst>
          </p:cNvPr>
          <p:cNvSpPr txBox="1"/>
          <p:nvPr/>
        </p:nvSpPr>
        <p:spPr>
          <a:xfrm>
            <a:off x="8100147" y="4293800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5C16FE-D500-B5AE-A70B-5FCEE50476E5}"/>
              </a:ext>
            </a:extLst>
          </p:cNvPr>
          <p:cNvSpPr txBox="1"/>
          <p:nvPr/>
        </p:nvSpPr>
        <p:spPr>
          <a:xfrm>
            <a:off x="8100147" y="5102784"/>
            <a:ext cx="392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Tail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E177BF8-6C51-DA7B-21F7-6996692C0290}"/>
              </a:ext>
            </a:extLst>
          </p:cNvPr>
          <p:cNvSpPr/>
          <p:nvPr/>
        </p:nvSpPr>
        <p:spPr>
          <a:xfrm rot="10800000">
            <a:off x="8047208" y="4360109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F4AD67CC-1C7C-00AD-409B-DC1A2418D192}"/>
              </a:ext>
            </a:extLst>
          </p:cNvPr>
          <p:cNvSpPr/>
          <p:nvPr/>
        </p:nvSpPr>
        <p:spPr>
          <a:xfrm rot="10800000">
            <a:off x="8047207" y="5180711"/>
            <a:ext cx="105878" cy="14437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BF9E4C-A517-D13D-B2A4-30EECA0A15C6}"/>
              </a:ext>
            </a:extLst>
          </p:cNvPr>
          <p:cNvSpPr txBox="1"/>
          <p:nvPr/>
        </p:nvSpPr>
        <p:spPr>
          <a:xfrm>
            <a:off x="6692976" y="5331227"/>
            <a:ext cx="1258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Reorder Buffer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2BC0825F-63D5-6B6A-88D7-651241583F35}"/>
              </a:ext>
            </a:extLst>
          </p:cNvPr>
          <p:cNvCxnSpPr>
            <a:cxnSpLocks/>
            <a:stCxn id="7" idx="2"/>
            <a:endCxn id="13" idx="1"/>
          </p:cNvCxnSpPr>
          <p:nvPr/>
        </p:nvCxnSpPr>
        <p:spPr>
          <a:xfrm rot="16200000" flipH="1">
            <a:off x="5952401" y="4101035"/>
            <a:ext cx="934599" cy="51159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ACBF682-0FE7-E243-0923-5D9164D703DD}"/>
              </a:ext>
            </a:extLst>
          </p:cNvPr>
          <p:cNvCxnSpPr>
            <a:cxnSpLocks/>
            <a:stCxn id="13" idx="3"/>
            <a:endCxn id="9" idx="2"/>
          </p:cNvCxnSpPr>
          <p:nvPr/>
        </p:nvCxnSpPr>
        <p:spPr>
          <a:xfrm flipV="1">
            <a:off x="7975758" y="3889534"/>
            <a:ext cx="664061" cy="93459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33">
            <a:extLst>
              <a:ext uri="{FF2B5EF4-FFF2-40B4-BE49-F238E27FC236}">
                <a16:creationId xmlns:a16="http://schemas.microsoft.com/office/drawing/2014/main" id="{E68D8E63-6693-A421-4C5A-F9E9AD3EB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91912"/>
              </p:ext>
            </p:extLst>
          </p:nvPr>
        </p:nvGraphicFramePr>
        <p:xfrm>
          <a:off x="8167559" y="2347666"/>
          <a:ext cx="1070486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301">
                  <a:extLst>
                    <a:ext uri="{9D8B030D-6E8A-4147-A177-3AD203B41FA5}">
                      <a16:colId xmlns:a16="http://schemas.microsoft.com/office/drawing/2014/main" val="3775739398"/>
                    </a:ext>
                  </a:extLst>
                </a:gridCol>
                <a:gridCol w="535185">
                  <a:extLst>
                    <a:ext uri="{9D8B030D-6E8A-4147-A177-3AD203B41FA5}">
                      <a16:colId xmlns:a16="http://schemas.microsoft.com/office/drawing/2014/main" val="194350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7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5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onaco" pitchFamily="2" charset="77"/>
                        </a:rPr>
                        <a:t>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Monac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2864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50127FC-4FCE-4C63-9AB0-092BE38B5920}"/>
              </a:ext>
            </a:extLst>
          </p:cNvPr>
          <p:cNvSpPr txBox="1"/>
          <p:nvPr/>
        </p:nvSpPr>
        <p:spPr>
          <a:xfrm>
            <a:off x="7135388" y="2393922"/>
            <a:ext cx="107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Register File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80CDC2EA-17C9-EB62-A354-383DA2ED8649}"/>
              </a:ext>
            </a:extLst>
          </p:cNvPr>
          <p:cNvCxnSpPr>
            <a:cxnSpLocks/>
            <a:stCxn id="8" idx="0"/>
            <a:endCxn id="21" idx="1"/>
          </p:cNvCxnSpPr>
          <p:nvPr/>
        </p:nvCxnSpPr>
        <p:spPr>
          <a:xfrm rot="5400000" flipH="1" flipV="1">
            <a:off x="7408256" y="2772879"/>
            <a:ext cx="681596" cy="8370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35">
            <a:extLst>
              <a:ext uri="{FF2B5EF4-FFF2-40B4-BE49-F238E27FC236}">
                <a16:creationId xmlns:a16="http://schemas.microsoft.com/office/drawing/2014/main" id="{DE8DFA10-720C-7725-2170-BDE105C8F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432991"/>
              </p:ext>
            </p:extLst>
          </p:nvPr>
        </p:nvGraphicFramePr>
        <p:xfrm>
          <a:off x="9539268" y="3112260"/>
          <a:ext cx="1414706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9182">
                  <a:extLst>
                    <a:ext uri="{9D8B030D-6E8A-4147-A177-3AD203B41FA5}">
                      <a16:colId xmlns:a16="http://schemas.microsoft.com/office/drawing/2014/main" val="1245020793"/>
                    </a:ext>
                  </a:extLst>
                </a:gridCol>
                <a:gridCol w="885524">
                  <a:extLst>
                    <a:ext uri="{9D8B030D-6E8A-4147-A177-3AD203B41FA5}">
                      <a16:colId xmlns:a16="http://schemas.microsoft.com/office/drawing/2014/main" val="3300757268"/>
                    </a:ext>
                  </a:extLst>
                </a:gridCol>
              </a:tblGrid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Line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670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738472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1391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53554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93988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Flushed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63833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3105"/>
                  </a:ext>
                </a:extLst>
              </a:tr>
              <a:tr h="1251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5479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AAE36C-4E0C-174E-8564-51573360E562}"/>
              </a:ext>
            </a:extLst>
          </p:cNvPr>
          <p:cNvSpPr txBox="1"/>
          <p:nvPr/>
        </p:nvSpPr>
        <p:spPr>
          <a:xfrm>
            <a:off x="9933073" y="2798880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Cache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319D0A-0061-BE05-F2C0-3B8C82F9C502}"/>
              </a:ext>
            </a:extLst>
          </p:cNvPr>
          <p:cNvSpPr/>
          <p:nvPr/>
        </p:nvSpPr>
        <p:spPr>
          <a:xfrm>
            <a:off x="9151593" y="5446207"/>
            <a:ext cx="228856" cy="1749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61C297-7E6B-CE58-2350-C08842760DC0}"/>
              </a:ext>
            </a:extLst>
          </p:cNvPr>
          <p:cNvSpPr txBox="1"/>
          <p:nvPr/>
        </p:nvSpPr>
        <p:spPr>
          <a:xfrm>
            <a:off x="9380449" y="5379783"/>
            <a:ext cx="2194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Non-speculatively executed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680D53-3DE3-4EA6-E732-0279B366FCE3}"/>
              </a:ext>
            </a:extLst>
          </p:cNvPr>
          <p:cNvSpPr/>
          <p:nvPr/>
        </p:nvSpPr>
        <p:spPr>
          <a:xfrm>
            <a:off x="9151593" y="5719594"/>
            <a:ext cx="228856" cy="174927"/>
          </a:xfrm>
          <a:prstGeom prst="rect">
            <a:avLst/>
          </a:prstGeom>
          <a:solidFill>
            <a:srgbClr val="FFD1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E7DE6F-9955-AEF6-E281-DC43A67BC529}"/>
              </a:ext>
            </a:extLst>
          </p:cNvPr>
          <p:cNvSpPr txBox="1"/>
          <p:nvPr/>
        </p:nvSpPr>
        <p:spPr>
          <a:xfrm>
            <a:off x="9380449" y="5653170"/>
            <a:ext cx="184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Speculatively executed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0E4615B7-95A5-7DED-DC73-E1555EA3E900}"/>
              </a:ext>
            </a:extLst>
          </p:cNvPr>
          <p:cNvSpPr txBox="1">
            <a:spLocks/>
          </p:cNvSpPr>
          <p:nvPr/>
        </p:nvSpPr>
        <p:spPr>
          <a:xfrm>
            <a:off x="730148" y="4547295"/>
            <a:ext cx="5398566" cy="1585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cap="small" dirty="0">
                <a:solidFill>
                  <a:srgbClr val="009193"/>
                </a:solidFill>
              </a:rPr>
              <a:t>Implementation</a:t>
            </a:r>
            <a:r>
              <a:rPr lang="en-US" sz="2400" dirty="0"/>
              <a:t>: Compiler informs the core about the alternative paths and the fetch unit redirects the fetch based on compiler information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3C86AE-D3F3-4334-14D2-802A7ED6E3F0}"/>
              </a:ext>
            </a:extLst>
          </p:cNvPr>
          <p:cNvSpPr/>
          <p:nvPr/>
        </p:nvSpPr>
        <p:spPr>
          <a:xfrm>
            <a:off x="4587979" y="3532181"/>
            <a:ext cx="818549" cy="357352"/>
          </a:xfrm>
          <a:prstGeom prst="rect">
            <a:avLst/>
          </a:prstGeom>
          <a:solidFill>
            <a:srgbClr val="0091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Fetch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FA99667-0017-2375-B244-DD3FCEBD17A4}"/>
              </a:ext>
            </a:extLst>
          </p:cNvPr>
          <p:cNvSpPr/>
          <p:nvPr/>
        </p:nvSpPr>
        <p:spPr>
          <a:xfrm>
            <a:off x="1151328" y="3523482"/>
            <a:ext cx="1171135" cy="357352"/>
          </a:xfrm>
          <a:prstGeom prst="rect">
            <a:avLst/>
          </a:prstGeom>
          <a:solidFill>
            <a:srgbClr val="0054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Compiler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709BE76-2311-4F5B-4BD8-BB4BDDB0A796}"/>
              </a:ext>
            </a:extLst>
          </p:cNvPr>
          <p:cNvCxnSpPr>
            <a:stCxn id="48" idx="3"/>
            <a:endCxn id="47" idx="1"/>
          </p:cNvCxnSpPr>
          <p:nvPr/>
        </p:nvCxnSpPr>
        <p:spPr>
          <a:xfrm>
            <a:off x="2322463" y="3702158"/>
            <a:ext cx="2265516" cy="8699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DA56201-768D-AA4C-F36A-4B7411918268}"/>
              </a:ext>
            </a:extLst>
          </p:cNvPr>
          <p:cNvSpPr txBox="1"/>
          <p:nvPr/>
        </p:nvSpPr>
        <p:spPr>
          <a:xfrm>
            <a:off x="2307714" y="3699041"/>
            <a:ext cx="2262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Alternative paths for each branch</a:t>
            </a:r>
          </a:p>
        </p:txBody>
      </p:sp>
    </p:spTree>
    <p:extLst>
      <p:ext uri="{BB962C8B-B14F-4D97-AF65-F5344CB8AC3E}">
        <p14:creationId xmlns:p14="http://schemas.microsoft.com/office/powerpoint/2010/main" val="407417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 animBg="1"/>
      <p:bldP spid="48" grpId="0" animBg="1"/>
      <p:bldP spid="5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69A5E-D0F0-3C48-E1DA-4C95E8A1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Mitigation</a:t>
            </a:r>
            <a:br>
              <a:rPr lang="en-US" dirty="0"/>
            </a:br>
            <a:r>
              <a:rPr lang="en-US" sz="3200" dirty="0"/>
              <a:t>SpecDivergence Scheduling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EDE53-8BBA-A136-465F-78B6E39D6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49243" cy="4351338"/>
          </a:xfrm>
        </p:spPr>
        <p:txBody>
          <a:bodyPr/>
          <a:lstStyle/>
          <a:p>
            <a:r>
              <a:rPr lang="en-US" dirty="0"/>
              <a:t>Execution modes: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Normal</a:t>
            </a:r>
          </a:p>
          <a:p>
            <a:pPr lvl="2"/>
            <a:r>
              <a:rPr lang="en-US" dirty="0" err="1"/>
              <a:t>Nomral</a:t>
            </a:r>
            <a:r>
              <a:rPr lang="en-US" dirty="0"/>
              <a:t> </a:t>
            </a:r>
            <a:r>
              <a:rPr lang="en-US" dirty="0" err="1"/>
              <a:t>OoO</a:t>
            </a:r>
            <a:r>
              <a:rPr lang="en-US" dirty="0"/>
              <a:t> execution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SpecDivergence_Diverged</a:t>
            </a:r>
            <a:endParaRPr lang="en-US" dirty="0"/>
          </a:p>
          <a:p>
            <a:pPr lvl="2"/>
            <a:r>
              <a:rPr lang="en-US" dirty="0"/>
              <a:t>Executing independent instruction after a branch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SpecDivergence_Original</a:t>
            </a:r>
            <a:endParaRPr lang="en-US" dirty="0"/>
          </a:p>
          <a:p>
            <a:pPr lvl="2"/>
            <a:r>
              <a:rPr lang="en-US" dirty="0"/>
              <a:t>Executing dependent instructions after a branch</a:t>
            </a:r>
          </a:p>
          <a:p>
            <a:pPr lvl="2"/>
            <a:endParaRPr lang="en-US" dirty="0"/>
          </a:p>
          <a:p>
            <a:r>
              <a:rPr lang="en-US" dirty="0"/>
              <a:t>Gem5 Implementation in progress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B87DB-A972-9639-8A7E-8A14EC61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285A0A50-E41C-E195-4F96-5F5EE14E0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443" y="377837"/>
            <a:ext cx="4278376" cy="579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24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59AB-75B7-428A-F0B1-9B4A878C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SpecDivergence</a:t>
            </a:r>
            <a:br>
              <a:rPr lang="en-US" dirty="0"/>
            </a:br>
            <a:r>
              <a:rPr lang="en-US" sz="2200" dirty="0">
                <a:solidFill>
                  <a:schemeClr val="accent1"/>
                </a:solidFill>
              </a:rPr>
              <a:t>Mitigating Speculative Execution Attacks through Compiler-Driven Execution Divergence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6D3CE-4309-EFCB-9BC1-F663D2B3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2C74-B216-B14B-BC2B-4739D91BB4D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9B4889-9016-8DEE-0493-80E1A7152E6E}"/>
              </a:ext>
            </a:extLst>
          </p:cNvPr>
          <p:cNvSpPr txBox="1"/>
          <p:nvPr/>
        </p:nvSpPr>
        <p:spPr>
          <a:xfrm>
            <a:off x="3603057" y="2567225"/>
            <a:ext cx="4985886" cy="17235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Kunstler Script" panose="020F0502020204030204" pitchFamily="34" charset="0"/>
                <a:cs typeface="Kunstler Script" panose="020F0502020204030204" pitchFamily="34" charset="0"/>
              </a:rPr>
              <a:t>Thanks for your attention</a:t>
            </a:r>
          </a:p>
          <a:p>
            <a:pPr algn="ctr"/>
            <a:endParaRPr lang="en-US" dirty="0">
              <a:latin typeface="Garamond" panose="02020404030301010803" pitchFamily="18" charset="0"/>
            </a:endParaRPr>
          </a:p>
          <a:p>
            <a:pPr algn="ctr"/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aramond" panose="02020404030301010803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5729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{3242FBC5-FFA8-6741-AF14-6A7C2C51BDE9}tf10001119</Template>
  <TotalTime>22775</TotalTime>
  <Words>2680</Words>
  <Application>Microsoft Macintosh PowerPoint</Application>
  <PresentationFormat>Widescreen</PresentationFormat>
  <Paragraphs>917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Garamond</vt:lpstr>
      <vt:lpstr>Kunstler Script</vt:lpstr>
      <vt:lpstr>Monaco</vt:lpstr>
      <vt:lpstr>Times New Roman</vt:lpstr>
      <vt:lpstr>Office Theme</vt:lpstr>
      <vt:lpstr>SpecDivergence: Mitigating Speculative Execution Attacks through Compiler-Driven Execution Divergence</vt:lpstr>
      <vt:lpstr>Overview</vt:lpstr>
      <vt:lpstr>Speculative Execution Attack</vt:lpstr>
      <vt:lpstr>Execution Example: Spectre on OoO Core</vt:lpstr>
      <vt:lpstr>Execution Example: Spectre on OoO Core</vt:lpstr>
      <vt:lpstr>Execution Example: Spectre on OoO Core</vt:lpstr>
      <vt:lpstr>Execution Example: Spectre on OoO Core</vt:lpstr>
      <vt:lpstr>Execution Example: Spectre on OoO Core</vt:lpstr>
      <vt:lpstr>Execution Example: Spectre on OoO Core</vt:lpstr>
      <vt:lpstr>Execution Example: Spectre on OoO Core</vt:lpstr>
      <vt:lpstr>Execution Example: Spectre on OoO Core</vt:lpstr>
      <vt:lpstr>Execution Example: Spectre on OoO Core</vt:lpstr>
      <vt:lpstr>PowerPoint Presentation</vt:lpstr>
      <vt:lpstr>Mitigation Securing the Side-Channel</vt:lpstr>
      <vt:lpstr>Mitigation Securing the Side-Channel</vt:lpstr>
      <vt:lpstr>PowerPoint Presentation</vt:lpstr>
      <vt:lpstr>Mitigation Side-Channel-Agnostic Mitigation</vt:lpstr>
      <vt:lpstr>Mitigation Side-Channel-Agnostic Mitigation</vt:lpstr>
      <vt:lpstr>PowerPoint Presentation</vt:lpstr>
      <vt:lpstr>Mitigation Software-Assisted Side-Channel-Agnostic Mitigation</vt:lpstr>
      <vt:lpstr>Results Software-Assisted Side-Channel-Agnostic Mitigation</vt:lpstr>
      <vt:lpstr>Mitigation Side-Channel-Agnostic Mitigation</vt:lpstr>
      <vt:lpstr>PowerPoint Presentation</vt:lpstr>
      <vt:lpstr>Mitigation SpecDivegrence</vt:lpstr>
      <vt:lpstr>Mitigation SpecDivergence</vt:lpstr>
      <vt:lpstr>Mitigation SpecDivergence Scheduling Algorithm</vt:lpstr>
      <vt:lpstr>SpecDivergence Mitigating Speculative Execution Attacks through Compiler-Driven Execution Divergence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NOREBA: A Compiler-Informed Non-speculative Out-of-Order Commit Processor</dc:title>
  <dc:creator>Ali Hajiabadi</dc:creator>
  <cp:lastModifiedBy>Ali Hajiabadi</cp:lastModifiedBy>
  <cp:revision>108</cp:revision>
  <dcterms:created xsi:type="dcterms:W3CDTF">2021-03-23T16:43:54Z</dcterms:created>
  <dcterms:modified xsi:type="dcterms:W3CDTF">2022-05-03T09:32:33Z</dcterms:modified>
</cp:coreProperties>
</file>